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本投影片聚焦兩篇 CC BY 4.0 開放取用研究。所有分析均以原始論文方法、表格與作者限制為準。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核心判斷：兩篇研究支持以動態變化作為候選疲勞訊號，但不足以建立通用絕對濃度門檻。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sLT 在第二篇研究中由圖形上第一個顯著且持續高於基線的上升點判定。MDC95 需在自己的裝置與流程上重新估計。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來源：https://pmc.ncbi.nlm.nih.gov/articles/PMC8767313/；方法：Test 1 至力竭、休息 15 分鐘、Test 2 同負荷 10 分鐘。20 人參加，3 人因疲勞無法完成 Test 2 而排除，最終 n=17。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資料來源：Okawara et al. (2022) Table 2。曲線為概念重繪，不包含任何推估個別受試者點位。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2: Peak n=17; 1 μA n=17; 2 μA n=14; 3 μA n=13; 4 μA n=11。受試者若未在兩次測試都達到指定反應值，該列排除。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作者亦明確稱此為 preliminary result，要求在不同族群及汗腺生理因子上進一步研究。Daisuke Nakashima 為 Grace Imaging Inc. 總裁並持股；未參與資料取得與分析。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來源：https://www.tandfonline.com/doi/full/10.1080/21641846.2025.2554557。受試者於 2023 年 9–10 月參與。研究以賽前兩次測試估計可靠度與 MDC95，再以 Test 2→Test 3 變化與 HSD 做 Spearman 相關。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 報告：全部 n=18 時，VT time 0.77、VT W 0.80、sLT time 0.64、sLT W 0.62；超過 MDC95 的變化分別為 0.64、0.70、0.63、0.59。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論文 Discussion 明確指出：HSD 與 VT/sLT 變化的解釋變異約 41–64%，尚有其他生理、情境與個體因素；ICC 0.777 可能不足以滿足個人監測常用的高可靠度期待。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論文限制另包括：負荷未完全標準化、跑步機上的 sLT 尚未充分驗證、48 h 雖有實務意義但不是疲勞最高峰。Funding: JSPS KAKENHI 22K11477。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合併證據呈現一致方向，但研究端點、protocol 與樣本不同；而研究團隊及感測器平台高度重疊，因此證據獨立性有限。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此頁將研究證據轉成產品宣稱邊界。避免把探索性關聯提升為診斷或因果宣稱。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若 LA-01 是間歇手動點測，不能可靠計算 sLT、斜率或曲線左移；上述 Mode B 預設為連續資料。若只有點測，應降級為增量與近似 AUC 呈現。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產品門檻不應直接搬用研究 2 的 25 s 或 10.5 W。MDC 取決於感測器、演算法、測試流程及樣本，LA-01 必須自行估計。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此頁為兩篇研究與 LA-01 情境的最終決策摘要。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abstract reproduced verbatim under Creative Commons Attribution 4.0. Source DOI: https://doi.org/10.14814/phy2.15169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abstract reproduced verbatim under Creative Commons Attribution 4.0. The published abstract uses the term “interclass correlation coefficients”; the conventional expansion of ICC in the paper’s statistical context is intraclass correlation coefficient.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source abstracts and article content used here are available under CC BY 4.0. Attribution and direct links are provided.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7111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physoc.onlinelibrary.wiley.com/doi/10.14814/phy2.15169" TargetMode="External"/><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www.tandfonline.com/doi/full/10.1080/21641846.2025.2554557" TargetMode="Externa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physoc.onlinelibrary.wiley.com/doi/10.14814/phy2.15169" TargetMode="External"/><Relationship Id="rId2" Type="http://schemas.openxmlformats.org/officeDocument/2006/relationships/hyperlink" Target="https://pmc.ncbi.nlm.nih.gov/articles/PMC8767313/" TargetMode="External"/><Relationship Id="rId3" Type="http://schemas.openxmlformats.org/officeDocument/2006/relationships/hyperlink" Target="https://www.tandfonline.com/doi/full/10.1080/21641846.2025.2554557" TargetMode="External"/><Relationship Id="rId4" Type="http://schemas.openxmlformats.org/officeDocument/2006/relationships/hyperlink" Target="https://www.ingentaconnect.com/content/tandf/rftg20/2026/00000014/00000001/art00003" TargetMode="External"/><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11F"/>
          </a:solidFill>
          <a:ln w="12700">
            <a:solidFill>
              <a:srgbClr val="07111F">
                <a:alpha val="0"/>
              </a:srgbClr>
            </a:solidFill>
            <a:prstDash val="solid"/>
          </a:ln>
        </p:spPr>
      </p:sp>
      <p:sp>
        <p:nvSpPr>
          <p:cNvPr id="3" name="Shape 1"/>
          <p:cNvSpPr/>
          <p:nvPr/>
        </p:nvSpPr>
        <p:spPr>
          <a:xfrm>
            <a:off x="7406640" y="-1097280"/>
            <a:ext cx="5669280" cy="5669280"/>
          </a:xfrm>
          <a:prstGeom prst="ellipse">
            <a:avLst/>
          </a:prstGeom>
          <a:solidFill>
            <a:srgbClr val="20D4C7">
              <a:alpha val="8000"/>
            </a:srgbClr>
          </a:solidFill>
          <a:ln w="12700">
            <a:solidFill>
              <a:srgbClr val="20D4C7">
                <a:alpha val="0"/>
              </a:srgbClr>
            </a:solidFill>
            <a:prstDash val="solid"/>
          </a:ln>
        </p:spPr>
      </p:sp>
      <p:sp>
        <p:nvSpPr>
          <p:cNvPr id="4" name="Shape 2"/>
          <p:cNvSpPr/>
          <p:nvPr/>
        </p:nvSpPr>
        <p:spPr>
          <a:xfrm>
            <a:off x="8686800" y="1965960"/>
            <a:ext cx="3749040" cy="3749040"/>
          </a:xfrm>
          <a:prstGeom prst="ellipse">
            <a:avLst/>
          </a:prstGeom>
          <a:solidFill>
            <a:srgbClr val="FF9B5E">
              <a:alpha val="6000"/>
            </a:srgbClr>
          </a:solidFill>
          <a:ln w="12700">
            <a:solidFill>
              <a:srgbClr val="FF9B5E">
                <a:alpha val="0"/>
              </a:srgbClr>
            </a:solidFill>
            <a:prstDash val="solid"/>
          </a:ln>
        </p:spPr>
      </p:sp>
      <p:sp>
        <p:nvSpPr>
          <p:cNvPr id="5" name="Shape 3"/>
          <p:cNvSpPr/>
          <p:nvPr/>
        </p:nvSpPr>
        <p:spPr>
          <a:xfrm rot="2700000">
            <a:off x="8705088" y="1143000"/>
            <a:ext cx="1600200" cy="2057400"/>
          </a:xfrm>
          <a:prstGeom prst="teardrop">
            <a:avLst/>
          </a:prstGeom>
          <a:solidFill>
            <a:srgbClr val="20D4C7">
              <a:alpha val="92000"/>
            </a:srgbClr>
          </a:solidFill>
          <a:ln w="19050">
            <a:solidFill>
              <a:srgbClr val="78EAE0"/>
            </a:solidFill>
            <a:prstDash val="solid"/>
          </a:ln>
        </p:spPr>
      </p:sp>
      <p:sp>
        <p:nvSpPr>
          <p:cNvPr id="6" name="Shape 4"/>
          <p:cNvSpPr/>
          <p:nvPr/>
        </p:nvSpPr>
        <p:spPr>
          <a:xfrm>
            <a:off x="7726680" y="4370832"/>
            <a:ext cx="3383280" cy="0"/>
          </a:xfrm>
          <a:prstGeom prst="line">
            <a:avLst/>
          </a:prstGeom>
          <a:noFill/>
          <a:ln w="15240">
            <a:solidFill>
              <a:srgbClr val="27435A"/>
            </a:solidFill>
            <a:prstDash val="solid"/>
          </a:ln>
        </p:spPr>
      </p:sp>
      <p:sp>
        <p:nvSpPr>
          <p:cNvPr id="7" name="Shape 5"/>
          <p:cNvSpPr/>
          <p:nvPr/>
        </p:nvSpPr>
        <p:spPr>
          <a:xfrm flipV="1">
            <a:off x="7772400" y="4204764"/>
            <a:ext cx="128016" cy="19764"/>
          </a:xfrm>
          <a:prstGeom prst="line">
            <a:avLst/>
          </a:prstGeom>
          <a:noFill/>
          <a:ln w="27940">
            <a:solidFill>
              <a:srgbClr val="6BB7FF"/>
            </a:solidFill>
            <a:prstDash val="solid"/>
          </a:ln>
        </p:spPr>
      </p:sp>
      <p:sp>
        <p:nvSpPr>
          <p:cNvPr id="8" name="Shape 6"/>
          <p:cNvSpPr/>
          <p:nvPr/>
        </p:nvSpPr>
        <p:spPr>
          <a:xfrm flipV="1">
            <a:off x="7772400" y="4218352"/>
            <a:ext cx="128016" cy="2345"/>
          </a:xfrm>
          <a:prstGeom prst="line">
            <a:avLst/>
          </a:prstGeom>
          <a:noFill/>
          <a:ln w="27940">
            <a:solidFill>
              <a:srgbClr val="FF9B5E"/>
            </a:solidFill>
            <a:prstDash val="solid"/>
          </a:ln>
        </p:spPr>
      </p:sp>
      <p:sp>
        <p:nvSpPr>
          <p:cNvPr id="9" name="Shape 7"/>
          <p:cNvSpPr/>
          <p:nvPr/>
        </p:nvSpPr>
        <p:spPr>
          <a:xfrm flipV="1">
            <a:off x="7900416" y="4187066"/>
            <a:ext cx="128016" cy="17699"/>
          </a:xfrm>
          <a:prstGeom prst="line">
            <a:avLst/>
          </a:prstGeom>
          <a:noFill/>
          <a:ln w="27940">
            <a:solidFill>
              <a:srgbClr val="6BB7FF"/>
            </a:solidFill>
            <a:prstDash val="solid"/>
          </a:ln>
        </p:spPr>
      </p:sp>
      <p:sp>
        <p:nvSpPr>
          <p:cNvPr id="10" name="Shape 8"/>
          <p:cNvSpPr/>
          <p:nvPr/>
        </p:nvSpPr>
        <p:spPr>
          <a:xfrm flipV="1">
            <a:off x="7900416" y="4214587"/>
            <a:ext cx="128016" cy="3765"/>
          </a:xfrm>
          <a:prstGeom prst="line">
            <a:avLst/>
          </a:prstGeom>
          <a:noFill/>
          <a:ln w="27940">
            <a:solidFill>
              <a:srgbClr val="FF9B5E"/>
            </a:solidFill>
            <a:prstDash val="solid"/>
          </a:ln>
        </p:spPr>
      </p:sp>
      <p:sp>
        <p:nvSpPr>
          <p:cNvPr id="11" name="Shape 9"/>
          <p:cNvSpPr/>
          <p:nvPr/>
        </p:nvSpPr>
        <p:spPr>
          <a:xfrm flipV="1">
            <a:off x="8028432" y="4173232"/>
            <a:ext cx="128016" cy="13834"/>
          </a:xfrm>
          <a:prstGeom prst="line">
            <a:avLst/>
          </a:prstGeom>
          <a:noFill/>
          <a:ln w="27940">
            <a:solidFill>
              <a:srgbClr val="6BB7FF"/>
            </a:solidFill>
            <a:prstDash val="solid"/>
          </a:ln>
        </p:spPr>
      </p:sp>
      <p:sp>
        <p:nvSpPr>
          <p:cNvPr id="12" name="Shape 10"/>
          <p:cNvSpPr/>
          <p:nvPr/>
        </p:nvSpPr>
        <p:spPr>
          <a:xfrm flipV="1">
            <a:off x="8028432" y="4208565"/>
            <a:ext cx="128016" cy="6022"/>
          </a:xfrm>
          <a:prstGeom prst="line">
            <a:avLst/>
          </a:prstGeom>
          <a:noFill/>
          <a:ln w="27940">
            <a:solidFill>
              <a:srgbClr val="FF9B5E"/>
            </a:solidFill>
            <a:prstDash val="solid"/>
          </a:ln>
        </p:spPr>
      </p:sp>
      <p:sp>
        <p:nvSpPr>
          <p:cNvPr id="13" name="Shape 11"/>
          <p:cNvSpPr/>
          <p:nvPr/>
        </p:nvSpPr>
        <p:spPr>
          <a:xfrm flipV="1">
            <a:off x="8156448" y="4164568"/>
            <a:ext cx="128016" cy="8664"/>
          </a:xfrm>
          <a:prstGeom prst="line">
            <a:avLst/>
          </a:prstGeom>
          <a:noFill/>
          <a:ln w="27940">
            <a:solidFill>
              <a:srgbClr val="6BB7FF"/>
            </a:solidFill>
            <a:prstDash val="solid"/>
          </a:ln>
        </p:spPr>
      </p:sp>
      <p:sp>
        <p:nvSpPr>
          <p:cNvPr id="14" name="Shape 12"/>
          <p:cNvSpPr/>
          <p:nvPr/>
        </p:nvSpPr>
        <p:spPr>
          <a:xfrm flipV="1">
            <a:off x="8156448" y="4198992"/>
            <a:ext cx="128016" cy="9573"/>
          </a:xfrm>
          <a:prstGeom prst="line">
            <a:avLst/>
          </a:prstGeom>
          <a:noFill/>
          <a:ln w="27940">
            <a:solidFill>
              <a:srgbClr val="FF9B5E"/>
            </a:solidFill>
            <a:prstDash val="solid"/>
          </a:ln>
        </p:spPr>
      </p:sp>
      <p:sp>
        <p:nvSpPr>
          <p:cNvPr id="15" name="Shape 13"/>
          <p:cNvSpPr/>
          <p:nvPr/>
        </p:nvSpPr>
        <p:spPr>
          <a:xfrm flipV="1">
            <a:off x="8284464" y="4161716"/>
            <a:ext cx="128016" cy="2852"/>
          </a:xfrm>
          <a:prstGeom prst="line">
            <a:avLst/>
          </a:prstGeom>
          <a:noFill/>
          <a:ln w="27940">
            <a:solidFill>
              <a:srgbClr val="6BB7FF"/>
            </a:solidFill>
            <a:prstDash val="solid"/>
          </a:ln>
        </p:spPr>
      </p:sp>
      <p:sp>
        <p:nvSpPr>
          <p:cNvPr id="16" name="Shape 14"/>
          <p:cNvSpPr/>
          <p:nvPr/>
        </p:nvSpPr>
        <p:spPr>
          <a:xfrm flipV="1">
            <a:off x="8284464" y="4183925"/>
            <a:ext cx="128016" cy="15067"/>
          </a:xfrm>
          <a:prstGeom prst="line">
            <a:avLst/>
          </a:prstGeom>
          <a:noFill/>
          <a:ln w="27940">
            <a:solidFill>
              <a:srgbClr val="FF9B5E"/>
            </a:solidFill>
            <a:prstDash val="solid"/>
          </a:ln>
        </p:spPr>
      </p:sp>
      <p:sp>
        <p:nvSpPr>
          <p:cNvPr id="17" name="Shape 15"/>
          <p:cNvSpPr/>
          <p:nvPr/>
        </p:nvSpPr>
        <p:spPr>
          <a:xfrm>
            <a:off x="8412480" y="4161716"/>
            <a:ext cx="128016" cy="2856"/>
          </a:xfrm>
          <a:prstGeom prst="line">
            <a:avLst/>
          </a:prstGeom>
          <a:noFill/>
          <a:ln w="27940">
            <a:solidFill>
              <a:srgbClr val="6BB7FF"/>
            </a:solidFill>
            <a:prstDash val="solid"/>
          </a:ln>
        </p:spPr>
      </p:sp>
      <p:sp>
        <p:nvSpPr>
          <p:cNvPr id="18" name="Shape 16"/>
          <p:cNvSpPr/>
          <p:nvPr/>
        </p:nvSpPr>
        <p:spPr>
          <a:xfrm flipV="1">
            <a:off x="8412480" y="4160576"/>
            <a:ext cx="128016" cy="23348"/>
          </a:xfrm>
          <a:prstGeom prst="line">
            <a:avLst/>
          </a:prstGeom>
          <a:noFill/>
          <a:ln w="27940">
            <a:solidFill>
              <a:srgbClr val="FF9B5E"/>
            </a:solidFill>
            <a:prstDash val="solid"/>
          </a:ln>
        </p:spPr>
      </p:sp>
      <p:sp>
        <p:nvSpPr>
          <p:cNvPr id="19" name="Shape 17"/>
          <p:cNvSpPr/>
          <p:nvPr/>
        </p:nvSpPr>
        <p:spPr>
          <a:xfrm>
            <a:off x="8540496" y="4164572"/>
            <a:ext cx="128016" cy="7729"/>
          </a:xfrm>
          <a:prstGeom prst="line">
            <a:avLst/>
          </a:prstGeom>
          <a:noFill/>
          <a:ln w="27940">
            <a:solidFill>
              <a:srgbClr val="6BB7FF"/>
            </a:solidFill>
            <a:prstDash val="solid"/>
          </a:ln>
        </p:spPr>
      </p:sp>
      <p:sp>
        <p:nvSpPr>
          <p:cNvPr id="20" name="Shape 18"/>
          <p:cNvSpPr/>
          <p:nvPr/>
        </p:nvSpPr>
        <p:spPr>
          <a:xfrm flipV="1">
            <a:off x="8540496" y="4125251"/>
            <a:ext cx="128016" cy="35325"/>
          </a:xfrm>
          <a:prstGeom prst="line">
            <a:avLst/>
          </a:prstGeom>
          <a:noFill/>
          <a:ln w="27940">
            <a:solidFill>
              <a:srgbClr val="FF9B5E"/>
            </a:solidFill>
            <a:prstDash val="solid"/>
          </a:ln>
        </p:spPr>
      </p:sp>
      <p:sp>
        <p:nvSpPr>
          <p:cNvPr id="21" name="Shape 19"/>
          <p:cNvSpPr/>
          <p:nvPr/>
        </p:nvSpPr>
        <p:spPr>
          <a:xfrm>
            <a:off x="8668512" y="4172301"/>
            <a:ext cx="128016" cy="11142"/>
          </a:xfrm>
          <a:prstGeom prst="line">
            <a:avLst/>
          </a:prstGeom>
          <a:noFill/>
          <a:ln w="27940">
            <a:solidFill>
              <a:srgbClr val="6BB7FF"/>
            </a:solidFill>
            <a:prstDash val="solid"/>
          </a:ln>
        </p:spPr>
      </p:sp>
      <p:sp>
        <p:nvSpPr>
          <p:cNvPr id="22" name="Shape 20"/>
          <p:cNvSpPr/>
          <p:nvPr/>
        </p:nvSpPr>
        <p:spPr>
          <a:xfrm flipV="1">
            <a:off x="8668512" y="4073697"/>
            <a:ext cx="128016" cy="51554"/>
          </a:xfrm>
          <a:prstGeom prst="line">
            <a:avLst/>
          </a:prstGeom>
          <a:noFill/>
          <a:ln w="27940">
            <a:solidFill>
              <a:srgbClr val="FF9B5E"/>
            </a:solidFill>
            <a:prstDash val="solid"/>
          </a:ln>
        </p:spPr>
      </p:sp>
      <p:sp>
        <p:nvSpPr>
          <p:cNvPr id="23" name="Shape 21"/>
          <p:cNvSpPr/>
          <p:nvPr/>
        </p:nvSpPr>
        <p:spPr>
          <a:xfrm>
            <a:off x="8796528" y="4183443"/>
            <a:ext cx="128016" cy="12658"/>
          </a:xfrm>
          <a:prstGeom prst="line">
            <a:avLst/>
          </a:prstGeom>
          <a:noFill/>
          <a:ln w="27940">
            <a:solidFill>
              <a:srgbClr val="6BB7FF"/>
            </a:solidFill>
            <a:prstDash val="solid"/>
          </a:ln>
        </p:spPr>
      </p:sp>
      <p:sp>
        <p:nvSpPr>
          <p:cNvPr id="24" name="Shape 22"/>
          <p:cNvSpPr/>
          <p:nvPr/>
        </p:nvSpPr>
        <p:spPr>
          <a:xfrm flipV="1">
            <a:off x="8796528" y="4002284"/>
            <a:ext cx="128016" cy="71413"/>
          </a:xfrm>
          <a:prstGeom prst="line">
            <a:avLst/>
          </a:prstGeom>
          <a:noFill/>
          <a:ln w="27940">
            <a:solidFill>
              <a:srgbClr val="FF9B5E"/>
            </a:solidFill>
            <a:prstDash val="solid"/>
          </a:ln>
        </p:spPr>
      </p:sp>
      <p:sp>
        <p:nvSpPr>
          <p:cNvPr id="25" name="Shape 23"/>
          <p:cNvSpPr/>
          <p:nvPr/>
        </p:nvSpPr>
        <p:spPr>
          <a:xfrm>
            <a:off x="8924544" y="4196102"/>
            <a:ext cx="128016" cy="12083"/>
          </a:xfrm>
          <a:prstGeom prst="line">
            <a:avLst/>
          </a:prstGeom>
          <a:noFill/>
          <a:ln w="27940">
            <a:solidFill>
              <a:srgbClr val="6BB7FF"/>
            </a:solidFill>
            <a:prstDash val="solid"/>
          </a:ln>
        </p:spPr>
      </p:sp>
      <p:sp>
        <p:nvSpPr>
          <p:cNvPr id="26" name="Shape 24"/>
          <p:cNvSpPr/>
          <p:nvPr/>
        </p:nvSpPr>
        <p:spPr>
          <a:xfrm flipV="1">
            <a:off x="8924544" y="3910191"/>
            <a:ext cx="128016" cy="92093"/>
          </a:xfrm>
          <a:prstGeom prst="line">
            <a:avLst/>
          </a:prstGeom>
          <a:noFill/>
          <a:ln w="27940">
            <a:solidFill>
              <a:srgbClr val="FF9B5E"/>
            </a:solidFill>
            <a:prstDash val="solid"/>
          </a:ln>
        </p:spPr>
      </p:sp>
      <p:sp>
        <p:nvSpPr>
          <p:cNvPr id="27" name="Shape 25"/>
          <p:cNvSpPr/>
          <p:nvPr/>
        </p:nvSpPr>
        <p:spPr>
          <a:xfrm>
            <a:off x="9052560" y="4208184"/>
            <a:ext cx="128016" cy="9489"/>
          </a:xfrm>
          <a:prstGeom prst="line">
            <a:avLst/>
          </a:prstGeom>
          <a:noFill/>
          <a:ln w="27940">
            <a:solidFill>
              <a:srgbClr val="6BB7FF"/>
            </a:solidFill>
            <a:prstDash val="solid"/>
          </a:ln>
        </p:spPr>
      </p:sp>
      <p:sp>
        <p:nvSpPr>
          <p:cNvPr id="28" name="Shape 26"/>
          <p:cNvSpPr/>
          <p:nvPr/>
        </p:nvSpPr>
        <p:spPr>
          <a:xfrm flipV="1">
            <a:off x="9052560" y="3801800"/>
            <a:ext cx="128016" cy="108391"/>
          </a:xfrm>
          <a:prstGeom prst="line">
            <a:avLst/>
          </a:prstGeom>
          <a:noFill/>
          <a:ln w="27940">
            <a:solidFill>
              <a:srgbClr val="FF9B5E"/>
            </a:solidFill>
            <a:prstDash val="solid"/>
          </a:ln>
        </p:spPr>
      </p:sp>
      <p:sp>
        <p:nvSpPr>
          <p:cNvPr id="29" name="Shape 27"/>
          <p:cNvSpPr/>
          <p:nvPr/>
        </p:nvSpPr>
        <p:spPr>
          <a:xfrm>
            <a:off x="9180576" y="4217673"/>
            <a:ext cx="128016" cy="5209"/>
          </a:xfrm>
          <a:prstGeom prst="line">
            <a:avLst/>
          </a:prstGeom>
          <a:noFill/>
          <a:ln w="27940">
            <a:solidFill>
              <a:srgbClr val="6BB7FF"/>
            </a:solidFill>
            <a:prstDash val="solid"/>
          </a:ln>
        </p:spPr>
      </p:sp>
      <p:sp>
        <p:nvSpPr>
          <p:cNvPr id="30" name="Shape 28"/>
          <p:cNvSpPr/>
          <p:nvPr/>
        </p:nvSpPr>
        <p:spPr>
          <a:xfrm flipV="1">
            <a:off x="9180576" y="3687136"/>
            <a:ext cx="128016" cy="114665"/>
          </a:xfrm>
          <a:prstGeom prst="line">
            <a:avLst/>
          </a:prstGeom>
          <a:noFill/>
          <a:ln w="27940">
            <a:solidFill>
              <a:srgbClr val="FF9B5E"/>
            </a:solidFill>
            <a:prstDash val="solid"/>
          </a:ln>
        </p:spPr>
      </p:sp>
      <p:sp>
        <p:nvSpPr>
          <p:cNvPr id="31" name="Shape 29"/>
          <p:cNvSpPr/>
          <p:nvPr/>
        </p:nvSpPr>
        <p:spPr>
          <a:xfrm flipV="1">
            <a:off x="9308592" y="4222675"/>
            <a:ext cx="128016" cy="207"/>
          </a:xfrm>
          <a:prstGeom prst="line">
            <a:avLst/>
          </a:prstGeom>
          <a:noFill/>
          <a:ln w="27940">
            <a:solidFill>
              <a:srgbClr val="6BB7FF"/>
            </a:solidFill>
            <a:prstDash val="solid"/>
          </a:ln>
        </p:spPr>
      </p:sp>
      <p:sp>
        <p:nvSpPr>
          <p:cNvPr id="32" name="Shape 30"/>
          <p:cNvSpPr/>
          <p:nvPr/>
        </p:nvSpPr>
        <p:spPr>
          <a:xfrm flipV="1">
            <a:off x="9308592" y="3578745"/>
            <a:ext cx="128016" cy="108391"/>
          </a:xfrm>
          <a:prstGeom prst="line">
            <a:avLst/>
          </a:prstGeom>
          <a:noFill/>
          <a:ln w="27940">
            <a:solidFill>
              <a:srgbClr val="FF9B5E"/>
            </a:solidFill>
            <a:prstDash val="solid"/>
          </a:ln>
        </p:spPr>
      </p:sp>
      <p:sp>
        <p:nvSpPr>
          <p:cNvPr id="33" name="Shape 31"/>
          <p:cNvSpPr/>
          <p:nvPr/>
        </p:nvSpPr>
        <p:spPr>
          <a:xfrm flipV="1">
            <a:off x="9436608" y="4216610"/>
            <a:ext cx="128016" cy="6065"/>
          </a:xfrm>
          <a:prstGeom prst="line">
            <a:avLst/>
          </a:prstGeom>
          <a:noFill/>
          <a:ln w="27940">
            <a:solidFill>
              <a:srgbClr val="6BB7FF"/>
            </a:solidFill>
            <a:prstDash val="solid"/>
          </a:ln>
        </p:spPr>
      </p:sp>
      <p:sp>
        <p:nvSpPr>
          <p:cNvPr id="34" name="Shape 32"/>
          <p:cNvSpPr/>
          <p:nvPr/>
        </p:nvSpPr>
        <p:spPr>
          <a:xfrm flipV="1">
            <a:off x="9436608" y="3486652"/>
            <a:ext cx="128016" cy="92093"/>
          </a:xfrm>
          <a:prstGeom prst="line">
            <a:avLst/>
          </a:prstGeom>
          <a:noFill/>
          <a:ln w="27940">
            <a:solidFill>
              <a:srgbClr val="FF9B5E"/>
            </a:solidFill>
            <a:prstDash val="solid"/>
          </a:ln>
        </p:spPr>
      </p:sp>
      <p:sp>
        <p:nvSpPr>
          <p:cNvPr id="35" name="Shape 33"/>
          <p:cNvSpPr/>
          <p:nvPr/>
        </p:nvSpPr>
        <p:spPr>
          <a:xfrm flipV="1">
            <a:off x="9564624" y="4204995"/>
            <a:ext cx="128016" cy="11615"/>
          </a:xfrm>
          <a:prstGeom prst="line">
            <a:avLst/>
          </a:prstGeom>
          <a:noFill/>
          <a:ln w="27940">
            <a:solidFill>
              <a:srgbClr val="6BB7FF"/>
            </a:solidFill>
            <a:prstDash val="solid"/>
          </a:ln>
        </p:spPr>
      </p:sp>
      <p:sp>
        <p:nvSpPr>
          <p:cNvPr id="36" name="Shape 34"/>
          <p:cNvSpPr/>
          <p:nvPr/>
        </p:nvSpPr>
        <p:spPr>
          <a:xfrm flipV="1">
            <a:off x="9564624" y="3415239"/>
            <a:ext cx="128016" cy="71413"/>
          </a:xfrm>
          <a:prstGeom prst="line">
            <a:avLst/>
          </a:prstGeom>
          <a:noFill/>
          <a:ln w="27940">
            <a:solidFill>
              <a:srgbClr val="FF9B5E"/>
            </a:solidFill>
            <a:prstDash val="solid"/>
          </a:ln>
        </p:spPr>
      </p:sp>
      <p:sp>
        <p:nvSpPr>
          <p:cNvPr id="37" name="Shape 35"/>
          <p:cNvSpPr/>
          <p:nvPr/>
        </p:nvSpPr>
        <p:spPr>
          <a:xfrm flipV="1">
            <a:off x="9692640" y="4188850"/>
            <a:ext cx="128016" cy="16145"/>
          </a:xfrm>
          <a:prstGeom prst="line">
            <a:avLst/>
          </a:prstGeom>
          <a:noFill/>
          <a:ln w="27940">
            <a:solidFill>
              <a:srgbClr val="6BB7FF"/>
            </a:solidFill>
            <a:prstDash val="solid"/>
          </a:ln>
        </p:spPr>
      </p:sp>
      <p:sp>
        <p:nvSpPr>
          <p:cNvPr id="38" name="Shape 36"/>
          <p:cNvSpPr/>
          <p:nvPr/>
        </p:nvSpPr>
        <p:spPr>
          <a:xfrm flipV="1">
            <a:off x="9692640" y="3363685"/>
            <a:ext cx="128016" cy="51554"/>
          </a:xfrm>
          <a:prstGeom prst="line">
            <a:avLst/>
          </a:prstGeom>
          <a:noFill/>
          <a:ln w="27940">
            <a:solidFill>
              <a:srgbClr val="FF9B5E"/>
            </a:solidFill>
            <a:prstDash val="solid"/>
          </a:ln>
        </p:spPr>
      </p:sp>
      <p:sp>
        <p:nvSpPr>
          <p:cNvPr id="39" name="Shape 37"/>
          <p:cNvSpPr/>
          <p:nvPr/>
        </p:nvSpPr>
        <p:spPr>
          <a:xfrm flipV="1">
            <a:off x="9820656" y="4169777"/>
            <a:ext cx="128016" cy="19073"/>
          </a:xfrm>
          <a:prstGeom prst="line">
            <a:avLst/>
          </a:prstGeom>
          <a:noFill/>
          <a:ln w="27940">
            <a:solidFill>
              <a:srgbClr val="6BB7FF"/>
            </a:solidFill>
            <a:prstDash val="solid"/>
          </a:ln>
        </p:spPr>
      </p:sp>
      <p:sp>
        <p:nvSpPr>
          <p:cNvPr id="40" name="Shape 38"/>
          <p:cNvSpPr/>
          <p:nvPr/>
        </p:nvSpPr>
        <p:spPr>
          <a:xfrm flipV="1">
            <a:off x="9820656" y="3328360"/>
            <a:ext cx="128016" cy="35325"/>
          </a:xfrm>
          <a:prstGeom prst="line">
            <a:avLst/>
          </a:prstGeom>
          <a:noFill/>
          <a:ln w="27940">
            <a:solidFill>
              <a:srgbClr val="FF9B5E"/>
            </a:solidFill>
            <a:prstDash val="solid"/>
          </a:ln>
        </p:spPr>
      </p:sp>
      <p:sp>
        <p:nvSpPr>
          <p:cNvPr id="41" name="Shape 39"/>
          <p:cNvSpPr/>
          <p:nvPr/>
        </p:nvSpPr>
        <p:spPr>
          <a:xfrm flipV="1">
            <a:off x="9948672" y="4149751"/>
            <a:ext cx="128016" cy="20026"/>
          </a:xfrm>
          <a:prstGeom prst="line">
            <a:avLst/>
          </a:prstGeom>
          <a:noFill/>
          <a:ln w="27940">
            <a:solidFill>
              <a:srgbClr val="6BB7FF"/>
            </a:solidFill>
            <a:prstDash val="solid"/>
          </a:ln>
        </p:spPr>
      </p:sp>
      <p:sp>
        <p:nvSpPr>
          <p:cNvPr id="42" name="Shape 40"/>
          <p:cNvSpPr/>
          <p:nvPr/>
        </p:nvSpPr>
        <p:spPr>
          <a:xfrm flipV="1">
            <a:off x="9948672" y="3305011"/>
            <a:ext cx="128016" cy="23348"/>
          </a:xfrm>
          <a:prstGeom prst="line">
            <a:avLst/>
          </a:prstGeom>
          <a:noFill/>
          <a:ln w="27940">
            <a:solidFill>
              <a:srgbClr val="FF9B5E"/>
            </a:solidFill>
            <a:prstDash val="solid"/>
          </a:ln>
        </p:spPr>
      </p:sp>
      <p:sp>
        <p:nvSpPr>
          <p:cNvPr id="43" name="Shape 41"/>
          <p:cNvSpPr/>
          <p:nvPr/>
        </p:nvSpPr>
        <p:spPr>
          <a:xfrm flipV="1">
            <a:off x="10076688" y="4130871"/>
            <a:ext cx="128016" cy="18880"/>
          </a:xfrm>
          <a:prstGeom prst="line">
            <a:avLst/>
          </a:prstGeom>
          <a:noFill/>
          <a:ln w="27940">
            <a:solidFill>
              <a:srgbClr val="6BB7FF"/>
            </a:solidFill>
            <a:prstDash val="solid"/>
          </a:ln>
        </p:spPr>
      </p:sp>
      <p:sp>
        <p:nvSpPr>
          <p:cNvPr id="44" name="Shape 42"/>
          <p:cNvSpPr/>
          <p:nvPr/>
        </p:nvSpPr>
        <p:spPr>
          <a:xfrm flipV="1">
            <a:off x="10076688" y="3289944"/>
            <a:ext cx="128016" cy="15067"/>
          </a:xfrm>
          <a:prstGeom prst="line">
            <a:avLst/>
          </a:prstGeom>
          <a:noFill/>
          <a:ln w="27940">
            <a:solidFill>
              <a:srgbClr val="FF9B5E"/>
            </a:solidFill>
            <a:prstDash val="solid"/>
          </a:ln>
        </p:spPr>
      </p:sp>
      <p:sp>
        <p:nvSpPr>
          <p:cNvPr id="45" name="Shape 43"/>
          <p:cNvSpPr/>
          <p:nvPr/>
        </p:nvSpPr>
        <p:spPr>
          <a:xfrm flipV="1">
            <a:off x="10204704" y="4115090"/>
            <a:ext cx="128016" cy="15782"/>
          </a:xfrm>
          <a:prstGeom prst="line">
            <a:avLst/>
          </a:prstGeom>
          <a:noFill/>
          <a:ln w="27940">
            <a:solidFill>
              <a:srgbClr val="6BB7FF"/>
            </a:solidFill>
            <a:prstDash val="solid"/>
          </a:ln>
        </p:spPr>
      </p:sp>
      <p:sp>
        <p:nvSpPr>
          <p:cNvPr id="46" name="Shape 44"/>
          <p:cNvSpPr/>
          <p:nvPr/>
        </p:nvSpPr>
        <p:spPr>
          <a:xfrm flipV="1">
            <a:off x="10204704" y="3280371"/>
            <a:ext cx="128016" cy="9573"/>
          </a:xfrm>
          <a:prstGeom prst="line">
            <a:avLst/>
          </a:prstGeom>
          <a:noFill/>
          <a:ln w="27940">
            <a:solidFill>
              <a:srgbClr val="FF9B5E"/>
            </a:solidFill>
            <a:prstDash val="solid"/>
          </a:ln>
        </p:spPr>
      </p:sp>
      <p:sp>
        <p:nvSpPr>
          <p:cNvPr id="47" name="Shape 45"/>
          <p:cNvSpPr/>
          <p:nvPr/>
        </p:nvSpPr>
        <p:spPr>
          <a:xfrm flipV="1">
            <a:off x="10332720" y="4103960"/>
            <a:ext cx="128016" cy="11130"/>
          </a:xfrm>
          <a:prstGeom prst="line">
            <a:avLst/>
          </a:prstGeom>
          <a:noFill/>
          <a:ln w="27940">
            <a:solidFill>
              <a:srgbClr val="6BB7FF"/>
            </a:solidFill>
            <a:prstDash val="solid"/>
          </a:ln>
        </p:spPr>
      </p:sp>
      <p:sp>
        <p:nvSpPr>
          <p:cNvPr id="48" name="Shape 46"/>
          <p:cNvSpPr/>
          <p:nvPr/>
        </p:nvSpPr>
        <p:spPr>
          <a:xfrm flipV="1">
            <a:off x="10332720" y="3274349"/>
            <a:ext cx="128016" cy="6022"/>
          </a:xfrm>
          <a:prstGeom prst="line">
            <a:avLst/>
          </a:prstGeom>
          <a:noFill/>
          <a:ln w="27940">
            <a:solidFill>
              <a:srgbClr val="FF9B5E"/>
            </a:solidFill>
            <a:prstDash val="solid"/>
          </a:ln>
        </p:spPr>
      </p:sp>
      <p:sp>
        <p:nvSpPr>
          <p:cNvPr id="49" name="Shape 47"/>
          <p:cNvSpPr/>
          <p:nvPr/>
        </p:nvSpPr>
        <p:spPr>
          <a:xfrm flipV="1">
            <a:off x="10460736" y="4098440"/>
            <a:ext cx="128016" cy="5519"/>
          </a:xfrm>
          <a:prstGeom prst="line">
            <a:avLst/>
          </a:prstGeom>
          <a:noFill/>
          <a:ln w="27940">
            <a:solidFill>
              <a:srgbClr val="6BB7FF"/>
            </a:solidFill>
            <a:prstDash val="solid"/>
          </a:ln>
        </p:spPr>
      </p:sp>
      <p:sp>
        <p:nvSpPr>
          <p:cNvPr id="50" name="Shape 48"/>
          <p:cNvSpPr/>
          <p:nvPr/>
        </p:nvSpPr>
        <p:spPr>
          <a:xfrm flipV="1">
            <a:off x="10460736" y="3270584"/>
            <a:ext cx="128016" cy="3765"/>
          </a:xfrm>
          <a:prstGeom prst="line">
            <a:avLst/>
          </a:prstGeom>
          <a:noFill/>
          <a:ln w="27940">
            <a:solidFill>
              <a:srgbClr val="FF9B5E"/>
            </a:solidFill>
            <a:prstDash val="solid"/>
          </a:ln>
        </p:spPr>
      </p:sp>
      <p:sp>
        <p:nvSpPr>
          <p:cNvPr id="51" name="Shape 49"/>
          <p:cNvSpPr/>
          <p:nvPr/>
        </p:nvSpPr>
        <p:spPr>
          <a:xfrm>
            <a:off x="10588752" y="4098440"/>
            <a:ext cx="128016" cy="329"/>
          </a:xfrm>
          <a:prstGeom prst="line">
            <a:avLst/>
          </a:prstGeom>
          <a:noFill/>
          <a:ln w="27940">
            <a:solidFill>
              <a:srgbClr val="6BB7FF"/>
            </a:solidFill>
            <a:prstDash val="solid"/>
          </a:ln>
        </p:spPr>
      </p:sp>
      <p:sp>
        <p:nvSpPr>
          <p:cNvPr id="52" name="Shape 50"/>
          <p:cNvSpPr/>
          <p:nvPr/>
        </p:nvSpPr>
        <p:spPr>
          <a:xfrm flipV="1">
            <a:off x="10588752" y="3268239"/>
            <a:ext cx="128016" cy="2345"/>
          </a:xfrm>
          <a:prstGeom prst="line">
            <a:avLst/>
          </a:prstGeom>
          <a:noFill/>
          <a:ln w="27940">
            <a:solidFill>
              <a:srgbClr val="FF9B5E"/>
            </a:solidFill>
            <a:prstDash val="solid"/>
          </a:ln>
        </p:spPr>
      </p:sp>
      <p:sp>
        <p:nvSpPr>
          <p:cNvPr id="53" name="Shape 51"/>
          <p:cNvSpPr/>
          <p:nvPr/>
        </p:nvSpPr>
        <p:spPr>
          <a:xfrm>
            <a:off x="10716768" y="4098770"/>
            <a:ext cx="128016" cy="5667"/>
          </a:xfrm>
          <a:prstGeom prst="line">
            <a:avLst/>
          </a:prstGeom>
          <a:noFill/>
          <a:ln w="27940">
            <a:solidFill>
              <a:srgbClr val="6BB7FF"/>
            </a:solidFill>
            <a:prstDash val="solid"/>
          </a:ln>
        </p:spPr>
      </p:sp>
      <p:sp>
        <p:nvSpPr>
          <p:cNvPr id="54" name="Shape 52"/>
          <p:cNvSpPr/>
          <p:nvPr/>
        </p:nvSpPr>
        <p:spPr>
          <a:xfrm flipV="1">
            <a:off x="10716768" y="3266782"/>
            <a:ext cx="128016" cy="1457"/>
          </a:xfrm>
          <a:prstGeom prst="line">
            <a:avLst/>
          </a:prstGeom>
          <a:noFill/>
          <a:ln w="27940">
            <a:solidFill>
              <a:srgbClr val="FF9B5E"/>
            </a:solidFill>
            <a:prstDash val="solid"/>
          </a:ln>
        </p:spPr>
      </p:sp>
      <p:sp>
        <p:nvSpPr>
          <p:cNvPr id="55" name="Shape 53"/>
          <p:cNvSpPr/>
          <p:nvPr/>
        </p:nvSpPr>
        <p:spPr>
          <a:xfrm>
            <a:off x="10844784" y="4104437"/>
            <a:ext cx="128016" cy="9809"/>
          </a:xfrm>
          <a:prstGeom prst="line">
            <a:avLst/>
          </a:prstGeom>
          <a:noFill/>
          <a:ln w="27940">
            <a:solidFill>
              <a:srgbClr val="6BB7FF"/>
            </a:solidFill>
            <a:prstDash val="solid"/>
          </a:ln>
        </p:spPr>
      </p:sp>
      <p:sp>
        <p:nvSpPr>
          <p:cNvPr id="56" name="Shape 54"/>
          <p:cNvSpPr/>
          <p:nvPr/>
        </p:nvSpPr>
        <p:spPr>
          <a:xfrm flipV="1">
            <a:off x="10844784" y="3265878"/>
            <a:ext cx="128016" cy="904"/>
          </a:xfrm>
          <a:prstGeom prst="line">
            <a:avLst/>
          </a:prstGeom>
          <a:noFill/>
          <a:ln w="27940">
            <a:solidFill>
              <a:srgbClr val="FF9B5E"/>
            </a:solidFill>
            <a:prstDash val="solid"/>
          </a:ln>
        </p:spPr>
      </p:sp>
      <p:sp>
        <p:nvSpPr>
          <p:cNvPr id="57" name="Shape 55"/>
          <p:cNvSpPr/>
          <p:nvPr/>
        </p:nvSpPr>
        <p:spPr>
          <a:xfrm>
            <a:off x="658368" y="640080"/>
            <a:ext cx="2148840" cy="310896"/>
          </a:xfrm>
          <a:prstGeom prst="roundRect">
            <a:avLst/>
          </a:prstGeom>
          <a:solidFill>
            <a:srgbClr val="20D4C7"/>
          </a:solidFill>
          <a:ln w="12700">
            <a:solidFill>
              <a:srgbClr val="20D4C7">
                <a:alpha val="0"/>
              </a:srgbClr>
            </a:solidFill>
            <a:prstDash val="solid"/>
          </a:ln>
        </p:spPr>
      </p:sp>
      <p:sp>
        <p:nvSpPr>
          <p:cNvPr id="58" name="Text 56"/>
          <p:cNvSpPr txBox="1"/>
          <p:nvPr/>
        </p:nvSpPr>
        <p:spPr>
          <a:xfrm>
            <a:off x="731520" y="708660"/>
            <a:ext cx="2002536" cy="210312"/>
          </a:xfrm>
          <a:prstGeom prst="rect">
            <a:avLst/>
          </a:prstGeom>
          <a:noFill/>
          <a:ln/>
        </p:spPr>
        <p:txBody>
          <a:bodyPr wrap="square" lIns="0" tIns="0" rIns="0" bIns="0" rtlCol="0" anchor="ctr">
            <a:normAutofit/>
          </a:bodyPr>
          <a:lstStyle/>
          <a:p>
            <a:pPr algn="ctr" indent="0" marL="0">
              <a:buNone/>
            </a:pPr>
            <a:r>
              <a:rPr lang="en-US" sz="920" b="1" dirty="0">
                <a:solidFill>
                  <a:srgbClr val="07111F"/>
                </a:solidFill>
                <a:latin typeface="Aptos" pitchFamily="34" charset="0"/>
                <a:ea typeface="Aptos" pitchFamily="34" charset="-122"/>
                <a:cs typeface="Aptos" pitchFamily="34" charset="-120"/>
              </a:rPr>
              <a:t>EVIDENCE REVIEW · 2026</a:t>
            </a:r>
            <a:endParaRPr lang="en-US" sz="920" dirty="0"/>
          </a:p>
        </p:txBody>
      </p:sp>
      <p:sp>
        <p:nvSpPr>
          <p:cNvPr id="59" name="Text 57"/>
          <p:cNvSpPr txBox="1"/>
          <p:nvPr/>
        </p:nvSpPr>
        <p:spPr>
          <a:xfrm>
            <a:off x="658368" y="1298448"/>
            <a:ext cx="6583680" cy="685800"/>
          </a:xfrm>
          <a:prstGeom prst="rect">
            <a:avLst/>
          </a:prstGeom>
          <a:noFill/>
          <a:ln/>
        </p:spPr>
        <p:txBody>
          <a:bodyPr wrap="square" lIns="0" tIns="0" rIns="0" bIns="0" rtlCol="0" anchor="t">
            <a:normAutofit/>
          </a:bodyPr>
          <a:lstStyle/>
          <a:p>
            <a:pPr algn="l" indent="0" marL="0">
              <a:buNone/>
            </a:pPr>
            <a:r>
              <a:rPr lang="en-US" sz="3800" b="1" dirty="0">
                <a:solidFill>
                  <a:srgbClr val="F5F7FA"/>
                </a:solidFill>
                <a:latin typeface="Microsoft JhengHei" pitchFamily="34" charset="0"/>
                <a:ea typeface="Microsoft JhengHei" pitchFamily="34" charset="-122"/>
                <a:cs typeface="Microsoft JhengHei" pitchFamily="34" charset="-120"/>
              </a:rPr>
              <a:t>汗乳酸 × 疲勞</a:t>
            </a:r>
            <a:endParaRPr lang="en-US" sz="3800" dirty="0"/>
          </a:p>
        </p:txBody>
      </p:sp>
      <p:sp>
        <p:nvSpPr>
          <p:cNvPr id="60" name="Text 58"/>
          <p:cNvSpPr txBox="1"/>
          <p:nvPr/>
        </p:nvSpPr>
        <p:spPr>
          <a:xfrm>
            <a:off x="658368" y="2048256"/>
            <a:ext cx="6583680" cy="594360"/>
          </a:xfrm>
          <a:prstGeom prst="rect">
            <a:avLst/>
          </a:prstGeom>
          <a:noFill/>
          <a:ln/>
        </p:spPr>
        <p:txBody>
          <a:bodyPr wrap="square" lIns="0" tIns="0" rIns="0" bIns="0" rtlCol="0" anchor="t">
            <a:normAutofit/>
          </a:bodyPr>
          <a:lstStyle/>
          <a:p>
            <a:pPr algn="l" indent="0" marL="0">
              <a:buNone/>
            </a:pPr>
            <a:r>
              <a:rPr lang="en-US" sz="2800" b="1" dirty="0">
                <a:solidFill>
                  <a:srgbClr val="78EAE0"/>
                </a:solidFill>
                <a:latin typeface="Microsoft JhengHei" pitchFamily="34" charset="0"/>
                <a:ea typeface="Microsoft JhengHei" pitchFamily="34" charset="-122"/>
                <a:cs typeface="Microsoft JhengHei" pitchFamily="34" charset="-120"/>
              </a:rPr>
              <a:t>兩篇初步研究怎麼讀？</a:t>
            </a:r>
            <a:endParaRPr lang="en-US" sz="2800" dirty="0"/>
          </a:p>
        </p:txBody>
      </p:sp>
      <p:sp>
        <p:nvSpPr>
          <p:cNvPr id="61" name="Text 59"/>
          <p:cNvSpPr txBox="1"/>
          <p:nvPr/>
        </p:nvSpPr>
        <p:spPr>
          <a:xfrm>
            <a:off x="685800" y="2926080"/>
            <a:ext cx="5806440" cy="960120"/>
          </a:xfrm>
          <a:prstGeom prst="rect">
            <a:avLst/>
          </a:prstGeom>
          <a:noFill/>
          <a:ln/>
        </p:spPr>
        <p:txBody>
          <a:bodyPr wrap="square" lIns="0" tIns="0" rIns="0" bIns="0" rtlCol="0" anchor="t">
            <a:normAutofit/>
          </a:bodyPr>
          <a:lstStyle/>
          <a:p>
            <a:pPr algn="l" indent="0" marL="0">
              <a:buNone/>
            </a:pPr>
            <a:r>
              <a:rPr lang="en-US" sz="1800" dirty="0">
                <a:solidFill>
                  <a:srgbClr val="D8E2EC"/>
                </a:solidFill>
                <a:latin typeface="Microsoft JhengHei" pitchFamily="34" charset="0"/>
                <a:ea typeface="Microsoft JhengHei" pitchFamily="34" charset="-122"/>
                <a:cs typeface="Microsoft JhengHei" pitchFamily="34" charset="-120"/>
              </a:rPr>
              <a:t>固定負荷後曲線左移（n=17）</a:t>
            </a:r>
            <a:endParaRPr lang="en-US" sz="1800" dirty="0"/>
          </a:p>
          <a:p>
            <a:pPr algn="l" indent="0" marL="0">
              <a:buNone/>
            </a:pPr>
            <a:r>
              <a:rPr lang="en-US" sz="1800" dirty="0">
                <a:solidFill>
                  <a:srgbClr val="D8E2EC"/>
                </a:solidFill>
                <a:latin typeface="Microsoft JhengHei" pitchFamily="34" charset="0"/>
                <a:ea typeface="Microsoft JhengHei" pitchFamily="34" charset="-122"/>
                <a:cs typeface="Microsoft JhengHei" pitchFamily="34" charset="-120"/>
              </a:rPr>
              <a:t>足球高速度跑動量與 sLT 變化（n=18）</a:t>
            </a:r>
            <a:endParaRPr lang="en-US" sz="1800" dirty="0"/>
          </a:p>
        </p:txBody>
      </p:sp>
      <p:sp>
        <p:nvSpPr>
          <p:cNvPr id="62" name="Shape 60"/>
          <p:cNvSpPr/>
          <p:nvPr/>
        </p:nvSpPr>
        <p:spPr>
          <a:xfrm>
            <a:off x="658368" y="4261104"/>
            <a:ext cx="5760720" cy="932688"/>
          </a:xfrm>
          <a:prstGeom prst="roundRect">
            <a:avLst>
              <a:gd name="adj" fmla="val 7843"/>
            </a:avLst>
          </a:prstGeom>
          <a:solidFill>
            <a:srgbClr val="12263A"/>
          </a:solidFill>
          <a:ln w="12700">
            <a:solidFill>
              <a:srgbClr val="1E3A52"/>
            </a:solidFill>
            <a:prstDash val="solid"/>
          </a:ln>
        </p:spPr>
      </p:sp>
      <p:sp>
        <p:nvSpPr>
          <p:cNvPr id="63" name="Text 61"/>
          <p:cNvSpPr txBox="1"/>
          <p:nvPr/>
        </p:nvSpPr>
        <p:spPr>
          <a:xfrm>
            <a:off x="914400" y="4553712"/>
            <a:ext cx="5257800" cy="274320"/>
          </a:xfrm>
          <a:prstGeom prst="rect">
            <a:avLst/>
          </a:prstGeom>
          <a:noFill/>
          <a:ln/>
        </p:spPr>
        <p:txBody>
          <a:bodyPr wrap="square" lIns="0" tIns="0" rIns="0" bIns="0" rtlCol="0" anchor="t">
            <a:normAutofit/>
          </a:bodyPr>
          <a:lstStyle/>
          <a:p>
            <a:pPr algn="ctr" indent="0" marL="0">
              <a:buNone/>
            </a:pPr>
            <a:r>
              <a:rPr lang="en-US" sz="1350" b="1" dirty="0">
                <a:solidFill>
                  <a:srgbClr val="F5F7FA"/>
                </a:solidFill>
                <a:latin typeface="Microsoft JhengHei" pitchFamily="34" charset="0"/>
                <a:ea typeface="Microsoft JhengHei" pitchFamily="34" charset="-122"/>
                <a:cs typeface="Microsoft JhengHei" pitchFamily="34" charset="-120"/>
              </a:rPr>
              <a:t>原文摘要  ·  方法拆解  ·  統計判讀  ·  LA-01 產品建議</a:t>
            </a:r>
            <a:endParaRPr lang="en-US" sz="1350" dirty="0"/>
          </a:p>
        </p:txBody>
      </p:sp>
      <p:sp>
        <p:nvSpPr>
          <p:cNvPr id="64" name="Text 62"/>
          <p:cNvSpPr txBox="1"/>
          <p:nvPr/>
        </p:nvSpPr>
        <p:spPr>
          <a:xfrm>
            <a:off x="685800" y="5916168"/>
            <a:ext cx="3291840" cy="228600"/>
          </a:xfrm>
          <a:prstGeom prst="rect">
            <a:avLst/>
          </a:prstGeom>
          <a:noFill/>
          <a:ln/>
        </p:spPr>
        <p:txBody>
          <a:bodyPr wrap="square" lIns="0" tIns="0" rIns="0" bIns="0" rtlCol="0" anchor="t">
            <a:normAutofit/>
          </a:bodyPr>
          <a:lstStyle/>
          <a:p>
            <a:pPr algn="l" indent="0" marL="0">
              <a:buNone/>
            </a:pPr>
            <a:r>
              <a:rPr lang="en-US" sz="1000" dirty="0">
                <a:solidFill>
                  <a:srgbClr val="93A4B6"/>
                </a:solidFill>
                <a:latin typeface="Aptos" pitchFamily="34" charset="0"/>
                <a:ea typeface="Aptos" pitchFamily="34" charset="-122"/>
                <a:cs typeface="Aptos" pitchFamily="34" charset="-120"/>
              </a:rPr>
              <a:t>2026-09-10  |  繁體中文版</a:t>
            </a:r>
            <a:endParaRPr lang="en-US" sz="1000" dirty="0"/>
          </a:p>
        </p:txBody>
      </p:sp>
      <p:sp>
        <p:nvSpPr>
          <p:cNvPr id="65" name="Text 63"/>
          <p:cNvSpPr txBox="1"/>
          <p:nvPr/>
        </p:nvSpPr>
        <p:spPr>
          <a:xfrm>
            <a:off x="7635240" y="5916168"/>
            <a:ext cx="3840480" cy="228600"/>
          </a:xfrm>
          <a:prstGeom prst="rect">
            <a:avLst/>
          </a:prstGeom>
          <a:noFill/>
          <a:ln/>
        </p:spPr>
        <p:txBody>
          <a:bodyPr wrap="square" lIns="0" tIns="0" rIns="0" bIns="0" rtlCol="0" anchor="t">
            <a:normAutofit/>
          </a:bodyPr>
          <a:lstStyle/>
          <a:p>
            <a:pPr algn="r" indent="0" marL="0">
              <a:buNone/>
            </a:pPr>
            <a:r>
              <a:rPr lang="en-US" sz="950" dirty="0">
                <a:solidFill>
                  <a:srgbClr val="93A4B6"/>
                </a:solidFill>
                <a:latin typeface="Microsoft JhengHei" pitchFamily="34" charset="0"/>
                <a:ea typeface="Microsoft JhengHei" pitchFamily="34" charset="-122"/>
                <a:cs typeface="Microsoft JhengHei" pitchFamily="34" charset="-120"/>
              </a:rPr>
              <a:t>研究解讀，非醫療診斷或臨床建議</a:t>
            </a:r>
            <a:endParaRPr lang="en-US" sz="950" dirty="0"/>
          </a:p>
        </p:txBody>
      </p:sp>
      <p:sp>
        <p:nvSpPr>
          <p:cNvPr id="66" name="Text 64"/>
          <p:cNvSpPr txBox="1"/>
          <p:nvPr/>
        </p:nvSpPr>
        <p:spPr>
          <a:xfrm>
            <a:off x="11109960" y="6519672"/>
            <a:ext cx="502920" cy="164592"/>
          </a:xfrm>
          <a:prstGeom prst="rect">
            <a:avLst/>
          </a:prstGeom>
          <a:noFill/>
          <a:ln/>
        </p:spPr>
        <p:txBody>
          <a:bodyPr wrap="square" lIns="0" tIns="0" rIns="0" bIns="0" rtlCol="0" anchor="t">
            <a:normAutofit/>
          </a:bodyPr>
          <a:lstStyle/>
          <a:p>
            <a:pPr algn="r" indent="0" marL="0">
              <a:buNone/>
            </a:pPr>
            <a:r>
              <a:rPr lang="en-US" sz="850" b="1" dirty="0">
                <a:solidFill>
                  <a:srgbClr val="20D4C7"/>
                </a:solidFill>
                <a:latin typeface="Aptos" pitchFamily="34" charset="0"/>
                <a:ea typeface="Aptos" pitchFamily="34" charset="-122"/>
                <a:cs typeface="Aptos" pitchFamily="34" charset="-120"/>
              </a:rPr>
              <a:t>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0D4C7"/>
          </a:solidFill>
          <a:ln w="12700">
            <a:solidFill>
              <a:srgbClr val="20D4C7">
                <a:alpha val="0"/>
              </a:srgbClr>
            </a:solidFill>
            <a:prstDash val="solid"/>
          </a:ln>
        </p:spPr>
      </p:sp>
      <p:sp>
        <p:nvSpPr>
          <p:cNvPr id="3" name="Shape 1"/>
          <p:cNvSpPr/>
          <p:nvPr/>
        </p:nvSpPr>
        <p:spPr>
          <a:xfrm>
            <a:off x="10561320" y="-658368"/>
            <a:ext cx="2194560" cy="2194560"/>
          </a:xfrm>
          <a:prstGeom prst="ellipse">
            <a:avLst/>
          </a:prstGeom>
          <a:solidFill>
            <a:srgbClr val="20D4C7">
              <a:alpha val="8000"/>
            </a:srgbClr>
          </a:solidFill>
          <a:ln w="12700">
            <a:solidFill>
              <a:srgbClr val="20D4C7">
                <a:alpha val="0"/>
              </a:srgbClr>
            </a:solidFill>
            <a:prstDash val="solid"/>
          </a:ln>
        </p:spPr>
      </p:sp>
      <p:sp>
        <p:nvSpPr>
          <p:cNvPr id="4" name="Shape 2"/>
          <p:cNvSpPr/>
          <p:nvPr/>
        </p:nvSpPr>
        <p:spPr>
          <a:xfrm>
            <a:off x="502920" y="841248"/>
            <a:ext cx="11155680" cy="0"/>
          </a:xfrm>
          <a:prstGeom prst="line">
            <a:avLst/>
          </a:prstGeom>
          <a:noFill/>
          <a:ln w="12700">
            <a:solidFill>
              <a:srgbClr val="1E3A52"/>
            </a:solidFill>
            <a:prstDash val="solid"/>
          </a:ln>
        </p:spPr>
      </p:sp>
      <p:sp>
        <p:nvSpPr>
          <p:cNvPr id="5" name="Text 3"/>
          <p:cNvSpPr/>
          <p:nvPr/>
        </p:nvSpPr>
        <p:spPr>
          <a:xfrm>
            <a:off x="566928" y="237744"/>
            <a:ext cx="2926080" cy="219456"/>
          </a:xfrm>
          <a:prstGeom prst="rect">
            <a:avLst/>
          </a:prstGeom>
          <a:noFill/>
          <a:ln/>
        </p:spPr>
        <p:txBody>
          <a:bodyPr wrap="square" lIns="0" tIns="0" rIns="0" bIns="0" rtlCol="0" anchor="ctr">
            <a:normAutofit/>
          </a:bodyPr>
          <a:lstStyle/>
          <a:p>
            <a:pPr indent="0" marL="0">
              <a:buNone/>
            </a:pPr>
            <a:r>
              <a:rPr lang="en-US" sz="850" b="1" spc="130" kern="0" dirty="0">
                <a:solidFill>
                  <a:srgbClr val="20D4C7"/>
                </a:solidFill>
                <a:latin typeface="Aptos" pitchFamily="34" charset="0"/>
                <a:ea typeface="Aptos" pitchFamily="34" charset="-122"/>
                <a:cs typeface="Aptos" pitchFamily="34" charset="-120"/>
              </a:rPr>
              <a:t>EXECUTIVE READOUT</a:t>
            </a:r>
            <a:endParaRPr lang="en-US" sz="850" dirty="0"/>
          </a:p>
        </p:txBody>
      </p:sp>
      <p:sp>
        <p:nvSpPr>
          <p:cNvPr id="6" name="Text 4"/>
          <p:cNvSpPr/>
          <p:nvPr/>
        </p:nvSpPr>
        <p:spPr>
          <a:xfrm>
            <a:off x="566928" y="420624"/>
            <a:ext cx="10881360" cy="365760"/>
          </a:xfrm>
          <a:prstGeom prst="rect">
            <a:avLst/>
          </a:prstGeom>
          <a:noFill/>
          <a:ln/>
        </p:spPr>
        <p:txBody>
          <a:bodyPr wrap="square" lIns="0" tIns="0" rIns="0" bIns="0" rtlCol="0" anchor="ctr">
            <a:normAutofit/>
          </a:bodyPr>
          <a:lstStyle/>
          <a:p>
            <a:pPr indent="0" marL="0">
              <a:buNone/>
            </a:pPr>
            <a:r>
              <a:rPr lang="en-US" sz="2300" b="1" dirty="0">
                <a:solidFill>
                  <a:srgbClr val="F5F7FA"/>
                </a:solidFill>
                <a:latin typeface="Microsoft JhengHei" pitchFamily="34" charset="0"/>
                <a:ea typeface="Microsoft JhengHei" pitchFamily="34" charset="-122"/>
                <a:cs typeface="Microsoft JhengHei" pitchFamily="34" charset="-120"/>
              </a:rPr>
              <a:t>一句話結論：訊號方向一致，但還不是「單一濃度＝疲勞度」</a:t>
            </a:r>
            <a:endParaRPr lang="en-US" sz="2300" dirty="0"/>
          </a:p>
        </p:txBody>
      </p:sp>
      <p:sp>
        <p:nvSpPr>
          <p:cNvPr id="7" name="Text 5"/>
          <p:cNvSpPr/>
          <p:nvPr/>
        </p:nvSpPr>
        <p:spPr>
          <a:xfrm>
            <a:off x="11109960" y="6519672"/>
            <a:ext cx="502920" cy="164592"/>
          </a:xfrm>
          <a:prstGeom prst="rect">
            <a:avLst/>
          </a:prstGeom>
          <a:noFill/>
          <a:ln/>
        </p:spPr>
        <p:txBody>
          <a:bodyPr wrap="square" lIns="0" tIns="0" rIns="0" bIns="0" rtlCol="0" anchor="ctr"/>
          <a:lstStyle/>
          <a:p>
            <a:pPr algn="r" indent="0" marL="0">
              <a:buNone/>
            </a:pPr>
            <a:r>
              <a:rPr lang="en-US" sz="850" b="1" dirty="0">
                <a:solidFill>
                  <a:srgbClr val="20D4C7"/>
                </a:solidFill>
                <a:latin typeface="Aptos" pitchFamily="34" charset="0"/>
                <a:ea typeface="Aptos" pitchFamily="34" charset="-122"/>
                <a:cs typeface="Aptos" pitchFamily="34" charset="-120"/>
              </a:rPr>
              <a:t>02</a:t>
            </a:r>
            <a:endParaRPr lang="en-US" sz="850" dirty="0"/>
          </a:p>
        </p:txBody>
      </p:sp>
      <p:sp>
        <p:nvSpPr>
          <p:cNvPr id="8" name="Shape 6"/>
          <p:cNvSpPr/>
          <p:nvPr/>
        </p:nvSpPr>
        <p:spPr>
          <a:xfrm>
            <a:off x="566928" y="1225296"/>
            <a:ext cx="3273552" cy="4160520"/>
          </a:xfrm>
          <a:prstGeom prst="roundRect">
            <a:avLst>
              <a:gd name="adj" fmla="val 2235"/>
            </a:avLst>
          </a:prstGeom>
          <a:solidFill>
            <a:srgbClr val="0E1D2E"/>
          </a:solidFill>
          <a:ln w="16510">
            <a:solidFill>
              <a:srgbClr val="20D4C7"/>
            </a:solidFill>
            <a:prstDash val="solid"/>
          </a:ln>
        </p:spPr>
      </p:sp>
      <p:sp>
        <p:nvSpPr>
          <p:cNvPr id="9" name="Shape 7"/>
          <p:cNvSpPr/>
          <p:nvPr/>
        </p:nvSpPr>
        <p:spPr>
          <a:xfrm>
            <a:off x="566928" y="1225296"/>
            <a:ext cx="3273552" cy="91440"/>
          </a:xfrm>
          <a:prstGeom prst="rect">
            <a:avLst/>
          </a:prstGeom>
          <a:solidFill>
            <a:srgbClr val="20D4C7"/>
          </a:solidFill>
          <a:ln w="12700">
            <a:solidFill>
              <a:srgbClr val="20D4C7">
                <a:alpha val="0"/>
              </a:srgbClr>
            </a:solidFill>
            <a:prstDash val="solid"/>
          </a:ln>
        </p:spPr>
      </p:sp>
      <p:sp>
        <p:nvSpPr>
          <p:cNvPr id="10" name="Text 8"/>
          <p:cNvSpPr txBox="1"/>
          <p:nvPr/>
        </p:nvSpPr>
        <p:spPr>
          <a:xfrm>
            <a:off x="795528" y="1572768"/>
            <a:ext cx="2816352" cy="347472"/>
          </a:xfrm>
          <a:prstGeom prst="rect">
            <a:avLst/>
          </a:prstGeom>
          <a:noFill/>
          <a:ln/>
        </p:spPr>
        <p:txBody>
          <a:bodyPr wrap="square" lIns="0" tIns="0" rIns="0" bIns="0" rtlCol="0" anchor="t">
            <a:normAutofit/>
          </a:bodyPr>
          <a:lstStyle/>
          <a:p>
            <a:pPr algn="l" indent="0" marL="0">
              <a:buNone/>
            </a:pPr>
            <a:r>
              <a:rPr lang="en-US" sz="1500" b="1" dirty="0">
                <a:solidFill>
                  <a:srgbClr val="20D4C7"/>
                </a:solidFill>
                <a:latin typeface="Microsoft JhengHei" pitchFamily="34" charset="0"/>
                <a:ea typeface="Microsoft JhengHei" pitchFamily="34" charset="-122"/>
                <a:cs typeface="Microsoft JhengHei" pitchFamily="34" charset="-120"/>
              </a:rPr>
              <a:t>研究觀察到什麼</a:t>
            </a:r>
            <a:endParaRPr lang="en-US" sz="1500" dirty="0"/>
          </a:p>
        </p:txBody>
      </p:sp>
      <p:sp>
        <p:nvSpPr>
          <p:cNvPr id="11" name="Text 9"/>
          <p:cNvSpPr txBox="1"/>
          <p:nvPr/>
        </p:nvSpPr>
        <p:spPr>
          <a:xfrm>
            <a:off x="795528" y="2148840"/>
            <a:ext cx="2816352" cy="2715768"/>
          </a:xfrm>
          <a:prstGeom prst="rect">
            <a:avLst/>
          </a:prstGeom>
          <a:noFill/>
          <a:ln/>
        </p:spPr>
        <p:txBody>
          <a:bodyPr wrap="square" lIns="0" tIns="0" rIns="0" bIns="0" rtlCol="0" anchor="t">
            <a:normAutofit/>
          </a:bodyPr>
          <a:lstStyle/>
          <a:p>
            <a:pPr algn="l" indent="0" marL="0">
              <a:buNone/>
            </a:pPr>
            <a:r>
              <a:rPr lang="en-US" sz="1200" dirty="0">
                <a:solidFill>
                  <a:srgbClr val="D8E2EC"/>
                </a:solidFill>
                <a:latin typeface="Microsoft JhengHei" pitchFamily="34" charset="0"/>
                <a:ea typeface="Microsoft JhengHei" pitchFamily="34" charset="-122"/>
                <a:cs typeface="Microsoft JhengHei" pitchFamily="34" charset="-120"/>
              </a:rPr>
              <a:t>• 力竭後，用相同固定負荷再測，汗乳酸反應更早出現（曲線左移）。</a:t>
            </a:r>
            <a:endParaRPr lang="en-US" sz="1200" dirty="0"/>
          </a:p>
          <a:p>
            <a:pPr algn="l" indent="0" marL="0">
              <a:buNone/>
            </a:pPr>
            <a:endParaRPr lang="en-US" sz="1200" dirty="0"/>
          </a:p>
          <a:p>
            <a:pPr algn="l" indent="0" marL="0">
              <a:buNone/>
            </a:pPr>
            <a:r>
              <a:rPr lang="en-US" sz="1200" dirty="0">
                <a:solidFill>
                  <a:srgbClr val="D8E2EC"/>
                </a:solidFill>
                <a:latin typeface="Microsoft JhengHei" pitchFamily="34" charset="0"/>
                <a:ea typeface="Microsoft JhengHei" pitchFamily="34" charset="-122"/>
                <a:cs typeface="Microsoft JhengHei" pitchFamily="34" charset="-120"/>
              </a:rPr>
              <a:t>• 足球比賽高速度跑動越多，48 小時後的 sLT／VT 越早、或在較低功率出現。</a:t>
            </a:r>
            <a:endParaRPr lang="en-US" sz="1200" dirty="0"/>
          </a:p>
        </p:txBody>
      </p:sp>
      <p:sp>
        <p:nvSpPr>
          <p:cNvPr id="12" name="Shape 10"/>
          <p:cNvSpPr/>
          <p:nvPr/>
        </p:nvSpPr>
        <p:spPr>
          <a:xfrm>
            <a:off x="4151376" y="1225296"/>
            <a:ext cx="3273552" cy="4160520"/>
          </a:xfrm>
          <a:prstGeom prst="roundRect">
            <a:avLst>
              <a:gd name="adj" fmla="val 2235"/>
            </a:avLst>
          </a:prstGeom>
          <a:solidFill>
            <a:srgbClr val="0E1D2E"/>
          </a:solidFill>
          <a:ln w="16510">
            <a:solidFill>
              <a:srgbClr val="B7F06A"/>
            </a:solidFill>
            <a:prstDash val="solid"/>
          </a:ln>
        </p:spPr>
      </p:sp>
      <p:sp>
        <p:nvSpPr>
          <p:cNvPr id="13" name="Shape 11"/>
          <p:cNvSpPr/>
          <p:nvPr/>
        </p:nvSpPr>
        <p:spPr>
          <a:xfrm>
            <a:off x="4151376" y="1225296"/>
            <a:ext cx="3273552" cy="91440"/>
          </a:xfrm>
          <a:prstGeom prst="rect">
            <a:avLst/>
          </a:prstGeom>
          <a:solidFill>
            <a:srgbClr val="B7F06A"/>
          </a:solidFill>
          <a:ln w="12700">
            <a:solidFill>
              <a:srgbClr val="B7F06A">
                <a:alpha val="0"/>
              </a:srgbClr>
            </a:solidFill>
            <a:prstDash val="solid"/>
          </a:ln>
        </p:spPr>
      </p:sp>
      <p:sp>
        <p:nvSpPr>
          <p:cNvPr id="14" name="Text 12"/>
          <p:cNvSpPr txBox="1"/>
          <p:nvPr/>
        </p:nvSpPr>
        <p:spPr>
          <a:xfrm>
            <a:off x="4379976" y="1572768"/>
            <a:ext cx="2816352" cy="347472"/>
          </a:xfrm>
          <a:prstGeom prst="rect">
            <a:avLst/>
          </a:prstGeom>
          <a:noFill/>
          <a:ln/>
        </p:spPr>
        <p:txBody>
          <a:bodyPr wrap="square" lIns="0" tIns="0" rIns="0" bIns="0" rtlCol="0" anchor="t">
            <a:normAutofit/>
          </a:bodyPr>
          <a:lstStyle/>
          <a:p>
            <a:pPr algn="l" indent="0" marL="0">
              <a:buNone/>
            </a:pPr>
            <a:r>
              <a:rPr lang="en-US" sz="1500" b="1" dirty="0">
                <a:solidFill>
                  <a:srgbClr val="B7F06A"/>
                </a:solidFill>
                <a:latin typeface="Microsoft JhengHei" pitchFamily="34" charset="0"/>
                <a:ea typeface="Microsoft JhengHei" pitchFamily="34" charset="-122"/>
                <a:cs typeface="Microsoft JhengHei" pitchFamily="34" charset="-120"/>
              </a:rPr>
              <a:t>較合理的解讀</a:t>
            </a:r>
            <a:endParaRPr lang="en-US" sz="1500" dirty="0"/>
          </a:p>
        </p:txBody>
      </p:sp>
      <p:sp>
        <p:nvSpPr>
          <p:cNvPr id="15" name="Text 13"/>
          <p:cNvSpPr txBox="1"/>
          <p:nvPr/>
        </p:nvSpPr>
        <p:spPr>
          <a:xfrm>
            <a:off x="4379976" y="2148840"/>
            <a:ext cx="2816352" cy="2715768"/>
          </a:xfrm>
          <a:prstGeom prst="rect">
            <a:avLst/>
          </a:prstGeom>
          <a:noFill/>
          <a:ln/>
        </p:spPr>
        <p:txBody>
          <a:bodyPr wrap="square" lIns="0" tIns="0" rIns="0" bIns="0" rtlCol="0" anchor="t">
            <a:normAutofit/>
          </a:bodyPr>
          <a:lstStyle/>
          <a:p>
            <a:pPr algn="l" indent="0" marL="0">
              <a:buNone/>
            </a:pPr>
            <a:r>
              <a:rPr lang="en-US" sz="1200" dirty="0">
                <a:solidFill>
                  <a:srgbClr val="D8E2EC"/>
                </a:solidFill>
                <a:latin typeface="Microsoft JhengHei" pitchFamily="34" charset="0"/>
                <a:ea typeface="Microsoft JhengHei" pitchFamily="34" charset="-122"/>
                <a:cs typeface="Microsoft JhengHei" pitchFamily="34" charset="-120"/>
              </a:rPr>
              <a:t>• 「反應時間、曲線轉折、閾值功率」比單一絕對濃度更有訊息。</a:t>
            </a:r>
            <a:endParaRPr lang="en-US" sz="1200" dirty="0"/>
          </a:p>
          <a:p>
            <a:pPr algn="l" indent="0" marL="0">
              <a:buNone/>
            </a:pPr>
            <a:endParaRPr lang="en-US" sz="1200" dirty="0"/>
          </a:p>
          <a:p>
            <a:pPr algn="l" indent="0" marL="0">
              <a:buNone/>
            </a:pPr>
            <a:r>
              <a:rPr lang="en-US" sz="1200" dirty="0">
                <a:solidFill>
                  <a:srgbClr val="D8E2EC"/>
                </a:solidFill>
                <a:latin typeface="Microsoft JhengHei" pitchFamily="34" charset="0"/>
                <a:ea typeface="Microsoft JhengHei" pitchFamily="34" charset="-122"/>
                <a:cs typeface="Microsoft JhengHei" pitchFamily="34" charset="-120"/>
              </a:rPr>
              <a:t>• 必須以同一人的標準化測試與個人基準做比較。</a:t>
            </a:r>
            <a:endParaRPr lang="en-US" sz="1200" dirty="0"/>
          </a:p>
        </p:txBody>
      </p:sp>
      <p:sp>
        <p:nvSpPr>
          <p:cNvPr id="16" name="Shape 14"/>
          <p:cNvSpPr/>
          <p:nvPr/>
        </p:nvSpPr>
        <p:spPr>
          <a:xfrm>
            <a:off x="7735824" y="1225296"/>
            <a:ext cx="3273552" cy="4160520"/>
          </a:xfrm>
          <a:prstGeom prst="roundRect">
            <a:avLst>
              <a:gd name="adj" fmla="val 2235"/>
            </a:avLst>
          </a:prstGeom>
          <a:solidFill>
            <a:srgbClr val="0E1D2E"/>
          </a:solidFill>
          <a:ln w="16510">
            <a:solidFill>
              <a:srgbClr val="FF9B5E"/>
            </a:solidFill>
            <a:prstDash val="solid"/>
          </a:ln>
        </p:spPr>
      </p:sp>
      <p:sp>
        <p:nvSpPr>
          <p:cNvPr id="17" name="Shape 15"/>
          <p:cNvSpPr/>
          <p:nvPr/>
        </p:nvSpPr>
        <p:spPr>
          <a:xfrm>
            <a:off x="7735824" y="1225296"/>
            <a:ext cx="3273552" cy="91440"/>
          </a:xfrm>
          <a:prstGeom prst="rect">
            <a:avLst/>
          </a:prstGeom>
          <a:solidFill>
            <a:srgbClr val="FF9B5E"/>
          </a:solidFill>
          <a:ln w="12700">
            <a:solidFill>
              <a:srgbClr val="FF9B5E">
                <a:alpha val="0"/>
              </a:srgbClr>
            </a:solidFill>
            <a:prstDash val="solid"/>
          </a:ln>
        </p:spPr>
      </p:sp>
      <p:sp>
        <p:nvSpPr>
          <p:cNvPr id="18" name="Text 16"/>
          <p:cNvSpPr txBox="1"/>
          <p:nvPr/>
        </p:nvSpPr>
        <p:spPr>
          <a:xfrm>
            <a:off x="7964424" y="1572768"/>
            <a:ext cx="2816352" cy="347472"/>
          </a:xfrm>
          <a:prstGeom prst="rect">
            <a:avLst/>
          </a:prstGeom>
          <a:noFill/>
          <a:ln/>
        </p:spPr>
        <p:txBody>
          <a:bodyPr wrap="square" lIns="0" tIns="0" rIns="0" bIns="0" rtlCol="0" anchor="t">
            <a:normAutofit/>
          </a:bodyPr>
          <a:lstStyle/>
          <a:p>
            <a:pPr algn="l" indent="0" marL="0">
              <a:buNone/>
            </a:pPr>
            <a:r>
              <a:rPr lang="en-US" sz="1500" b="1" dirty="0">
                <a:solidFill>
                  <a:srgbClr val="FF9B5E"/>
                </a:solidFill>
                <a:latin typeface="Microsoft JhengHei" pitchFamily="34" charset="0"/>
                <a:ea typeface="Microsoft JhengHei" pitchFamily="34" charset="-122"/>
                <a:cs typeface="Microsoft JhengHei" pitchFamily="34" charset="-120"/>
              </a:rPr>
              <a:t>研究沒有證明什麼</a:t>
            </a:r>
            <a:endParaRPr lang="en-US" sz="1500" dirty="0"/>
          </a:p>
        </p:txBody>
      </p:sp>
      <p:sp>
        <p:nvSpPr>
          <p:cNvPr id="19" name="Text 17"/>
          <p:cNvSpPr txBox="1"/>
          <p:nvPr/>
        </p:nvSpPr>
        <p:spPr>
          <a:xfrm>
            <a:off x="7964424" y="2148840"/>
            <a:ext cx="2816352" cy="2715768"/>
          </a:xfrm>
          <a:prstGeom prst="rect">
            <a:avLst/>
          </a:prstGeom>
          <a:noFill/>
          <a:ln/>
        </p:spPr>
        <p:txBody>
          <a:bodyPr wrap="square" lIns="0" tIns="0" rIns="0" bIns="0" rtlCol="0" anchor="t">
            <a:normAutofit/>
          </a:bodyPr>
          <a:lstStyle/>
          <a:p>
            <a:pPr algn="l" indent="0" marL="0">
              <a:buNone/>
            </a:pPr>
            <a:r>
              <a:rPr lang="en-US" sz="1200" dirty="0">
                <a:solidFill>
                  <a:srgbClr val="D8E2EC"/>
                </a:solidFill>
                <a:latin typeface="Microsoft JhengHei" pitchFamily="34" charset="0"/>
                <a:ea typeface="Microsoft JhengHei" pitchFamily="34" charset="-122"/>
                <a:cs typeface="Microsoft JhengHei" pitchFamily="34" charset="-120"/>
              </a:rPr>
              <a:t>• 沒有通用 mmol/L 疲勞切點。</a:t>
            </a:r>
            <a:endParaRPr lang="en-US" sz="1200" dirty="0"/>
          </a:p>
          <a:p>
            <a:pPr algn="l" indent="0" marL="0">
              <a:buNone/>
            </a:pPr>
            <a:endParaRPr lang="en-US" sz="1200" dirty="0"/>
          </a:p>
          <a:p>
            <a:pPr algn="l" indent="0" marL="0">
              <a:buNone/>
            </a:pPr>
            <a:r>
              <a:rPr lang="en-US" sz="1200" dirty="0">
                <a:solidFill>
                  <a:srgbClr val="D8E2EC"/>
                </a:solidFill>
                <a:latin typeface="Microsoft JhengHei" pitchFamily="34" charset="0"/>
                <a:ea typeface="Microsoft JhengHei" pitchFamily="34" charset="-122"/>
                <a:cs typeface="Microsoft JhengHei" pitchFamily="34" charset="-120"/>
              </a:rPr>
              <a:t>• 不能換算血乳酸、全身疲勞、心理疲勞或神經肌肉疲勞。</a:t>
            </a:r>
            <a:endParaRPr lang="en-US" sz="1200" dirty="0"/>
          </a:p>
          <a:p>
            <a:pPr algn="l" indent="0" marL="0">
              <a:buNone/>
            </a:pPr>
            <a:endParaRPr lang="en-US" sz="1200" dirty="0"/>
          </a:p>
          <a:p>
            <a:pPr algn="l" indent="0" marL="0">
              <a:buNone/>
            </a:pPr>
            <a:r>
              <a:rPr lang="en-US" sz="1200" dirty="0">
                <a:solidFill>
                  <a:srgbClr val="D8E2EC"/>
                </a:solidFill>
                <a:latin typeface="Microsoft JhengHei" pitchFamily="34" charset="0"/>
                <a:ea typeface="Microsoft JhengHei" pitchFamily="34" charset="-122"/>
                <a:cs typeface="Microsoft JhengHei" pitchFamily="34" charset="-120"/>
              </a:rPr>
              <a:t>• 相關性不等於因果或已證實能預防受傷。</a:t>
            </a:r>
            <a:endParaRPr lang="en-US" sz="1200" dirty="0"/>
          </a:p>
        </p:txBody>
      </p:sp>
      <p:sp>
        <p:nvSpPr>
          <p:cNvPr id="20" name="Shape 18"/>
          <p:cNvSpPr/>
          <p:nvPr/>
        </p:nvSpPr>
        <p:spPr>
          <a:xfrm>
            <a:off x="1307592" y="5632704"/>
            <a:ext cx="9573768" cy="576072"/>
          </a:xfrm>
          <a:prstGeom prst="roundRect">
            <a:avLst>
              <a:gd name="adj" fmla="val 12698"/>
            </a:avLst>
          </a:prstGeom>
          <a:solidFill>
            <a:srgbClr val="12263A"/>
          </a:solidFill>
          <a:ln w="12700">
            <a:solidFill>
              <a:srgbClr val="20D4C7"/>
            </a:solidFill>
            <a:prstDash val="solid"/>
          </a:ln>
        </p:spPr>
      </p:sp>
      <p:sp>
        <p:nvSpPr>
          <p:cNvPr id="21" name="Text 19"/>
          <p:cNvSpPr/>
          <p:nvPr/>
        </p:nvSpPr>
        <p:spPr>
          <a:xfrm>
            <a:off x="1572768" y="5824728"/>
            <a:ext cx="9052560" cy="237744"/>
          </a:xfrm>
          <a:prstGeom prst="rect">
            <a:avLst/>
          </a:prstGeom>
          <a:noFill/>
          <a:ln/>
        </p:spPr>
        <p:txBody>
          <a:bodyPr wrap="square" lIns="0" tIns="0" rIns="0" bIns="0" rtlCol="0" anchor="t">
            <a:normAutofit/>
          </a:bodyPr>
          <a:lstStyle/>
          <a:p>
            <a:pPr algn="ctr" indent="0" marL="0">
              <a:buNone/>
            </a:pPr>
            <a:r>
              <a:rPr lang="en-US" sz="1250" b="1" dirty="0">
                <a:solidFill>
                  <a:srgbClr val="78EAE0"/>
                </a:solidFill>
                <a:latin typeface="Microsoft JhengHei" pitchFamily="34" charset="0"/>
                <a:ea typeface="Microsoft JhengHei" pitchFamily="34" charset="-122"/>
                <a:cs typeface="Microsoft JhengHei" pitchFamily="34" charset="-120"/>
              </a:rPr>
              <a:t>可支持的產品用語：</a:t>
            </a:r>
            <a:pPr algn="ctr" indent="0" marL="0">
              <a:buNone/>
            </a:pPr>
            <a:r>
              <a:rPr lang="en-US" sz="1250" b="1" dirty="0">
                <a:solidFill>
                  <a:srgbClr val="F5F7FA"/>
                </a:solidFill>
                <a:latin typeface="Microsoft JhengHei" pitchFamily="34" charset="0"/>
                <a:ea typeface="Microsoft JhengHei" pitchFamily="34" charset="-122"/>
                <a:cs typeface="Microsoft JhengHei" pitchFamily="34" charset="-120"/>
              </a:rPr>
              <a:t>「汗乳酸反應所推估的急性代謝疲勞趨勢（實驗性）」</a:t>
            </a:r>
            <a:pPr algn="ctr" indent="0" marL="0">
              <a:buNone/>
            </a:pPr>
            <a:r>
              <a:rPr lang="en-US" sz="1250" dirty="0">
                <a:solidFill>
                  <a:srgbClr val="FFC09B"/>
                </a:solidFill>
                <a:latin typeface="Microsoft JhengHei" pitchFamily="34" charset="0"/>
                <a:ea typeface="Microsoft JhengHei" pitchFamily="34" charset="-122"/>
                <a:cs typeface="Microsoft JhengHei" pitchFamily="34" charset="-120"/>
              </a:rPr>
              <a:t>　｜　不可稱為完整疲勞診斷</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0D4C7"/>
          </a:solidFill>
          <a:ln w="12700">
            <a:solidFill>
              <a:srgbClr val="20D4C7">
                <a:alpha val="0"/>
              </a:srgbClr>
            </a:solidFill>
            <a:prstDash val="solid"/>
          </a:ln>
        </p:spPr>
      </p:sp>
      <p:sp>
        <p:nvSpPr>
          <p:cNvPr id="3" name="Shape 1"/>
          <p:cNvSpPr/>
          <p:nvPr/>
        </p:nvSpPr>
        <p:spPr>
          <a:xfrm>
            <a:off x="10561320" y="-658368"/>
            <a:ext cx="2194560" cy="2194560"/>
          </a:xfrm>
          <a:prstGeom prst="ellipse">
            <a:avLst/>
          </a:prstGeom>
          <a:solidFill>
            <a:srgbClr val="20D4C7">
              <a:alpha val="8000"/>
            </a:srgbClr>
          </a:solidFill>
          <a:ln w="12700">
            <a:solidFill>
              <a:srgbClr val="20D4C7">
                <a:alpha val="0"/>
              </a:srgbClr>
            </a:solidFill>
            <a:prstDash val="solid"/>
          </a:ln>
        </p:spPr>
      </p:sp>
      <p:sp>
        <p:nvSpPr>
          <p:cNvPr id="4" name="Shape 2"/>
          <p:cNvSpPr/>
          <p:nvPr/>
        </p:nvSpPr>
        <p:spPr>
          <a:xfrm>
            <a:off x="502920" y="841248"/>
            <a:ext cx="11155680" cy="0"/>
          </a:xfrm>
          <a:prstGeom prst="line">
            <a:avLst/>
          </a:prstGeom>
          <a:noFill/>
          <a:ln w="12700">
            <a:solidFill>
              <a:srgbClr val="1E3A52"/>
            </a:solidFill>
            <a:prstDash val="solid"/>
          </a:ln>
        </p:spPr>
      </p:sp>
      <p:sp>
        <p:nvSpPr>
          <p:cNvPr id="5" name="Text 3"/>
          <p:cNvSpPr/>
          <p:nvPr/>
        </p:nvSpPr>
        <p:spPr>
          <a:xfrm>
            <a:off x="566928" y="237744"/>
            <a:ext cx="2926080" cy="219456"/>
          </a:xfrm>
          <a:prstGeom prst="rect">
            <a:avLst/>
          </a:prstGeom>
          <a:noFill/>
          <a:ln/>
        </p:spPr>
        <p:txBody>
          <a:bodyPr wrap="square" lIns="0" tIns="0" rIns="0" bIns="0" rtlCol="0" anchor="ctr">
            <a:normAutofit/>
          </a:bodyPr>
          <a:lstStyle/>
          <a:p>
            <a:pPr indent="0" marL="0">
              <a:buNone/>
            </a:pPr>
            <a:r>
              <a:rPr lang="en-US" sz="850" b="1" spc="130" kern="0" dirty="0">
                <a:solidFill>
                  <a:srgbClr val="20D4C7"/>
                </a:solidFill>
                <a:latin typeface="Aptos" pitchFamily="34" charset="0"/>
                <a:ea typeface="Aptos" pitchFamily="34" charset="-122"/>
                <a:cs typeface="Aptos" pitchFamily="34" charset="-120"/>
              </a:rPr>
              <a:t>READING GUIDE</a:t>
            </a:r>
            <a:endParaRPr lang="en-US" sz="850" dirty="0"/>
          </a:p>
        </p:txBody>
      </p:sp>
      <p:sp>
        <p:nvSpPr>
          <p:cNvPr id="6" name="Text 4"/>
          <p:cNvSpPr/>
          <p:nvPr/>
        </p:nvSpPr>
        <p:spPr>
          <a:xfrm>
            <a:off x="566928" y="420624"/>
            <a:ext cx="10881360" cy="365760"/>
          </a:xfrm>
          <a:prstGeom prst="rect">
            <a:avLst/>
          </a:prstGeom>
          <a:noFill/>
          <a:ln/>
        </p:spPr>
        <p:txBody>
          <a:bodyPr wrap="square" lIns="0" tIns="0" rIns="0" bIns="0" rtlCol="0" anchor="ctr">
            <a:normAutofit/>
          </a:bodyPr>
          <a:lstStyle/>
          <a:p>
            <a:pPr indent="0" marL="0">
              <a:buNone/>
            </a:pPr>
            <a:r>
              <a:rPr lang="en-US" sz="2300" b="1" dirty="0">
                <a:solidFill>
                  <a:srgbClr val="F5F7FA"/>
                </a:solidFill>
                <a:latin typeface="Microsoft JhengHei" pitchFamily="34" charset="0"/>
                <a:ea typeface="Microsoft JhengHei" pitchFamily="34" charset="-122"/>
                <a:cs typeface="Microsoft JhengHei" pitchFamily="34" charset="-120"/>
              </a:rPr>
              <a:t>先把 4 個名詞分清楚</a:t>
            </a:r>
            <a:endParaRPr lang="en-US" sz="2300" dirty="0"/>
          </a:p>
        </p:txBody>
      </p:sp>
      <p:sp>
        <p:nvSpPr>
          <p:cNvPr id="7" name="Text 5"/>
          <p:cNvSpPr/>
          <p:nvPr/>
        </p:nvSpPr>
        <p:spPr>
          <a:xfrm>
            <a:off x="11109960" y="6519672"/>
            <a:ext cx="502920" cy="164592"/>
          </a:xfrm>
          <a:prstGeom prst="rect">
            <a:avLst/>
          </a:prstGeom>
          <a:noFill/>
          <a:ln/>
        </p:spPr>
        <p:txBody>
          <a:bodyPr wrap="square" lIns="0" tIns="0" rIns="0" bIns="0" rtlCol="0" anchor="ctr"/>
          <a:lstStyle/>
          <a:p>
            <a:pPr algn="r" indent="0" marL="0">
              <a:buNone/>
            </a:pPr>
            <a:r>
              <a:rPr lang="en-US" sz="850" b="1" dirty="0">
                <a:solidFill>
                  <a:srgbClr val="20D4C7"/>
                </a:solidFill>
                <a:latin typeface="Aptos" pitchFamily="34" charset="0"/>
                <a:ea typeface="Aptos" pitchFamily="34" charset="-122"/>
                <a:cs typeface="Aptos" pitchFamily="34" charset="-120"/>
              </a:rPr>
              <a:t>03</a:t>
            </a:r>
            <a:endParaRPr lang="en-US" sz="850" dirty="0"/>
          </a:p>
        </p:txBody>
      </p:sp>
      <p:sp>
        <p:nvSpPr>
          <p:cNvPr id="8" name="Shape 6"/>
          <p:cNvSpPr/>
          <p:nvPr/>
        </p:nvSpPr>
        <p:spPr>
          <a:xfrm>
            <a:off x="621792" y="1325880"/>
            <a:ext cx="5349240" cy="1947672"/>
          </a:xfrm>
          <a:prstGeom prst="roundRect">
            <a:avLst>
              <a:gd name="adj" fmla="val 3756"/>
            </a:avLst>
          </a:prstGeom>
          <a:solidFill>
            <a:srgbClr val="0E1D2E"/>
          </a:solidFill>
          <a:ln w="13970">
            <a:solidFill>
              <a:srgbClr val="20D4C7"/>
            </a:solidFill>
            <a:prstDash val="solid"/>
          </a:ln>
        </p:spPr>
      </p:sp>
      <p:sp>
        <p:nvSpPr>
          <p:cNvPr id="9" name="Shape 7"/>
          <p:cNvSpPr/>
          <p:nvPr/>
        </p:nvSpPr>
        <p:spPr>
          <a:xfrm>
            <a:off x="868680" y="1581912"/>
            <a:ext cx="420624" cy="420624"/>
          </a:xfrm>
          <a:prstGeom prst="ellipse">
            <a:avLst/>
          </a:prstGeom>
          <a:solidFill>
            <a:srgbClr val="20D4C7"/>
          </a:solidFill>
          <a:ln w="12700">
            <a:solidFill>
              <a:srgbClr val="20D4C7">
                <a:alpha val="0"/>
              </a:srgbClr>
            </a:solidFill>
            <a:prstDash val="solid"/>
          </a:ln>
        </p:spPr>
      </p:sp>
      <p:sp>
        <p:nvSpPr>
          <p:cNvPr id="10" name="Text 8"/>
          <p:cNvSpPr txBox="1"/>
          <p:nvPr/>
        </p:nvSpPr>
        <p:spPr>
          <a:xfrm>
            <a:off x="868680" y="1682496"/>
            <a:ext cx="420624" cy="164592"/>
          </a:xfrm>
          <a:prstGeom prst="rect">
            <a:avLst/>
          </a:prstGeom>
          <a:noFill/>
          <a:ln/>
        </p:spPr>
        <p:txBody>
          <a:bodyPr wrap="square" lIns="0" tIns="0" rIns="0" bIns="0" rtlCol="0" anchor="t">
            <a:normAutofit/>
          </a:bodyPr>
          <a:lstStyle/>
          <a:p>
            <a:pPr algn="ctr" indent="0" marL="0">
              <a:buNone/>
            </a:pPr>
            <a:r>
              <a:rPr lang="en-US" sz="1000" b="1" dirty="0">
                <a:solidFill>
                  <a:srgbClr val="07111F"/>
                </a:solidFill>
                <a:latin typeface="Aptos" pitchFamily="34" charset="0"/>
                <a:ea typeface="Aptos" pitchFamily="34" charset="-122"/>
                <a:cs typeface="Aptos" pitchFamily="34" charset="-120"/>
              </a:rPr>
              <a:t>1</a:t>
            </a:r>
            <a:endParaRPr lang="en-US" sz="1000" dirty="0"/>
          </a:p>
        </p:txBody>
      </p:sp>
      <p:sp>
        <p:nvSpPr>
          <p:cNvPr id="11" name="Text 9"/>
          <p:cNvSpPr txBox="1"/>
          <p:nvPr/>
        </p:nvSpPr>
        <p:spPr>
          <a:xfrm>
            <a:off x="1472184" y="1563624"/>
            <a:ext cx="4160520" cy="347472"/>
          </a:xfrm>
          <a:prstGeom prst="rect">
            <a:avLst/>
          </a:prstGeom>
          <a:noFill/>
          <a:ln/>
        </p:spPr>
        <p:txBody>
          <a:bodyPr wrap="square" lIns="0" tIns="0" rIns="0" bIns="0" rtlCol="0" anchor="t">
            <a:normAutofit/>
          </a:bodyPr>
          <a:lstStyle/>
          <a:p>
            <a:pPr algn="l" indent="0" marL="0">
              <a:buNone/>
            </a:pPr>
            <a:r>
              <a:rPr lang="en-US" sz="1500" b="1" dirty="0">
                <a:solidFill>
                  <a:srgbClr val="20D4C7"/>
                </a:solidFill>
                <a:latin typeface="Microsoft JhengHei" pitchFamily="34" charset="0"/>
                <a:ea typeface="Microsoft JhengHei" pitchFamily="34" charset="-122"/>
                <a:cs typeface="Microsoft JhengHei" pitchFamily="34" charset="-120"/>
              </a:rPr>
              <a:t>sLA｜汗乳酸</a:t>
            </a:r>
            <a:endParaRPr lang="en-US" sz="1500" dirty="0"/>
          </a:p>
        </p:txBody>
      </p:sp>
      <p:sp>
        <p:nvSpPr>
          <p:cNvPr id="12" name="Text 10"/>
          <p:cNvSpPr txBox="1"/>
          <p:nvPr/>
        </p:nvSpPr>
        <p:spPr>
          <a:xfrm>
            <a:off x="1472184" y="2075688"/>
            <a:ext cx="4069080" cy="804672"/>
          </a:xfrm>
          <a:prstGeom prst="rect">
            <a:avLst/>
          </a:prstGeom>
          <a:noFill/>
          <a:ln/>
        </p:spPr>
        <p:txBody>
          <a:bodyPr wrap="square" lIns="0" tIns="0" rIns="0" bIns="0" rtlCol="0" anchor="t">
            <a:normAutofit/>
          </a:bodyPr>
          <a:lstStyle/>
          <a:p>
            <a:pPr algn="l" indent="0" marL="0">
              <a:buNone/>
            </a:pPr>
            <a:r>
              <a:rPr lang="en-US" sz="1150" dirty="0">
                <a:solidFill>
                  <a:srgbClr val="D8E2EC"/>
                </a:solidFill>
                <a:latin typeface="Microsoft JhengHei" pitchFamily="34" charset="0"/>
                <a:ea typeface="Microsoft JhengHei" pitchFamily="34" charset="-122"/>
                <a:cs typeface="Microsoft JhengHei" pitchFamily="34" charset="-120"/>
              </a:rPr>
              <a:t>本文裝置以電化學電流（μA）呈現反應；不是直接以 mmol/L 報告，也不等同血乳酸。</a:t>
            </a:r>
            <a:endParaRPr lang="en-US" sz="1150" dirty="0"/>
          </a:p>
        </p:txBody>
      </p:sp>
      <p:sp>
        <p:nvSpPr>
          <p:cNvPr id="13" name="Shape 11"/>
          <p:cNvSpPr/>
          <p:nvPr/>
        </p:nvSpPr>
        <p:spPr>
          <a:xfrm>
            <a:off x="6199632" y="1325880"/>
            <a:ext cx="5349240" cy="1947672"/>
          </a:xfrm>
          <a:prstGeom prst="roundRect">
            <a:avLst>
              <a:gd name="adj" fmla="val 3756"/>
            </a:avLst>
          </a:prstGeom>
          <a:solidFill>
            <a:srgbClr val="0E1D2E"/>
          </a:solidFill>
          <a:ln w="13970">
            <a:solidFill>
              <a:srgbClr val="6BB7FF"/>
            </a:solidFill>
            <a:prstDash val="solid"/>
          </a:ln>
        </p:spPr>
      </p:sp>
      <p:sp>
        <p:nvSpPr>
          <p:cNvPr id="14" name="Shape 12"/>
          <p:cNvSpPr/>
          <p:nvPr/>
        </p:nvSpPr>
        <p:spPr>
          <a:xfrm>
            <a:off x="6446520" y="1581912"/>
            <a:ext cx="420624" cy="420624"/>
          </a:xfrm>
          <a:prstGeom prst="ellipse">
            <a:avLst/>
          </a:prstGeom>
          <a:solidFill>
            <a:srgbClr val="6BB7FF"/>
          </a:solidFill>
          <a:ln w="12700">
            <a:solidFill>
              <a:srgbClr val="6BB7FF">
                <a:alpha val="0"/>
              </a:srgbClr>
            </a:solidFill>
            <a:prstDash val="solid"/>
          </a:ln>
        </p:spPr>
      </p:sp>
      <p:sp>
        <p:nvSpPr>
          <p:cNvPr id="15" name="Text 13"/>
          <p:cNvSpPr txBox="1"/>
          <p:nvPr/>
        </p:nvSpPr>
        <p:spPr>
          <a:xfrm>
            <a:off x="6446520" y="1682496"/>
            <a:ext cx="420624" cy="164592"/>
          </a:xfrm>
          <a:prstGeom prst="rect">
            <a:avLst/>
          </a:prstGeom>
          <a:noFill/>
          <a:ln/>
        </p:spPr>
        <p:txBody>
          <a:bodyPr wrap="square" lIns="0" tIns="0" rIns="0" bIns="0" rtlCol="0" anchor="t">
            <a:normAutofit/>
          </a:bodyPr>
          <a:lstStyle/>
          <a:p>
            <a:pPr algn="ctr" indent="0" marL="0">
              <a:buNone/>
            </a:pPr>
            <a:r>
              <a:rPr lang="en-US" sz="1000" b="1" dirty="0">
                <a:solidFill>
                  <a:srgbClr val="07111F"/>
                </a:solidFill>
                <a:latin typeface="Aptos" pitchFamily="34" charset="0"/>
                <a:ea typeface="Aptos" pitchFamily="34" charset="-122"/>
                <a:cs typeface="Aptos" pitchFamily="34" charset="-120"/>
              </a:rPr>
              <a:t>2</a:t>
            </a:r>
            <a:endParaRPr lang="en-US" sz="1000" dirty="0"/>
          </a:p>
        </p:txBody>
      </p:sp>
      <p:sp>
        <p:nvSpPr>
          <p:cNvPr id="16" name="Text 14"/>
          <p:cNvSpPr txBox="1"/>
          <p:nvPr/>
        </p:nvSpPr>
        <p:spPr>
          <a:xfrm>
            <a:off x="7050024" y="1563624"/>
            <a:ext cx="4160520" cy="347472"/>
          </a:xfrm>
          <a:prstGeom prst="rect">
            <a:avLst/>
          </a:prstGeom>
          <a:noFill/>
          <a:ln/>
        </p:spPr>
        <p:txBody>
          <a:bodyPr wrap="square" lIns="0" tIns="0" rIns="0" bIns="0" rtlCol="0" anchor="t">
            <a:normAutofit/>
          </a:bodyPr>
          <a:lstStyle/>
          <a:p>
            <a:pPr algn="l" indent="0" marL="0">
              <a:buNone/>
            </a:pPr>
            <a:r>
              <a:rPr lang="en-US" sz="1500" b="1" dirty="0">
                <a:solidFill>
                  <a:srgbClr val="6BB7FF"/>
                </a:solidFill>
                <a:latin typeface="Microsoft JhengHei" pitchFamily="34" charset="0"/>
                <a:ea typeface="Microsoft JhengHei" pitchFamily="34" charset="-122"/>
                <a:cs typeface="Microsoft JhengHei" pitchFamily="34" charset="-120"/>
              </a:rPr>
              <a:t>sLT｜汗乳酸閾值</a:t>
            </a:r>
            <a:endParaRPr lang="en-US" sz="1500" dirty="0"/>
          </a:p>
        </p:txBody>
      </p:sp>
      <p:sp>
        <p:nvSpPr>
          <p:cNvPr id="17" name="Text 15"/>
          <p:cNvSpPr txBox="1"/>
          <p:nvPr/>
        </p:nvSpPr>
        <p:spPr>
          <a:xfrm>
            <a:off x="7050024" y="2075688"/>
            <a:ext cx="4069080" cy="804672"/>
          </a:xfrm>
          <a:prstGeom prst="rect">
            <a:avLst/>
          </a:prstGeom>
          <a:noFill/>
          <a:ln/>
        </p:spPr>
        <p:txBody>
          <a:bodyPr wrap="square" lIns="0" tIns="0" rIns="0" bIns="0" rtlCol="0" anchor="t">
            <a:normAutofit/>
          </a:bodyPr>
          <a:lstStyle/>
          <a:p>
            <a:pPr algn="l" indent="0" marL="0">
              <a:buNone/>
            </a:pPr>
            <a:r>
              <a:rPr lang="en-US" sz="1150" dirty="0">
                <a:solidFill>
                  <a:srgbClr val="D8E2EC"/>
                </a:solidFill>
                <a:latin typeface="Microsoft JhengHei" pitchFamily="34" charset="0"/>
                <a:ea typeface="Microsoft JhengHei" pitchFamily="34" charset="-122"/>
                <a:cs typeface="Microsoft JhengHei" pitchFamily="34" charset="-120"/>
              </a:rPr>
              <a:t>漸增負荷下，訊號由穩定低值轉為持續上升的「時間／功率點」；不是某個固定濃度。</a:t>
            </a:r>
            <a:endParaRPr lang="en-US" sz="1150" dirty="0"/>
          </a:p>
        </p:txBody>
      </p:sp>
      <p:sp>
        <p:nvSpPr>
          <p:cNvPr id="18" name="Shape 16"/>
          <p:cNvSpPr/>
          <p:nvPr/>
        </p:nvSpPr>
        <p:spPr>
          <a:xfrm>
            <a:off x="621792" y="3703320"/>
            <a:ext cx="5349240" cy="1947672"/>
          </a:xfrm>
          <a:prstGeom prst="roundRect">
            <a:avLst>
              <a:gd name="adj" fmla="val 3756"/>
            </a:avLst>
          </a:prstGeom>
          <a:solidFill>
            <a:srgbClr val="0E1D2E"/>
          </a:solidFill>
          <a:ln w="13970">
            <a:solidFill>
              <a:srgbClr val="FF9B5E"/>
            </a:solidFill>
            <a:prstDash val="solid"/>
          </a:ln>
        </p:spPr>
      </p:sp>
      <p:sp>
        <p:nvSpPr>
          <p:cNvPr id="19" name="Shape 17"/>
          <p:cNvSpPr/>
          <p:nvPr/>
        </p:nvSpPr>
        <p:spPr>
          <a:xfrm>
            <a:off x="868680" y="3959352"/>
            <a:ext cx="420624" cy="420624"/>
          </a:xfrm>
          <a:prstGeom prst="ellipse">
            <a:avLst/>
          </a:prstGeom>
          <a:solidFill>
            <a:srgbClr val="FF9B5E"/>
          </a:solidFill>
          <a:ln w="12700">
            <a:solidFill>
              <a:srgbClr val="FF9B5E">
                <a:alpha val="0"/>
              </a:srgbClr>
            </a:solidFill>
            <a:prstDash val="solid"/>
          </a:ln>
        </p:spPr>
      </p:sp>
      <p:sp>
        <p:nvSpPr>
          <p:cNvPr id="20" name="Text 18"/>
          <p:cNvSpPr txBox="1"/>
          <p:nvPr/>
        </p:nvSpPr>
        <p:spPr>
          <a:xfrm>
            <a:off x="868680" y="4059936"/>
            <a:ext cx="420624" cy="164592"/>
          </a:xfrm>
          <a:prstGeom prst="rect">
            <a:avLst/>
          </a:prstGeom>
          <a:noFill/>
          <a:ln/>
        </p:spPr>
        <p:txBody>
          <a:bodyPr wrap="square" lIns="0" tIns="0" rIns="0" bIns="0" rtlCol="0" anchor="t">
            <a:normAutofit/>
          </a:bodyPr>
          <a:lstStyle/>
          <a:p>
            <a:pPr algn="ctr" indent="0" marL="0">
              <a:buNone/>
            </a:pPr>
            <a:r>
              <a:rPr lang="en-US" sz="1000" b="1" dirty="0">
                <a:solidFill>
                  <a:srgbClr val="07111F"/>
                </a:solidFill>
                <a:latin typeface="Aptos" pitchFamily="34" charset="0"/>
                <a:ea typeface="Aptos" pitchFamily="34" charset="-122"/>
                <a:cs typeface="Aptos" pitchFamily="34" charset="-120"/>
              </a:rPr>
              <a:t>3</a:t>
            </a:r>
            <a:endParaRPr lang="en-US" sz="1000" dirty="0"/>
          </a:p>
        </p:txBody>
      </p:sp>
      <p:sp>
        <p:nvSpPr>
          <p:cNvPr id="21" name="Text 19"/>
          <p:cNvSpPr txBox="1"/>
          <p:nvPr/>
        </p:nvSpPr>
        <p:spPr>
          <a:xfrm>
            <a:off x="1472184" y="3941064"/>
            <a:ext cx="4160520" cy="347472"/>
          </a:xfrm>
          <a:prstGeom prst="rect">
            <a:avLst/>
          </a:prstGeom>
          <a:noFill/>
          <a:ln/>
        </p:spPr>
        <p:txBody>
          <a:bodyPr wrap="square" lIns="0" tIns="0" rIns="0" bIns="0" rtlCol="0" anchor="t">
            <a:normAutofit/>
          </a:bodyPr>
          <a:lstStyle/>
          <a:p>
            <a:pPr algn="l" indent="0" marL="0">
              <a:buNone/>
            </a:pPr>
            <a:r>
              <a:rPr lang="en-US" sz="1500" b="1" dirty="0">
                <a:solidFill>
                  <a:srgbClr val="FF9B5E"/>
                </a:solidFill>
                <a:latin typeface="Microsoft JhengHei" pitchFamily="34" charset="0"/>
                <a:ea typeface="Microsoft JhengHei" pitchFamily="34" charset="-122"/>
                <a:cs typeface="Microsoft JhengHei" pitchFamily="34" charset="-120"/>
              </a:rPr>
              <a:t>曲線左移</a:t>
            </a:r>
            <a:endParaRPr lang="en-US" sz="1500" dirty="0"/>
          </a:p>
        </p:txBody>
      </p:sp>
      <p:sp>
        <p:nvSpPr>
          <p:cNvPr id="22" name="Text 20"/>
          <p:cNvSpPr txBox="1"/>
          <p:nvPr/>
        </p:nvSpPr>
        <p:spPr>
          <a:xfrm>
            <a:off x="1472184" y="4453128"/>
            <a:ext cx="4069080" cy="804672"/>
          </a:xfrm>
          <a:prstGeom prst="rect">
            <a:avLst/>
          </a:prstGeom>
          <a:noFill/>
          <a:ln/>
        </p:spPr>
        <p:txBody>
          <a:bodyPr wrap="square" lIns="0" tIns="0" rIns="0" bIns="0" rtlCol="0" anchor="t">
            <a:normAutofit/>
          </a:bodyPr>
          <a:lstStyle/>
          <a:p>
            <a:pPr algn="l" indent="0" marL="0">
              <a:buNone/>
            </a:pPr>
            <a:r>
              <a:rPr lang="en-US" sz="1150" dirty="0">
                <a:solidFill>
                  <a:srgbClr val="D8E2EC"/>
                </a:solidFill>
                <a:latin typeface="Microsoft JhengHei" pitchFamily="34" charset="0"/>
                <a:ea typeface="Microsoft JhengHei" pitchFamily="34" charset="-122"/>
                <a:cs typeface="Microsoft JhengHei" pitchFamily="34" charset="-120"/>
              </a:rPr>
              <a:t>在相同負荷下，達到同一反應值或峰值的時間提前；重點是「更早」，不是單看峰值多高。</a:t>
            </a:r>
            <a:endParaRPr lang="en-US" sz="1150" dirty="0"/>
          </a:p>
        </p:txBody>
      </p:sp>
      <p:sp>
        <p:nvSpPr>
          <p:cNvPr id="23" name="Shape 21"/>
          <p:cNvSpPr/>
          <p:nvPr/>
        </p:nvSpPr>
        <p:spPr>
          <a:xfrm>
            <a:off x="6199632" y="3703320"/>
            <a:ext cx="5349240" cy="1947672"/>
          </a:xfrm>
          <a:prstGeom prst="roundRect">
            <a:avLst>
              <a:gd name="adj" fmla="val 3756"/>
            </a:avLst>
          </a:prstGeom>
          <a:solidFill>
            <a:srgbClr val="0E1D2E"/>
          </a:solidFill>
          <a:ln w="13970">
            <a:solidFill>
              <a:srgbClr val="B7F06A"/>
            </a:solidFill>
            <a:prstDash val="solid"/>
          </a:ln>
        </p:spPr>
      </p:sp>
      <p:sp>
        <p:nvSpPr>
          <p:cNvPr id="24" name="Shape 22"/>
          <p:cNvSpPr/>
          <p:nvPr/>
        </p:nvSpPr>
        <p:spPr>
          <a:xfrm>
            <a:off x="6446520" y="3959352"/>
            <a:ext cx="420624" cy="420624"/>
          </a:xfrm>
          <a:prstGeom prst="ellipse">
            <a:avLst/>
          </a:prstGeom>
          <a:solidFill>
            <a:srgbClr val="B7F06A"/>
          </a:solidFill>
          <a:ln w="12700">
            <a:solidFill>
              <a:srgbClr val="B7F06A">
                <a:alpha val="0"/>
              </a:srgbClr>
            </a:solidFill>
            <a:prstDash val="solid"/>
          </a:ln>
        </p:spPr>
      </p:sp>
      <p:sp>
        <p:nvSpPr>
          <p:cNvPr id="25" name="Text 23"/>
          <p:cNvSpPr txBox="1"/>
          <p:nvPr/>
        </p:nvSpPr>
        <p:spPr>
          <a:xfrm>
            <a:off x="6446520" y="4059936"/>
            <a:ext cx="420624" cy="164592"/>
          </a:xfrm>
          <a:prstGeom prst="rect">
            <a:avLst/>
          </a:prstGeom>
          <a:noFill/>
          <a:ln/>
        </p:spPr>
        <p:txBody>
          <a:bodyPr wrap="square" lIns="0" tIns="0" rIns="0" bIns="0" rtlCol="0" anchor="t">
            <a:normAutofit/>
          </a:bodyPr>
          <a:lstStyle/>
          <a:p>
            <a:pPr algn="ctr" indent="0" marL="0">
              <a:buNone/>
            </a:pPr>
            <a:r>
              <a:rPr lang="en-US" sz="1000" b="1" dirty="0">
                <a:solidFill>
                  <a:srgbClr val="07111F"/>
                </a:solidFill>
                <a:latin typeface="Aptos" pitchFamily="34" charset="0"/>
                <a:ea typeface="Aptos" pitchFamily="34" charset="-122"/>
                <a:cs typeface="Aptos" pitchFamily="34" charset="-120"/>
              </a:rPr>
              <a:t>4</a:t>
            </a:r>
            <a:endParaRPr lang="en-US" sz="1000" dirty="0"/>
          </a:p>
        </p:txBody>
      </p:sp>
      <p:sp>
        <p:nvSpPr>
          <p:cNvPr id="26" name="Text 24"/>
          <p:cNvSpPr txBox="1"/>
          <p:nvPr/>
        </p:nvSpPr>
        <p:spPr>
          <a:xfrm>
            <a:off x="7050024" y="3941064"/>
            <a:ext cx="4160520" cy="347472"/>
          </a:xfrm>
          <a:prstGeom prst="rect">
            <a:avLst/>
          </a:prstGeom>
          <a:noFill/>
          <a:ln/>
        </p:spPr>
        <p:txBody>
          <a:bodyPr wrap="square" lIns="0" tIns="0" rIns="0" bIns="0" rtlCol="0" anchor="t">
            <a:normAutofit/>
          </a:bodyPr>
          <a:lstStyle/>
          <a:p>
            <a:pPr algn="l" indent="0" marL="0">
              <a:buNone/>
            </a:pPr>
            <a:r>
              <a:rPr lang="en-US" sz="1500" b="1" dirty="0">
                <a:solidFill>
                  <a:srgbClr val="B7F06A"/>
                </a:solidFill>
                <a:latin typeface="Microsoft JhengHei" pitchFamily="34" charset="0"/>
                <a:ea typeface="Microsoft JhengHei" pitchFamily="34" charset="-122"/>
                <a:cs typeface="Microsoft JhengHei" pitchFamily="34" charset="-120"/>
              </a:rPr>
              <a:t>MDC₉₅｜最小可偵測變化</a:t>
            </a:r>
            <a:endParaRPr lang="en-US" sz="1500" dirty="0"/>
          </a:p>
        </p:txBody>
      </p:sp>
      <p:sp>
        <p:nvSpPr>
          <p:cNvPr id="27" name="Text 25"/>
          <p:cNvSpPr txBox="1"/>
          <p:nvPr/>
        </p:nvSpPr>
        <p:spPr>
          <a:xfrm>
            <a:off x="7050024" y="4453128"/>
            <a:ext cx="4069080" cy="804672"/>
          </a:xfrm>
          <a:prstGeom prst="rect">
            <a:avLst/>
          </a:prstGeom>
          <a:noFill/>
          <a:ln/>
        </p:spPr>
        <p:txBody>
          <a:bodyPr wrap="square" lIns="0" tIns="0" rIns="0" bIns="0" rtlCol="0" anchor="t">
            <a:normAutofit/>
          </a:bodyPr>
          <a:lstStyle/>
          <a:p>
            <a:pPr algn="l" indent="0" marL="0">
              <a:buNone/>
            </a:pPr>
            <a:r>
              <a:rPr lang="en-US" sz="1150" dirty="0">
                <a:solidFill>
                  <a:srgbClr val="D8E2EC"/>
                </a:solidFill>
                <a:latin typeface="Microsoft JhengHei" pitchFamily="34" charset="0"/>
                <a:ea typeface="Microsoft JhengHei" pitchFamily="34" charset="-122"/>
                <a:cs typeface="Microsoft JhengHei" pitchFamily="34" charset="-120"/>
              </a:rPr>
              <a:t>超過量測誤差的保守界線；不是臨床重要差異，也不是疲勞高低切點。</a:t>
            </a:r>
            <a:endParaRPr lang="en-US" sz="1150" dirty="0"/>
          </a:p>
        </p:txBody>
      </p:sp>
      <p:sp>
        <p:nvSpPr>
          <p:cNvPr id="28" name="Shape 26"/>
          <p:cNvSpPr/>
          <p:nvPr/>
        </p:nvSpPr>
        <p:spPr>
          <a:xfrm>
            <a:off x="3017520" y="5879592"/>
            <a:ext cx="6172200" cy="384048"/>
          </a:xfrm>
          <a:prstGeom prst="roundRect">
            <a:avLst>
              <a:gd name="adj" fmla="val 19048"/>
            </a:avLst>
          </a:prstGeom>
          <a:solidFill>
            <a:srgbClr val="12263A"/>
          </a:solidFill>
          <a:ln w="12700">
            <a:solidFill>
              <a:srgbClr val="1E3A52"/>
            </a:solidFill>
            <a:prstDash val="solid"/>
          </a:ln>
        </p:spPr>
      </p:sp>
      <p:sp>
        <p:nvSpPr>
          <p:cNvPr id="29" name="Text 27"/>
          <p:cNvSpPr txBox="1"/>
          <p:nvPr/>
        </p:nvSpPr>
        <p:spPr>
          <a:xfrm>
            <a:off x="3246120" y="5989320"/>
            <a:ext cx="5715000" cy="164592"/>
          </a:xfrm>
          <a:prstGeom prst="rect">
            <a:avLst/>
          </a:prstGeom>
          <a:noFill/>
          <a:ln/>
        </p:spPr>
        <p:txBody>
          <a:bodyPr wrap="square" lIns="0" tIns="0" rIns="0" bIns="0" rtlCol="0" anchor="t">
            <a:normAutofit/>
          </a:bodyPr>
          <a:lstStyle/>
          <a:p>
            <a:pPr algn="ctr" indent="0" marL="0">
              <a:buNone/>
            </a:pPr>
            <a:r>
              <a:rPr lang="en-US" sz="1100" b="1" dirty="0">
                <a:solidFill>
                  <a:srgbClr val="F5F7FA"/>
                </a:solidFill>
                <a:latin typeface="Microsoft JhengHei" pitchFamily="34" charset="0"/>
                <a:ea typeface="Microsoft JhengHei" pitchFamily="34" charset="-122"/>
                <a:cs typeface="Microsoft JhengHei" pitchFamily="34" charset="-120"/>
              </a:rPr>
              <a:t>兩篇研究真正比較的是「動態位置」，不是跨人的單一濃度。</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0D4C7"/>
          </a:solidFill>
          <a:ln w="12700">
            <a:solidFill>
              <a:srgbClr val="20D4C7">
                <a:alpha val="0"/>
              </a:srgbClr>
            </a:solidFill>
            <a:prstDash val="solid"/>
          </a:ln>
        </p:spPr>
      </p:sp>
      <p:sp>
        <p:nvSpPr>
          <p:cNvPr id="3" name="Shape 1"/>
          <p:cNvSpPr/>
          <p:nvPr/>
        </p:nvSpPr>
        <p:spPr>
          <a:xfrm>
            <a:off x="10561320" y="-658368"/>
            <a:ext cx="2194560" cy="2194560"/>
          </a:xfrm>
          <a:prstGeom prst="ellipse">
            <a:avLst/>
          </a:prstGeom>
          <a:solidFill>
            <a:srgbClr val="20D4C7">
              <a:alpha val="8000"/>
            </a:srgbClr>
          </a:solidFill>
          <a:ln w="12700">
            <a:solidFill>
              <a:srgbClr val="20D4C7">
                <a:alpha val="0"/>
              </a:srgbClr>
            </a:solidFill>
            <a:prstDash val="solid"/>
          </a:ln>
        </p:spPr>
      </p:sp>
      <p:sp>
        <p:nvSpPr>
          <p:cNvPr id="4" name="Shape 2"/>
          <p:cNvSpPr/>
          <p:nvPr/>
        </p:nvSpPr>
        <p:spPr>
          <a:xfrm>
            <a:off x="502920" y="841248"/>
            <a:ext cx="11155680" cy="0"/>
          </a:xfrm>
          <a:prstGeom prst="line">
            <a:avLst/>
          </a:prstGeom>
          <a:noFill/>
          <a:ln w="12700">
            <a:solidFill>
              <a:srgbClr val="1E3A52"/>
            </a:solidFill>
            <a:prstDash val="solid"/>
          </a:ln>
        </p:spPr>
      </p:sp>
      <p:sp>
        <p:nvSpPr>
          <p:cNvPr id="5" name="Text 3"/>
          <p:cNvSpPr/>
          <p:nvPr/>
        </p:nvSpPr>
        <p:spPr>
          <a:xfrm>
            <a:off x="566928" y="237744"/>
            <a:ext cx="2926080" cy="219456"/>
          </a:xfrm>
          <a:prstGeom prst="rect">
            <a:avLst/>
          </a:prstGeom>
          <a:noFill/>
          <a:ln/>
        </p:spPr>
        <p:txBody>
          <a:bodyPr wrap="square" lIns="0" tIns="0" rIns="0" bIns="0" rtlCol="0" anchor="ctr">
            <a:normAutofit/>
          </a:bodyPr>
          <a:lstStyle/>
          <a:p>
            <a:pPr indent="0" marL="0">
              <a:buNone/>
            </a:pPr>
            <a:r>
              <a:rPr lang="en-US" sz="850" b="1" spc="130" kern="0" dirty="0">
                <a:solidFill>
                  <a:srgbClr val="20D4C7"/>
                </a:solidFill>
                <a:latin typeface="Aptos" pitchFamily="34" charset="0"/>
                <a:ea typeface="Aptos" pitchFamily="34" charset="-122"/>
                <a:cs typeface="Aptos" pitchFamily="34" charset="-120"/>
              </a:rPr>
              <a:t>STUDY 01 · DESIGN</a:t>
            </a:r>
            <a:endParaRPr lang="en-US" sz="850" dirty="0"/>
          </a:p>
        </p:txBody>
      </p:sp>
      <p:sp>
        <p:nvSpPr>
          <p:cNvPr id="6" name="Text 4"/>
          <p:cNvSpPr/>
          <p:nvPr/>
        </p:nvSpPr>
        <p:spPr>
          <a:xfrm>
            <a:off x="566928" y="420624"/>
            <a:ext cx="10881360" cy="365760"/>
          </a:xfrm>
          <a:prstGeom prst="rect">
            <a:avLst/>
          </a:prstGeom>
          <a:noFill/>
          <a:ln/>
        </p:spPr>
        <p:txBody>
          <a:bodyPr wrap="square" lIns="0" tIns="0" rIns="0" bIns="0" rtlCol="0" anchor="ctr">
            <a:normAutofit/>
          </a:bodyPr>
          <a:lstStyle/>
          <a:p>
            <a:pPr indent="0" marL="0">
              <a:buNone/>
            </a:pPr>
            <a:r>
              <a:rPr lang="en-US" sz="2300" b="1" dirty="0">
                <a:solidFill>
                  <a:srgbClr val="F5F7FA"/>
                </a:solidFill>
                <a:latin typeface="Microsoft JhengHei" pitchFamily="34" charset="0"/>
                <a:ea typeface="Microsoft JhengHei" pitchFamily="34" charset="-122"/>
                <a:cs typeface="Microsoft JhengHei" pitchFamily="34" charset="-120"/>
              </a:rPr>
              <a:t>研究 1｜同一人先騎到力竭，再用同負荷測一次</a:t>
            </a:r>
            <a:endParaRPr lang="en-US" sz="2300" dirty="0"/>
          </a:p>
        </p:txBody>
      </p:sp>
      <p:sp>
        <p:nvSpPr>
          <p:cNvPr id="7" name="Text 5"/>
          <p:cNvSpPr/>
          <p:nvPr/>
        </p:nvSpPr>
        <p:spPr>
          <a:xfrm>
            <a:off x="11109960" y="6519672"/>
            <a:ext cx="502920" cy="164592"/>
          </a:xfrm>
          <a:prstGeom prst="rect">
            <a:avLst/>
          </a:prstGeom>
          <a:noFill/>
          <a:ln/>
        </p:spPr>
        <p:txBody>
          <a:bodyPr wrap="square" lIns="0" tIns="0" rIns="0" bIns="0" rtlCol="0" anchor="ctr"/>
          <a:lstStyle/>
          <a:p>
            <a:pPr algn="r" indent="0" marL="0">
              <a:buNone/>
            </a:pPr>
            <a:r>
              <a:rPr lang="en-US" sz="850" b="1" dirty="0">
                <a:solidFill>
                  <a:srgbClr val="20D4C7"/>
                </a:solidFill>
                <a:latin typeface="Aptos" pitchFamily="34" charset="0"/>
                <a:ea typeface="Aptos" pitchFamily="34" charset="-122"/>
                <a:cs typeface="Aptos" pitchFamily="34" charset="-120"/>
              </a:rPr>
              <a:t>04</a:t>
            </a:r>
            <a:endParaRPr lang="en-US" sz="850" dirty="0"/>
          </a:p>
        </p:txBody>
      </p:sp>
      <p:sp>
        <p:nvSpPr>
          <p:cNvPr id="8" name="Text 6"/>
          <p:cNvSpPr/>
          <p:nvPr/>
        </p:nvSpPr>
        <p:spPr>
          <a:xfrm>
            <a:off x="566928" y="6492240"/>
            <a:ext cx="9966960" cy="182880"/>
          </a:xfrm>
          <a:prstGeom prst="rect">
            <a:avLst/>
          </a:prstGeom>
          <a:noFill/>
          <a:ln/>
        </p:spPr>
        <p:txBody>
          <a:bodyPr wrap="square" lIns="0" tIns="0" rIns="0" bIns="0" rtlCol="0" anchor="ctr">
            <a:normAutofit/>
          </a:bodyPr>
          <a:lstStyle/>
          <a:p>
            <a:pPr indent="0" marL="0">
              <a:buNone/>
            </a:pPr>
            <a:r>
              <a:rPr lang="en-US" sz="730" dirty="0">
                <a:solidFill>
                  <a:srgbClr val="93A4B6"/>
                </a:solidFill>
                <a:latin typeface="Microsoft JhengHei" pitchFamily="34" charset="0"/>
                <a:ea typeface="Microsoft JhengHei" pitchFamily="34" charset="-122"/>
                <a:cs typeface="Microsoft JhengHei" pitchFamily="34" charset="-120"/>
              </a:rPr>
              <a:t>Okawara et al., Physiological Reports 10 (2022), e15169 · DOI 10.14814/phy2.15169</a:t>
            </a:r>
            <a:endParaRPr lang="en-US" sz="730" dirty="0"/>
          </a:p>
        </p:txBody>
      </p:sp>
      <p:sp>
        <p:nvSpPr>
          <p:cNvPr id="9" name="Shape 7"/>
          <p:cNvSpPr/>
          <p:nvPr/>
        </p:nvSpPr>
        <p:spPr>
          <a:xfrm>
            <a:off x="658368" y="1078992"/>
            <a:ext cx="2267712" cy="310896"/>
          </a:xfrm>
          <a:prstGeom prst="roundRect">
            <a:avLst/>
          </a:prstGeom>
          <a:solidFill>
            <a:srgbClr val="6BB7FF"/>
          </a:solidFill>
          <a:ln w="12700">
            <a:solidFill>
              <a:srgbClr val="6BB7FF">
                <a:alpha val="0"/>
              </a:srgbClr>
            </a:solidFill>
            <a:prstDash val="solid"/>
          </a:ln>
        </p:spPr>
      </p:sp>
      <p:sp>
        <p:nvSpPr>
          <p:cNvPr id="10" name="Text 8"/>
          <p:cNvSpPr txBox="1"/>
          <p:nvPr/>
        </p:nvSpPr>
        <p:spPr>
          <a:xfrm>
            <a:off x="731520" y="1147572"/>
            <a:ext cx="2121408" cy="210312"/>
          </a:xfrm>
          <a:prstGeom prst="rect">
            <a:avLst/>
          </a:prstGeom>
          <a:noFill/>
          <a:ln/>
        </p:spPr>
        <p:txBody>
          <a:bodyPr wrap="square" lIns="0" tIns="0" rIns="0" bIns="0" rtlCol="0" anchor="ctr">
            <a:normAutofit/>
          </a:bodyPr>
          <a:lstStyle/>
          <a:p>
            <a:pPr algn="ctr" indent="0" marL="0">
              <a:buNone/>
            </a:pPr>
            <a:r>
              <a:rPr lang="en-US" sz="950" b="1" dirty="0">
                <a:solidFill>
                  <a:srgbClr val="07111F"/>
                </a:solidFill>
                <a:latin typeface="Microsoft JhengHei" pitchFamily="34" charset="0"/>
                <a:ea typeface="Microsoft JhengHei" pitchFamily="34" charset="-122"/>
                <a:cs typeface="Microsoft JhengHei" pitchFamily="34" charset="-120"/>
              </a:rPr>
              <a:t>n = 20 收案 → 17 納入分析</a:t>
            </a:r>
            <a:endParaRPr lang="en-US" sz="950" dirty="0"/>
          </a:p>
        </p:txBody>
      </p:sp>
      <p:sp>
        <p:nvSpPr>
          <p:cNvPr id="11" name="Shape 9"/>
          <p:cNvSpPr/>
          <p:nvPr/>
        </p:nvSpPr>
        <p:spPr>
          <a:xfrm>
            <a:off x="3072384" y="1078992"/>
            <a:ext cx="2011680" cy="310896"/>
          </a:xfrm>
          <a:prstGeom prst="roundRect">
            <a:avLst/>
          </a:prstGeom>
          <a:solidFill>
            <a:srgbClr val="12263A"/>
          </a:solidFill>
          <a:ln w="12700">
            <a:solidFill>
              <a:srgbClr val="12263A">
                <a:alpha val="0"/>
              </a:srgbClr>
            </a:solidFill>
            <a:prstDash val="solid"/>
          </a:ln>
        </p:spPr>
      </p:sp>
      <p:sp>
        <p:nvSpPr>
          <p:cNvPr id="12" name="Text 10"/>
          <p:cNvSpPr txBox="1"/>
          <p:nvPr/>
        </p:nvSpPr>
        <p:spPr>
          <a:xfrm>
            <a:off x="3145536" y="1147572"/>
            <a:ext cx="1865376" cy="210312"/>
          </a:xfrm>
          <a:prstGeom prst="rect">
            <a:avLst/>
          </a:prstGeom>
          <a:noFill/>
          <a:ln/>
        </p:spPr>
        <p:txBody>
          <a:bodyPr wrap="square" lIns="0" tIns="0" rIns="0" bIns="0" rtlCol="0" anchor="ctr">
            <a:normAutofit/>
          </a:bodyPr>
          <a:lstStyle/>
          <a:p>
            <a:pPr algn="ctr" indent="0" marL="0">
              <a:buNone/>
            </a:pPr>
            <a:r>
              <a:rPr lang="en-US" sz="950" b="1" dirty="0">
                <a:solidFill>
                  <a:srgbClr val="9DD0FF"/>
                </a:solidFill>
                <a:latin typeface="Microsoft JhengHei" pitchFamily="34" charset="0"/>
                <a:ea typeface="Microsoft JhengHei" pitchFamily="34" charset="-122"/>
                <a:cs typeface="Microsoft JhengHei" pitchFamily="34" charset="-120"/>
              </a:rPr>
              <a:t>男性 · 20.6 ± 0.8 歲</a:t>
            </a:r>
            <a:endParaRPr lang="en-US" sz="950" dirty="0"/>
          </a:p>
        </p:txBody>
      </p:sp>
      <p:sp>
        <p:nvSpPr>
          <p:cNvPr id="13" name="Shape 11"/>
          <p:cNvSpPr/>
          <p:nvPr/>
        </p:nvSpPr>
        <p:spPr>
          <a:xfrm>
            <a:off x="5230368" y="1078992"/>
            <a:ext cx="1517904" cy="310896"/>
          </a:xfrm>
          <a:prstGeom prst="roundRect">
            <a:avLst/>
          </a:prstGeom>
          <a:solidFill>
            <a:srgbClr val="12263A"/>
          </a:solidFill>
          <a:ln w="12700">
            <a:solidFill>
              <a:srgbClr val="12263A">
                <a:alpha val="0"/>
              </a:srgbClr>
            </a:solidFill>
            <a:prstDash val="solid"/>
          </a:ln>
        </p:spPr>
      </p:sp>
      <p:sp>
        <p:nvSpPr>
          <p:cNvPr id="14" name="Text 12"/>
          <p:cNvSpPr txBox="1"/>
          <p:nvPr/>
        </p:nvSpPr>
        <p:spPr>
          <a:xfrm>
            <a:off x="5303520" y="1147572"/>
            <a:ext cx="1371600" cy="210312"/>
          </a:xfrm>
          <a:prstGeom prst="rect">
            <a:avLst/>
          </a:prstGeom>
          <a:noFill/>
          <a:ln/>
        </p:spPr>
        <p:txBody>
          <a:bodyPr wrap="square" lIns="0" tIns="0" rIns="0" bIns="0" rtlCol="0" anchor="ctr">
            <a:normAutofit/>
          </a:bodyPr>
          <a:lstStyle/>
          <a:p>
            <a:pPr algn="ctr" indent="0" marL="0">
              <a:buNone/>
            </a:pPr>
            <a:r>
              <a:rPr lang="en-US" sz="950" b="1" dirty="0">
                <a:solidFill>
                  <a:srgbClr val="78EAE0"/>
                </a:solidFill>
                <a:latin typeface="Microsoft JhengHei" pitchFamily="34" charset="0"/>
                <a:ea typeface="Microsoft JhengHei" pitchFamily="34" charset="-122"/>
                <a:cs typeface="Microsoft JhengHei" pitchFamily="34" charset="-120"/>
              </a:rPr>
              <a:t>1 Hz 連續量測</a:t>
            </a:r>
            <a:endParaRPr lang="en-US" sz="950" dirty="0"/>
          </a:p>
        </p:txBody>
      </p:sp>
      <p:sp>
        <p:nvSpPr>
          <p:cNvPr id="15" name="Shape 13"/>
          <p:cNvSpPr/>
          <p:nvPr/>
        </p:nvSpPr>
        <p:spPr>
          <a:xfrm>
            <a:off x="640080" y="1847088"/>
            <a:ext cx="1993392" cy="1170432"/>
          </a:xfrm>
          <a:prstGeom prst="roundRect">
            <a:avLst>
              <a:gd name="adj" fmla="val 6250"/>
            </a:avLst>
          </a:prstGeom>
          <a:solidFill>
            <a:srgbClr val="12263A"/>
          </a:solidFill>
          <a:ln w="15240">
            <a:solidFill>
              <a:srgbClr val="6BB7FF"/>
            </a:solidFill>
            <a:prstDash val="solid"/>
          </a:ln>
        </p:spPr>
      </p:sp>
      <p:sp>
        <p:nvSpPr>
          <p:cNvPr id="16" name="Shape 14"/>
          <p:cNvSpPr/>
          <p:nvPr/>
        </p:nvSpPr>
        <p:spPr>
          <a:xfrm>
            <a:off x="758952" y="1975104"/>
            <a:ext cx="320040" cy="320040"/>
          </a:xfrm>
          <a:prstGeom prst="ellipse">
            <a:avLst/>
          </a:prstGeom>
          <a:solidFill>
            <a:srgbClr val="6BB7FF"/>
          </a:solidFill>
          <a:ln w="12700">
            <a:solidFill>
              <a:srgbClr val="6BB7FF">
                <a:alpha val="0"/>
              </a:srgbClr>
            </a:solidFill>
            <a:prstDash val="solid"/>
          </a:ln>
        </p:spPr>
      </p:sp>
      <p:sp>
        <p:nvSpPr>
          <p:cNvPr id="17" name="Text 15"/>
          <p:cNvSpPr txBox="1"/>
          <p:nvPr/>
        </p:nvSpPr>
        <p:spPr>
          <a:xfrm>
            <a:off x="758952" y="2043684"/>
            <a:ext cx="320040" cy="146304"/>
          </a:xfrm>
          <a:prstGeom prst="rect">
            <a:avLst/>
          </a:prstGeom>
          <a:noFill/>
          <a:ln/>
        </p:spPr>
        <p:txBody>
          <a:bodyPr wrap="square" lIns="0" tIns="0" rIns="0" bIns="0" rtlCol="0" anchor="t">
            <a:normAutofit/>
          </a:bodyPr>
          <a:lstStyle/>
          <a:p>
            <a:pPr algn="ctr" indent="0" marL="0">
              <a:buNone/>
            </a:pPr>
            <a:r>
              <a:rPr lang="en-US" sz="900" b="1" dirty="0">
                <a:solidFill>
                  <a:srgbClr val="07111F"/>
                </a:solidFill>
                <a:latin typeface="Aptos" pitchFamily="34" charset="0"/>
                <a:ea typeface="Aptos" pitchFamily="34" charset="-122"/>
                <a:cs typeface="Aptos" pitchFamily="34" charset="-120"/>
              </a:rPr>
              <a:t>A</a:t>
            </a:r>
            <a:endParaRPr lang="en-US" sz="900" dirty="0"/>
          </a:p>
        </p:txBody>
      </p:sp>
      <p:sp>
        <p:nvSpPr>
          <p:cNvPr id="18" name="Text 16"/>
          <p:cNvSpPr txBox="1"/>
          <p:nvPr/>
        </p:nvSpPr>
        <p:spPr>
          <a:xfrm>
            <a:off x="1152144" y="1993392"/>
            <a:ext cx="1353312" cy="265176"/>
          </a:xfrm>
          <a:prstGeom prst="rect">
            <a:avLst/>
          </a:prstGeom>
          <a:noFill/>
          <a:ln/>
        </p:spPr>
        <p:txBody>
          <a:bodyPr wrap="square" lIns="0" tIns="0" rIns="0" bIns="0" rtlCol="0" anchor="t">
            <a:normAutofit/>
          </a:bodyPr>
          <a:lstStyle/>
          <a:p>
            <a:pPr algn="l" indent="0" marL="0">
              <a:buNone/>
            </a:pPr>
            <a:r>
              <a:rPr lang="en-US" sz="1200" b="1" dirty="0">
                <a:solidFill>
                  <a:srgbClr val="F5F7FA"/>
                </a:solidFill>
                <a:latin typeface="Microsoft JhengHei" pitchFamily="34" charset="0"/>
                <a:ea typeface="Microsoft JhengHei" pitchFamily="34" charset="-122"/>
                <a:cs typeface="Microsoft JhengHei" pitchFamily="34" charset="-120"/>
              </a:rPr>
              <a:t>約 1 週前</a:t>
            </a:r>
            <a:endParaRPr lang="en-US" sz="1200" dirty="0"/>
          </a:p>
        </p:txBody>
      </p:sp>
      <p:sp>
        <p:nvSpPr>
          <p:cNvPr id="19" name="Text 17"/>
          <p:cNvSpPr txBox="1"/>
          <p:nvPr/>
        </p:nvSpPr>
        <p:spPr>
          <a:xfrm>
            <a:off x="804672" y="2359152"/>
            <a:ext cx="1664208" cy="493776"/>
          </a:xfrm>
          <a:prstGeom prst="rect">
            <a:avLst/>
          </a:prstGeom>
          <a:noFill/>
          <a:ln/>
        </p:spPr>
        <p:txBody>
          <a:bodyPr wrap="square" lIns="0" tIns="0" rIns="0" bIns="0" rtlCol="0" anchor="t">
            <a:normAutofit/>
          </a:bodyPr>
          <a:lstStyle/>
          <a:p>
            <a:pPr algn="l" indent="0" marL="0">
              <a:buNone/>
            </a:pPr>
            <a:r>
              <a:rPr lang="en-US" sz="950" dirty="0">
                <a:solidFill>
                  <a:srgbClr val="93A4B6"/>
                </a:solidFill>
                <a:latin typeface="Microsoft JhengHei" pitchFamily="34" charset="0"/>
                <a:ea typeface="Microsoft JhengHei" pitchFamily="34" charset="-122"/>
                <a:cs typeface="Microsoft JhengHei" pitchFamily="34" charset="-120"/>
              </a:rPr>
              <a:t>Wingate 測試</a:t>
            </a:r>
            <a:endParaRPr lang="en-US" sz="950" dirty="0"/>
          </a:p>
          <a:p>
            <a:pPr algn="l" indent="0" marL="0">
              <a:buNone/>
            </a:pPr>
            <a:r>
              <a:rPr lang="en-US" sz="950" dirty="0">
                <a:solidFill>
                  <a:srgbClr val="93A4B6"/>
                </a:solidFill>
                <a:latin typeface="Microsoft JhengHei" pitchFamily="34" charset="0"/>
                <a:ea typeface="Microsoft JhengHei" pitchFamily="34" charset="-122"/>
                <a:cs typeface="Microsoft JhengHei" pitchFamily="34" charset="-120"/>
              </a:rPr>
              <a:t>取得個人峰值功率 PP</a:t>
            </a:r>
            <a:endParaRPr lang="en-US" sz="950" dirty="0"/>
          </a:p>
        </p:txBody>
      </p:sp>
      <p:sp>
        <p:nvSpPr>
          <p:cNvPr id="20" name="Shape 18"/>
          <p:cNvSpPr/>
          <p:nvPr/>
        </p:nvSpPr>
        <p:spPr>
          <a:xfrm>
            <a:off x="2724912" y="2240280"/>
            <a:ext cx="411480" cy="384048"/>
          </a:xfrm>
          <a:prstGeom prst="chevron">
            <a:avLst/>
          </a:prstGeom>
          <a:solidFill>
            <a:srgbClr val="27435A"/>
          </a:solidFill>
          <a:ln w="12700">
            <a:solidFill>
              <a:srgbClr val="27435A">
                <a:alpha val="0"/>
              </a:srgbClr>
            </a:solidFill>
            <a:prstDash val="solid"/>
          </a:ln>
        </p:spPr>
      </p:sp>
      <p:sp>
        <p:nvSpPr>
          <p:cNvPr id="21" name="Shape 19"/>
          <p:cNvSpPr/>
          <p:nvPr/>
        </p:nvSpPr>
        <p:spPr>
          <a:xfrm>
            <a:off x="3218688" y="1847088"/>
            <a:ext cx="2249424" cy="1170432"/>
          </a:xfrm>
          <a:prstGeom prst="roundRect">
            <a:avLst>
              <a:gd name="adj" fmla="val 6250"/>
            </a:avLst>
          </a:prstGeom>
          <a:solidFill>
            <a:srgbClr val="12263A"/>
          </a:solidFill>
          <a:ln w="15240">
            <a:solidFill>
              <a:srgbClr val="20D4C7"/>
            </a:solidFill>
            <a:prstDash val="solid"/>
          </a:ln>
        </p:spPr>
      </p:sp>
      <p:sp>
        <p:nvSpPr>
          <p:cNvPr id="22" name="Shape 20"/>
          <p:cNvSpPr/>
          <p:nvPr/>
        </p:nvSpPr>
        <p:spPr>
          <a:xfrm>
            <a:off x="3337560" y="1975104"/>
            <a:ext cx="320040" cy="320040"/>
          </a:xfrm>
          <a:prstGeom prst="ellipse">
            <a:avLst/>
          </a:prstGeom>
          <a:solidFill>
            <a:srgbClr val="20D4C7"/>
          </a:solidFill>
          <a:ln w="12700">
            <a:solidFill>
              <a:srgbClr val="20D4C7">
                <a:alpha val="0"/>
              </a:srgbClr>
            </a:solidFill>
            <a:prstDash val="solid"/>
          </a:ln>
        </p:spPr>
      </p:sp>
      <p:sp>
        <p:nvSpPr>
          <p:cNvPr id="23" name="Text 21"/>
          <p:cNvSpPr txBox="1"/>
          <p:nvPr/>
        </p:nvSpPr>
        <p:spPr>
          <a:xfrm>
            <a:off x="3337560" y="2043684"/>
            <a:ext cx="320040" cy="146304"/>
          </a:xfrm>
          <a:prstGeom prst="rect">
            <a:avLst/>
          </a:prstGeom>
          <a:noFill/>
          <a:ln/>
        </p:spPr>
        <p:txBody>
          <a:bodyPr wrap="square" lIns="0" tIns="0" rIns="0" bIns="0" rtlCol="0" anchor="t">
            <a:normAutofit/>
          </a:bodyPr>
          <a:lstStyle/>
          <a:p>
            <a:pPr algn="ctr" indent="0" marL="0">
              <a:buNone/>
            </a:pPr>
            <a:r>
              <a:rPr lang="en-US" sz="900" b="1" dirty="0">
                <a:solidFill>
                  <a:srgbClr val="07111F"/>
                </a:solidFill>
                <a:latin typeface="Aptos" pitchFamily="34" charset="0"/>
                <a:ea typeface="Aptos" pitchFamily="34" charset="-122"/>
                <a:cs typeface="Aptos" pitchFamily="34" charset="-120"/>
              </a:rPr>
              <a:t>1</a:t>
            </a:r>
            <a:endParaRPr lang="en-US" sz="900" dirty="0"/>
          </a:p>
        </p:txBody>
      </p:sp>
      <p:sp>
        <p:nvSpPr>
          <p:cNvPr id="24" name="Text 22"/>
          <p:cNvSpPr txBox="1"/>
          <p:nvPr/>
        </p:nvSpPr>
        <p:spPr>
          <a:xfrm>
            <a:off x="3730752" y="1993392"/>
            <a:ext cx="1609344" cy="265176"/>
          </a:xfrm>
          <a:prstGeom prst="rect">
            <a:avLst/>
          </a:prstGeom>
          <a:noFill/>
          <a:ln/>
        </p:spPr>
        <p:txBody>
          <a:bodyPr wrap="square" lIns="0" tIns="0" rIns="0" bIns="0" rtlCol="0" anchor="t">
            <a:normAutofit/>
          </a:bodyPr>
          <a:lstStyle/>
          <a:p>
            <a:pPr algn="l" indent="0" marL="0">
              <a:buNone/>
            </a:pPr>
            <a:r>
              <a:rPr lang="en-US" sz="1200" b="1" dirty="0">
                <a:solidFill>
                  <a:srgbClr val="F5F7FA"/>
                </a:solidFill>
                <a:latin typeface="Microsoft JhengHei" pitchFamily="34" charset="0"/>
                <a:ea typeface="Microsoft JhengHei" pitchFamily="34" charset="-122"/>
                <a:cs typeface="Microsoft JhengHei" pitchFamily="34" charset="-120"/>
              </a:rPr>
              <a:t>Test 1｜至力竭</a:t>
            </a:r>
            <a:endParaRPr lang="en-US" sz="1200" dirty="0"/>
          </a:p>
        </p:txBody>
      </p:sp>
      <p:sp>
        <p:nvSpPr>
          <p:cNvPr id="25" name="Text 23"/>
          <p:cNvSpPr txBox="1"/>
          <p:nvPr/>
        </p:nvSpPr>
        <p:spPr>
          <a:xfrm>
            <a:off x="3383280" y="2359152"/>
            <a:ext cx="1920240" cy="493776"/>
          </a:xfrm>
          <a:prstGeom prst="rect">
            <a:avLst/>
          </a:prstGeom>
          <a:noFill/>
          <a:ln/>
        </p:spPr>
        <p:txBody>
          <a:bodyPr wrap="square" lIns="0" tIns="0" rIns="0" bIns="0" rtlCol="0" anchor="t">
            <a:normAutofit/>
          </a:bodyPr>
          <a:lstStyle/>
          <a:p>
            <a:pPr algn="l" indent="0" marL="0">
              <a:buNone/>
            </a:pPr>
            <a:r>
              <a:rPr lang="en-US" sz="950" dirty="0">
                <a:solidFill>
                  <a:srgbClr val="93A4B6"/>
                </a:solidFill>
                <a:latin typeface="Microsoft JhengHei" pitchFamily="34" charset="0"/>
                <a:ea typeface="Microsoft JhengHei" pitchFamily="34" charset="-122"/>
                <a:cs typeface="Microsoft JhengHei" pitchFamily="34" charset="-120"/>
              </a:rPr>
              <a:t>腳踏車固定負荷 25% PP</a:t>
            </a:r>
            <a:endParaRPr lang="en-US" sz="950" dirty="0"/>
          </a:p>
          <a:p>
            <a:pPr algn="l" indent="0" marL="0">
              <a:buNone/>
            </a:pPr>
            <a:r>
              <a:rPr lang="en-US" sz="950" dirty="0">
                <a:solidFill>
                  <a:srgbClr val="93A4B6"/>
                </a:solidFill>
                <a:latin typeface="Microsoft JhengHei" pitchFamily="34" charset="0"/>
                <a:ea typeface="Microsoft JhengHei" pitchFamily="34" charset="-122"/>
                <a:cs typeface="Microsoft JhengHei" pitchFamily="34" charset="-120"/>
              </a:rPr>
              <a:t>70–80 rpm</a:t>
            </a:r>
            <a:endParaRPr lang="en-US" sz="950" dirty="0"/>
          </a:p>
        </p:txBody>
      </p:sp>
      <p:sp>
        <p:nvSpPr>
          <p:cNvPr id="26" name="Shape 24"/>
          <p:cNvSpPr/>
          <p:nvPr/>
        </p:nvSpPr>
        <p:spPr>
          <a:xfrm>
            <a:off x="5559552" y="2240280"/>
            <a:ext cx="411480" cy="384048"/>
          </a:xfrm>
          <a:prstGeom prst="chevron">
            <a:avLst/>
          </a:prstGeom>
          <a:solidFill>
            <a:srgbClr val="27435A"/>
          </a:solidFill>
          <a:ln w="12700">
            <a:solidFill>
              <a:srgbClr val="27435A">
                <a:alpha val="0"/>
              </a:srgbClr>
            </a:solidFill>
            <a:prstDash val="solid"/>
          </a:ln>
        </p:spPr>
      </p:sp>
      <p:sp>
        <p:nvSpPr>
          <p:cNvPr id="27" name="Shape 25"/>
          <p:cNvSpPr/>
          <p:nvPr/>
        </p:nvSpPr>
        <p:spPr>
          <a:xfrm>
            <a:off x="6053328" y="1847088"/>
            <a:ext cx="1508760" cy="1170432"/>
          </a:xfrm>
          <a:prstGeom prst="roundRect">
            <a:avLst>
              <a:gd name="adj" fmla="val 6250"/>
            </a:avLst>
          </a:prstGeom>
          <a:solidFill>
            <a:srgbClr val="12263A"/>
          </a:solidFill>
          <a:ln w="15240">
            <a:solidFill>
              <a:srgbClr val="FFD166"/>
            </a:solidFill>
            <a:prstDash val="solid"/>
          </a:ln>
        </p:spPr>
      </p:sp>
      <p:sp>
        <p:nvSpPr>
          <p:cNvPr id="28" name="Shape 26"/>
          <p:cNvSpPr/>
          <p:nvPr/>
        </p:nvSpPr>
        <p:spPr>
          <a:xfrm>
            <a:off x="6172200" y="1975104"/>
            <a:ext cx="320040" cy="320040"/>
          </a:xfrm>
          <a:prstGeom prst="ellipse">
            <a:avLst/>
          </a:prstGeom>
          <a:solidFill>
            <a:srgbClr val="FFD166"/>
          </a:solidFill>
          <a:ln w="12700">
            <a:solidFill>
              <a:srgbClr val="FFD166">
                <a:alpha val="0"/>
              </a:srgbClr>
            </a:solidFill>
            <a:prstDash val="solid"/>
          </a:ln>
        </p:spPr>
      </p:sp>
      <p:sp>
        <p:nvSpPr>
          <p:cNvPr id="29" name="Text 27"/>
          <p:cNvSpPr txBox="1"/>
          <p:nvPr/>
        </p:nvSpPr>
        <p:spPr>
          <a:xfrm>
            <a:off x="6172200" y="2043684"/>
            <a:ext cx="320040" cy="146304"/>
          </a:xfrm>
          <a:prstGeom prst="rect">
            <a:avLst/>
          </a:prstGeom>
          <a:noFill/>
          <a:ln/>
        </p:spPr>
        <p:txBody>
          <a:bodyPr wrap="square" lIns="0" tIns="0" rIns="0" bIns="0" rtlCol="0" anchor="t">
            <a:normAutofit/>
          </a:bodyPr>
          <a:lstStyle/>
          <a:p>
            <a:pPr algn="ctr" indent="0" marL="0">
              <a:buNone/>
            </a:pPr>
            <a:r>
              <a:rPr lang="en-US" sz="900" b="1" dirty="0">
                <a:solidFill>
                  <a:srgbClr val="07111F"/>
                </a:solidFill>
                <a:latin typeface="Aptos" pitchFamily="34" charset="0"/>
                <a:ea typeface="Aptos" pitchFamily="34" charset="-122"/>
                <a:cs typeface="Aptos" pitchFamily="34" charset="-120"/>
              </a:rPr>
              <a:t>R</a:t>
            </a:r>
            <a:endParaRPr lang="en-US" sz="900" dirty="0"/>
          </a:p>
        </p:txBody>
      </p:sp>
      <p:sp>
        <p:nvSpPr>
          <p:cNvPr id="30" name="Text 28"/>
          <p:cNvSpPr txBox="1"/>
          <p:nvPr/>
        </p:nvSpPr>
        <p:spPr>
          <a:xfrm>
            <a:off x="6565392" y="1993392"/>
            <a:ext cx="868680" cy="265176"/>
          </a:xfrm>
          <a:prstGeom prst="rect">
            <a:avLst/>
          </a:prstGeom>
          <a:noFill/>
          <a:ln/>
        </p:spPr>
        <p:txBody>
          <a:bodyPr wrap="square" lIns="0" tIns="0" rIns="0" bIns="0" rtlCol="0" anchor="t">
            <a:normAutofit/>
          </a:bodyPr>
          <a:lstStyle/>
          <a:p>
            <a:pPr algn="l" indent="0" marL="0">
              <a:buNone/>
            </a:pPr>
            <a:r>
              <a:rPr lang="en-US" sz="1200" b="1" dirty="0">
                <a:solidFill>
                  <a:srgbClr val="F5F7FA"/>
                </a:solidFill>
                <a:latin typeface="Microsoft JhengHei" pitchFamily="34" charset="0"/>
                <a:ea typeface="Microsoft JhengHei" pitchFamily="34" charset="-122"/>
                <a:cs typeface="Microsoft JhengHei" pitchFamily="34" charset="-120"/>
              </a:rPr>
              <a:t>休息</a:t>
            </a:r>
            <a:endParaRPr lang="en-US" sz="1200" dirty="0"/>
          </a:p>
        </p:txBody>
      </p:sp>
      <p:sp>
        <p:nvSpPr>
          <p:cNvPr id="31" name="Text 29"/>
          <p:cNvSpPr txBox="1"/>
          <p:nvPr/>
        </p:nvSpPr>
        <p:spPr>
          <a:xfrm>
            <a:off x="6217920" y="2359152"/>
            <a:ext cx="1179576" cy="493776"/>
          </a:xfrm>
          <a:prstGeom prst="rect">
            <a:avLst/>
          </a:prstGeom>
          <a:noFill/>
          <a:ln/>
        </p:spPr>
        <p:txBody>
          <a:bodyPr wrap="square" lIns="0" tIns="0" rIns="0" bIns="0" rtlCol="0" anchor="t">
            <a:normAutofit/>
          </a:bodyPr>
          <a:lstStyle/>
          <a:p>
            <a:pPr algn="l" indent="0" marL="0">
              <a:buNone/>
            </a:pPr>
            <a:r>
              <a:rPr lang="en-US" sz="950" dirty="0">
                <a:solidFill>
                  <a:srgbClr val="93A4B6"/>
                </a:solidFill>
                <a:latin typeface="Microsoft JhengHei" pitchFamily="34" charset="0"/>
                <a:ea typeface="Microsoft JhengHei" pitchFamily="34" charset="-122"/>
                <a:cs typeface="Microsoft JhengHei" pitchFamily="34" charset="-120"/>
              </a:rPr>
              <a:t>15 分鐘</a:t>
            </a:r>
            <a:endParaRPr lang="en-US" sz="950" dirty="0"/>
          </a:p>
          <a:p>
            <a:pPr algn="l" indent="0" marL="0">
              <a:buNone/>
            </a:pPr>
            <a:r>
              <a:rPr lang="en-US" sz="950" dirty="0">
                <a:solidFill>
                  <a:srgbClr val="93A4B6"/>
                </a:solidFill>
                <a:latin typeface="Microsoft JhengHei" pitchFamily="34" charset="0"/>
                <a:ea typeface="Microsoft JhengHei" pitchFamily="34" charset="-122"/>
                <a:cs typeface="Microsoft JhengHei" pitchFamily="34" charset="-120"/>
              </a:rPr>
              <a:t>更換感測晶片</a:t>
            </a:r>
            <a:endParaRPr lang="en-US" sz="950" dirty="0"/>
          </a:p>
        </p:txBody>
      </p:sp>
      <p:sp>
        <p:nvSpPr>
          <p:cNvPr id="32" name="Shape 30"/>
          <p:cNvSpPr/>
          <p:nvPr/>
        </p:nvSpPr>
        <p:spPr>
          <a:xfrm>
            <a:off x="7653528" y="2240280"/>
            <a:ext cx="411480" cy="384048"/>
          </a:xfrm>
          <a:prstGeom prst="chevron">
            <a:avLst/>
          </a:prstGeom>
          <a:solidFill>
            <a:srgbClr val="27435A"/>
          </a:solidFill>
          <a:ln w="12700">
            <a:solidFill>
              <a:srgbClr val="27435A">
                <a:alpha val="0"/>
              </a:srgbClr>
            </a:solidFill>
            <a:prstDash val="solid"/>
          </a:ln>
        </p:spPr>
      </p:sp>
      <p:sp>
        <p:nvSpPr>
          <p:cNvPr id="33" name="Shape 31"/>
          <p:cNvSpPr/>
          <p:nvPr/>
        </p:nvSpPr>
        <p:spPr>
          <a:xfrm>
            <a:off x="8147304" y="1847088"/>
            <a:ext cx="2304288" cy="1170432"/>
          </a:xfrm>
          <a:prstGeom prst="roundRect">
            <a:avLst>
              <a:gd name="adj" fmla="val 6250"/>
            </a:avLst>
          </a:prstGeom>
          <a:solidFill>
            <a:srgbClr val="12263A"/>
          </a:solidFill>
          <a:ln w="15240">
            <a:solidFill>
              <a:srgbClr val="FF9B5E"/>
            </a:solidFill>
            <a:prstDash val="solid"/>
          </a:ln>
        </p:spPr>
      </p:sp>
      <p:sp>
        <p:nvSpPr>
          <p:cNvPr id="34" name="Shape 32"/>
          <p:cNvSpPr/>
          <p:nvPr/>
        </p:nvSpPr>
        <p:spPr>
          <a:xfrm>
            <a:off x="8266176" y="1975104"/>
            <a:ext cx="320040" cy="320040"/>
          </a:xfrm>
          <a:prstGeom prst="ellipse">
            <a:avLst/>
          </a:prstGeom>
          <a:solidFill>
            <a:srgbClr val="FF9B5E"/>
          </a:solidFill>
          <a:ln w="12700">
            <a:solidFill>
              <a:srgbClr val="FF9B5E">
                <a:alpha val="0"/>
              </a:srgbClr>
            </a:solidFill>
            <a:prstDash val="solid"/>
          </a:ln>
        </p:spPr>
      </p:sp>
      <p:sp>
        <p:nvSpPr>
          <p:cNvPr id="35" name="Text 33"/>
          <p:cNvSpPr txBox="1"/>
          <p:nvPr/>
        </p:nvSpPr>
        <p:spPr>
          <a:xfrm>
            <a:off x="8266176" y="2043684"/>
            <a:ext cx="320040" cy="146304"/>
          </a:xfrm>
          <a:prstGeom prst="rect">
            <a:avLst/>
          </a:prstGeom>
          <a:noFill/>
          <a:ln/>
        </p:spPr>
        <p:txBody>
          <a:bodyPr wrap="square" lIns="0" tIns="0" rIns="0" bIns="0" rtlCol="0" anchor="t">
            <a:normAutofit/>
          </a:bodyPr>
          <a:lstStyle/>
          <a:p>
            <a:pPr algn="ctr" indent="0" marL="0">
              <a:buNone/>
            </a:pPr>
            <a:r>
              <a:rPr lang="en-US" sz="900" b="1" dirty="0">
                <a:solidFill>
                  <a:srgbClr val="07111F"/>
                </a:solidFill>
                <a:latin typeface="Aptos" pitchFamily="34" charset="0"/>
                <a:ea typeface="Aptos" pitchFamily="34" charset="-122"/>
                <a:cs typeface="Aptos" pitchFamily="34" charset="-120"/>
              </a:rPr>
              <a:t>2</a:t>
            </a:r>
            <a:endParaRPr lang="en-US" sz="900" dirty="0"/>
          </a:p>
        </p:txBody>
      </p:sp>
      <p:sp>
        <p:nvSpPr>
          <p:cNvPr id="36" name="Text 34"/>
          <p:cNvSpPr txBox="1"/>
          <p:nvPr/>
        </p:nvSpPr>
        <p:spPr>
          <a:xfrm>
            <a:off x="8659368" y="1993392"/>
            <a:ext cx="1664208" cy="265176"/>
          </a:xfrm>
          <a:prstGeom prst="rect">
            <a:avLst/>
          </a:prstGeom>
          <a:noFill/>
          <a:ln/>
        </p:spPr>
        <p:txBody>
          <a:bodyPr wrap="square" lIns="0" tIns="0" rIns="0" bIns="0" rtlCol="0" anchor="t">
            <a:normAutofit/>
          </a:bodyPr>
          <a:lstStyle/>
          <a:p>
            <a:pPr algn="l" indent="0" marL="0">
              <a:buNone/>
            </a:pPr>
            <a:r>
              <a:rPr lang="en-US" sz="1200" b="1" dirty="0">
                <a:solidFill>
                  <a:srgbClr val="F5F7FA"/>
                </a:solidFill>
                <a:latin typeface="Microsoft JhengHei" pitchFamily="34" charset="0"/>
                <a:ea typeface="Microsoft JhengHei" pitchFamily="34" charset="-122"/>
                <a:cs typeface="Microsoft JhengHei" pitchFamily="34" charset="-120"/>
              </a:rPr>
              <a:t>Test 2｜10 分鐘</a:t>
            </a:r>
            <a:endParaRPr lang="en-US" sz="1200" dirty="0"/>
          </a:p>
        </p:txBody>
      </p:sp>
      <p:sp>
        <p:nvSpPr>
          <p:cNvPr id="37" name="Text 35"/>
          <p:cNvSpPr txBox="1"/>
          <p:nvPr/>
        </p:nvSpPr>
        <p:spPr>
          <a:xfrm>
            <a:off x="8311896" y="2359152"/>
            <a:ext cx="1975104" cy="493776"/>
          </a:xfrm>
          <a:prstGeom prst="rect">
            <a:avLst/>
          </a:prstGeom>
          <a:noFill/>
          <a:ln/>
        </p:spPr>
        <p:txBody>
          <a:bodyPr wrap="square" lIns="0" tIns="0" rIns="0" bIns="0" rtlCol="0" anchor="t">
            <a:normAutofit/>
          </a:bodyPr>
          <a:lstStyle/>
          <a:p>
            <a:pPr algn="l" indent="0" marL="0">
              <a:buNone/>
            </a:pPr>
            <a:r>
              <a:rPr lang="en-US" sz="950" dirty="0">
                <a:solidFill>
                  <a:srgbClr val="93A4B6"/>
                </a:solidFill>
                <a:latin typeface="Microsoft JhengHei" pitchFamily="34" charset="0"/>
                <a:ea typeface="Microsoft JhengHei" pitchFamily="34" charset="-122"/>
                <a:cs typeface="Microsoft JhengHei" pitchFamily="34" charset="-120"/>
              </a:rPr>
              <a:t>相同人、相同 25% PP</a:t>
            </a:r>
            <a:endParaRPr lang="en-US" sz="950" dirty="0"/>
          </a:p>
          <a:p>
            <a:pPr algn="l" indent="0" marL="0">
              <a:buNone/>
            </a:pPr>
            <a:r>
              <a:rPr lang="en-US" sz="950" dirty="0">
                <a:solidFill>
                  <a:srgbClr val="93A4B6"/>
                </a:solidFill>
                <a:latin typeface="Microsoft JhengHei" pitchFamily="34" charset="0"/>
                <a:ea typeface="Microsoft JhengHei" pitchFamily="34" charset="-122"/>
                <a:cs typeface="Microsoft JhengHei" pitchFamily="34" charset="-120"/>
              </a:rPr>
              <a:t>疲勞後再測</a:t>
            </a:r>
            <a:endParaRPr lang="en-US" sz="950" dirty="0"/>
          </a:p>
        </p:txBody>
      </p:sp>
      <p:sp>
        <p:nvSpPr>
          <p:cNvPr id="38" name="Shape 36"/>
          <p:cNvSpPr/>
          <p:nvPr/>
        </p:nvSpPr>
        <p:spPr>
          <a:xfrm>
            <a:off x="10543032" y="2240280"/>
            <a:ext cx="329184" cy="384048"/>
          </a:xfrm>
          <a:prstGeom prst="chevron">
            <a:avLst/>
          </a:prstGeom>
          <a:solidFill>
            <a:srgbClr val="27435A"/>
          </a:solidFill>
          <a:ln w="12700">
            <a:solidFill>
              <a:srgbClr val="27435A">
                <a:alpha val="0"/>
              </a:srgbClr>
            </a:solidFill>
            <a:prstDash val="solid"/>
          </a:ln>
        </p:spPr>
      </p:sp>
      <p:sp>
        <p:nvSpPr>
          <p:cNvPr id="39" name="Shape 37"/>
          <p:cNvSpPr/>
          <p:nvPr/>
        </p:nvSpPr>
        <p:spPr>
          <a:xfrm>
            <a:off x="10945368" y="1847088"/>
            <a:ext cx="640080" cy="1170432"/>
          </a:xfrm>
          <a:prstGeom prst="roundRect">
            <a:avLst>
              <a:gd name="adj" fmla="val 11429"/>
            </a:avLst>
          </a:prstGeom>
          <a:solidFill>
            <a:srgbClr val="12263A"/>
          </a:solidFill>
          <a:ln w="15240">
            <a:solidFill>
              <a:srgbClr val="B7F06A"/>
            </a:solidFill>
            <a:prstDash val="solid"/>
          </a:ln>
        </p:spPr>
      </p:sp>
      <p:sp>
        <p:nvSpPr>
          <p:cNvPr id="40" name="Shape 38"/>
          <p:cNvSpPr/>
          <p:nvPr/>
        </p:nvSpPr>
        <p:spPr>
          <a:xfrm>
            <a:off x="11064240" y="1975104"/>
            <a:ext cx="320040" cy="320040"/>
          </a:xfrm>
          <a:prstGeom prst="ellipse">
            <a:avLst/>
          </a:prstGeom>
          <a:solidFill>
            <a:srgbClr val="B7F06A"/>
          </a:solidFill>
          <a:ln w="12700">
            <a:solidFill>
              <a:srgbClr val="B7F06A">
                <a:alpha val="0"/>
              </a:srgbClr>
            </a:solidFill>
            <a:prstDash val="solid"/>
          </a:ln>
        </p:spPr>
      </p:sp>
      <p:sp>
        <p:nvSpPr>
          <p:cNvPr id="41" name="Text 39"/>
          <p:cNvSpPr txBox="1"/>
          <p:nvPr/>
        </p:nvSpPr>
        <p:spPr>
          <a:xfrm>
            <a:off x="11064240" y="2043684"/>
            <a:ext cx="320040" cy="146304"/>
          </a:xfrm>
          <a:prstGeom prst="rect">
            <a:avLst/>
          </a:prstGeom>
          <a:noFill/>
          <a:ln/>
        </p:spPr>
        <p:txBody>
          <a:bodyPr wrap="square" lIns="0" tIns="0" rIns="0" bIns="0" rtlCol="0" anchor="t">
            <a:normAutofit/>
          </a:bodyPr>
          <a:lstStyle/>
          <a:p>
            <a:pPr algn="ctr" indent="0" marL="0">
              <a:buNone/>
            </a:pPr>
            <a:r>
              <a:rPr lang="en-US" sz="900" b="1" dirty="0">
                <a:solidFill>
                  <a:srgbClr val="07111F"/>
                </a:solidFill>
                <a:latin typeface="Aptos" pitchFamily="34" charset="0"/>
                <a:ea typeface="Aptos" pitchFamily="34" charset="-122"/>
                <a:cs typeface="Aptos" pitchFamily="34" charset="-120"/>
              </a:rPr>
              <a:t>✓</a:t>
            </a:r>
            <a:endParaRPr lang="en-US" sz="900" dirty="0"/>
          </a:p>
        </p:txBody>
      </p:sp>
      <p:sp>
        <p:nvSpPr>
          <p:cNvPr id="42" name="Text 40"/>
          <p:cNvSpPr txBox="1"/>
          <p:nvPr/>
        </p:nvSpPr>
        <p:spPr>
          <a:xfrm>
            <a:off x="11457432" y="1993392"/>
            <a:ext cx="0" cy="265176"/>
          </a:xfrm>
          <a:prstGeom prst="rect">
            <a:avLst/>
          </a:prstGeom>
          <a:noFill/>
          <a:ln/>
        </p:spPr>
        <p:txBody>
          <a:bodyPr wrap="square" lIns="0" tIns="0" rIns="0" bIns="0" rtlCol="0" anchor="t">
            <a:normAutofit/>
          </a:bodyPr>
          <a:lstStyle/>
          <a:p>
            <a:pPr algn="l" indent="0" marL="0">
              <a:buNone/>
            </a:pPr>
            <a:r>
              <a:rPr lang="en-US" sz="1200" b="1" dirty="0">
                <a:solidFill>
                  <a:srgbClr val="F5F7FA"/>
                </a:solidFill>
                <a:latin typeface="Microsoft JhengHei" pitchFamily="34" charset="0"/>
                <a:ea typeface="Microsoft JhengHei" pitchFamily="34" charset="-122"/>
                <a:cs typeface="Microsoft JhengHei" pitchFamily="34" charset="-120"/>
              </a:rPr>
              <a:t>比較</a:t>
            </a:r>
            <a:endParaRPr lang="en-US" sz="1200" dirty="0"/>
          </a:p>
        </p:txBody>
      </p:sp>
      <p:sp>
        <p:nvSpPr>
          <p:cNvPr id="43" name="Text 41"/>
          <p:cNvSpPr txBox="1"/>
          <p:nvPr/>
        </p:nvSpPr>
        <p:spPr>
          <a:xfrm>
            <a:off x="11109960" y="2359152"/>
            <a:ext cx="310896" cy="493776"/>
          </a:xfrm>
          <a:prstGeom prst="rect">
            <a:avLst/>
          </a:prstGeom>
          <a:noFill/>
          <a:ln/>
        </p:spPr>
        <p:txBody>
          <a:bodyPr wrap="square" lIns="0" tIns="0" rIns="0" bIns="0" rtlCol="0" anchor="t">
            <a:normAutofit/>
          </a:bodyPr>
          <a:lstStyle/>
          <a:p>
            <a:pPr algn="l" indent="0" marL="0">
              <a:buNone/>
            </a:pPr>
            <a:r>
              <a:rPr lang="en-US" sz="950" dirty="0">
                <a:solidFill>
                  <a:srgbClr val="93A4B6"/>
                </a:solidFill>
                <a:latin typeface="Microsoft JhengHei" pitchFamily="34" charset="0"/>
                <a:ea typeface="Microsoft JhengHei" pitchFamily="34" charset="-122"/>
                <a:cs typeface="Microsoft JhengHei" pitchFamily="34" charset="-120"/>
              </a:rPr>
              <a:t>時間</a:t>
            </a:r>
            <a:endParaRPr lang="en-US" sz="950" dirty="0"/>
          </a:p>
          <a:p>
            <a:pPr algn="l" indent="0" marL="0">
              <a:buNone/>
            </a:pPr>
            <a:r>
              <a:rPr lang="en-US" sz="950" dirty="0">
                <a:solidFill>
                  <a:srgbClr val="93A4B6"/>
                </a:solidFill>
                <a:latin typeface="Microsoft JhengHei" pitchFamily="34" charset="0"/>
                <a:ea typeface="Microsoft JhengHei" pitchFamily="34" charset="-122"/>
                <a:cs typeface="Microsoft JhengHei" pitchFamily="34" charset="-120"/>
              </a:rPr>
              <a:t>左移？</a:t>
            </a:r>
            <a:endParaRPr lang="en-US" sz="950" dirty="0"/>
          </a:p>
        </p:txBody>
      </p:sp>
      <p:sp>
        <p:nvSpPr>
          <p:cNvPr id="44" name="Shape 42"/>
          <p:cNvSpPr/>
          <p:nvPr/>
        </p:nvSpPr>
        <p:spPr>
          <a:xfrm>
            <a:off x="640080" y="3474720"/>
            <a:ext cx="5394960" cy="2377440"/>
          </a:xfrm>
          <a:prstGeom prst="roundRect">
            <a:avLst>
              <a:gd name="adj" fmla="val 3077"/>
            </a:avLst>
          </a:prstGeom>
          <a:solidFill>
            <a:srgbClr val="0E1D2E"/>
          </a:solidFill>
          <a:ln w="12700">
            <a:solidFill>
              <a:srgbClr val="1E3A52"/>
            </a:solidFill>
            <a:prstDash val="solid"/>
          </a:ln>
        </p:spPr>
      </p:sp>
      <p:sp>
        <p:nvSpPr>
          <p:cNvPr id="45" name="Text 43"/>
          <p:cNvSpPr txBox="1"/>
          <p:nvPr/>
        </p:nvSpPr>
        <p:spPr>
          <a:xfrm>
            <a:off x="896112" y="3730752"/>
            <a:ext cx="1645920" cy="201168"/>
          </a:xfrm>
          <a:prstGeom prst="rect">
            <a:avLst/>
          </a:prstGeom>
          <a:noFill/>
          <a:ln/>
        </p:spPr>
        <p:txBody>
          <a:bodyPr wrap="square" lIns="0" tIns="0" rIns="0" bIns="0" rtlCol="0" anchor="t">
            <a:normAutofit/>
          </a:bodyPr>
          <a:lstStyle/>
          <a:p>
            <a:pPr algn="l" indent="0" marL="0">
              <a:buNone/>
            </a:pPr>
            <a:r>
              <a:rPr lang="en-US" sz="950" b="1" spc="40" kern="0" dirty="0">
                <a:solidFill>
                  <a:srgbClr val="20D4C7"/>
                </a:solidFill>
                <a:latin typeface="Microsoft JhengHei" pitchFamily="34" charset="0"/>
                <a:ea typeface="Microsoft JhengHei" pitchFamily="34" charset="-122"/>
                <a:cs typeface="Microsoft JhengHei" pitchFamily="34" charset="-120"/>
              </a:rPr>
              <a:t>量測內容</a:t>
            </a:r>
            <a:endParaRPr lang="en-US" sz="950" dirty="0"/>
          </a:p>
        </p:txBody>
      </p:sp>
      <p:sp>
        <p:nvSpPr>
          <p:cNvPr id="46" name="Shape 44"/>
          <p:cNvSpPr/>
          <p:nvPr/>
        </p:nvSpPr>
        <p:spPr>
          <a:xfrm>
            <a:off x="914400" y="4151376"/>
            <a:ext cx="128016" cy="128016"/>
          </a:xfrm>
          <a:prstGeom prst="ellipse">
            <a:avLst/>
          </a:prstGeom>
          <a:solidFill>
            <a:srgbClr val="20D4C7"/>
          </a:solidFill>
          <a:ln w="12700">
            <a:solidFill>
              <a:srgbClr val="20D4C7">
                <a:alpha val="0"/>
              </a:srgbClr>
            </a:solidFill>
            <a:prstDash val="solid"/>
          </a:ln>
        </p:spPr>
      </p:sp>
      <p:sp>
        <p:nvSpPr>
          <p:cNvPr id="47" name="Text 45"/>
          <p:cNvSpPr txBox="1"/>
          <p:nvPr/>
        </p:nvSpPr>
        <p:spPr>
          <a:xfrm>
            <a:off x="1124712" y="4114800"/>
            <a:ext cx="4453128"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汗乳酸感測器</a:t>
            </a:r>
            <a:endParaRPr lang="en-US" sz="1250" dirty="0"/>
          </a:p>
        </p:txBody>
      </p:sp>
      <p:sp>
        <p:nvSpPr>
          <p:cNvPr id="48" name="Text 46"/>
          <p:cNvSpPr txBox="1"/>
          <p:nvPr/>
        </p:nvSpPr>
        <p:spPr>
          <a:xfrm>
            <a:off x="1124712" y="4379976"/>
            <a:ext cx="4453128" cy="420624"/>
          </a:xfrm>
          <a:prstGeom prst="rect">
            <a:avLst/>
          </a:prstGeom>
          <a:noFill/>
          <a:ln/>
        </p:spPr>
        <p:txBody>
          <a:bodyPr wrap="square" lIns="0" tIns="0" rIns="0" bIns="0" rtlCol="0" anchor="t">
            <a:normAutofit/>
          </a:bodyPr>
          <a:lstStyle/>
          <a:p>
            <a:pPr algn="l" indent="0" marL="0">
              <a:buNone/>
            </a:pPr>
            <a:r>
              <a:rPr lang="en-US" sz="1050" dirty="0">
                <a:solidFill>
                  <a:srgbClr val="93A4B6"/>
                </a:solidFill>
                <a:latin typeface="Microsoft JhengHei" pitchFamily="34" charset="0"/>
                <a:ea typeface="Microsoft JhengHei" pitchFamily="34" charset="-122"/>
                <a:cs typeface="Microsoft JhengHei" pitchFamily="34" charset="-120"/>
              </a:rPr>
              <a:t>上臂與額頭；0.1–80 μA，1 Hz，13 秒移動平均、基線歸零。</a:t>
            </a:r>
            <a:endParaRPr lang="en-US" sz="1050" dirty="0"/>
          </a:p>
        </p:txBody>
      </p:sp>
      <p:sp>
        <p:nvSpPr>
          <p:cNvPr id="49" name="Shape 47"/>
          <p:cNvSpPr/>
          <p:nvPr/>
        </p:nvSpPr>
        <p:spPr>
          <a:xfrm>
            <a:off x="914400" y="4910328"/>
            <a:ext cx="128016" cy="128016"/>
          </a:xfrm>
          <a:prstGeom prst="ellipse">
            <a:avLst/>
          </a:prstGeom>
          <a:solidFill>
            <a:srgbClr val="6BB7FF"/>
          </a:solidFill>
          <a:ln w="12700">
            <a:solidFill>
              <a:srgbClr val="6BB7FF">
                <a:alpha val="0"/>
              </a:srgbClr>
            </a:solidFill>
            <a:prstDash val="solid"/>
          </a:ln>
        </p:spPr>
      </p:sp>
      <p:sp>
        <p:nvSpPr>
          <p:cNvPr id="50" name="Text 48"/>
          <p:cNvSpPr txBox="1"/>
          <p:nvPr/>
        </p:nvSpPr>
        <p:spPr>
          <a:xfrm>
            <a:off x="1124712" y="4873752"/>
            <a:ext cx="4453128"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局部汗率</a:t>
            </a:r>
            <a:endParaRPr lang="en-US" sz="1250" dirty="0"/>
          </a:p>
        </p:txBody>
      </p:sp>
      <p:sp>
        <p:nvSpPr>
          <p:cNvPr id="51" name="Text 49"/>
          <p:cNvSpPr txBox="1"/>
          <p:nvPr/>
        </p:nvSpPr>
        <p:spPr>
          <a:xfrm>
            <a:off x="1124712" y="5138928"/>
            <a:ext cx="4453128" cy="420624"/>
          </a:xfrm>
          <a:prstGeom prst="rect">
            <a:avLst/>
          </a:prstGeom>
          <a:noFill/>
          <a:ln/>
        </p:spPr>
        <p:txBody>
          <a:bodyPr wrap="square" lIns="0" tIns="0" rIns="0" bIns="0" rtlCol="0" anchor="t">
            <a:normAutofit/>
          </a:bodyPr>
          <a:lstStyle/>
          <a:p>
            <a:pPr algn="l" indent="0" marL="0">
              <a:buNone/>
            </a:pPr>
            <a:r>
              <a:rPr lang="en-US" sz="1050" dirty="0">
                <a:solidFill>
                  <a:srgbClr val="93A4B6"/>
                </a:solidFill>
                <a:latin typeface="Microsoft JhengHei" pitchFamily="34" charset="0"/>
                <a:ea typeface="Microsoft JhengHei" pitchFamily="34" charset="-122"/>
                <a:cs typeface="Microsoft JhengHei" pitchFamily="34" charset="-120"/>
              </a:rPr>
              <a:t>上臂同步量測；主分析把感測電流乘上汗率，形成單位面積乳酸排出指標。</a:t>
            </a:r>
            <a:endParaRPr lang="en-US" sz="1050" dirty="0"/>
          </a:p>
        </p:txBody>
      </p:sp>
      <p:sp>
        <p:nvSpPr>
          <p:cNvPr id="52" name="Shape 50"/>
          <p:cNvSpPr/>
          <p:nvPr/>
        </p:nvSpPr>
        <p:spPr>
          <a:xfrm>
            <a:off x="6254496" y="3474720"/>
            <a:ext cx="5321808" cy="2377440"/>
          </a:xfrm>
          <a:prstGeom prst="roundRect">
            <a:avLst>
              <a:gd name="adj" fmla="val 3077"/>
            </a:avLst>
          </a:prstGeom>
          <a:solidFill>
            <a:srgbClr val="12263A"/>
          </a:solidFill>
          <a:ln w="12700">
            <a:solidFill>
              <a:srgbClr val="FF9B5E"/>
            </a:solidFill>
            <a:prstDash val="solid"/>
          </a:ln>
        </p:spPr>
      </p:sp>
      <p:sp>
        <p:nvSpPr>
          <p:cNvPr id="53" name="Text 51"/>
          <p:cNvSpPr txBox="1"/>
          <p:nvPr/>
        </p:nvSpPr>
        <p:spPr>
          <a:xfrm>
            <a:off x="6528816" y="3730752"/>
            <a:ext cx="2560320" cy="201168"/>
          </a:xfrm>
          <a:prstGeom prst="rect">
            <a:avLst/>
          </a:prstGeom>
          <a:noFill/>
          <a:ln/>
        </p:spPr>
        <p:txBody>
          <a:bodyPr wrap="square" lIns="0" tIns="0" rIns="0" bIns="0" rtlCol="0" anchor="t">
            <a:normAutofit/>
          </a:bodyPr>
          <a:lstStyle/>
          <a:p>
            <a:pPr algn="l" indent="0" marL="0">
              <a:buNone/>
            </a:pPr>
            <a:r>
              <a:rPr lang="en-US" sz="950" b="1" spc="40" kern="0" dirty="0">
                <a:solidFill>
                  <a:srgbClr val="FF9B5E"/>
                </a:solidFill>
                <a:latin typeface="Microsoft JhengHei" pitchFamily="34" charset="0"/>
                <a:ea typeface="Microsoft JhengHei" pitchFamily="34" charset="-122"/>
                <a:cs typeface="Microsoft JhengHei" pitchFamily="34" charset="-120"/>
              </a:rPr>
              <a:t>對 LA-01 最重要的細節</a:t>
            </a:r>
            <a:endParaRPr lang="en-US" sz="950" dirty="0"/>
          </a:p>
        </p:txBody>
      </p:sp>
      <p:sp>
        <p:nvSpPr>
          <p:cNvPr id="54" name="Text 52"/>
          <p:cNvSpPr txBox="1"/>
          <p:nvPr/>
        </p:nvSpPr>
        <p:spPr>
          <a:xfrm>
            <a:off x="6528816" y="4114800"/>
            <a:ext cx="4663440" cy="310896"/>
          </a:xfrm>
          <a:prstGeom prst="rect">
            <a:avLst/>
          </a:prstGeom>
          <a:noFill/>
          <a:ln/>
        </p:spPr>
        <p:txBody>
          <a:bodyPr wrap="square" lIns="0" tIns="0" rIns="0" bIns="0" rtlCol="0" anchor="t">
            <a:normAutofit/>
          </a:bodyPr>
          <a:lstStyle/>
          <a:p>
            <a:pPr algn="l" indent="0" marL="0">
              <a:buNone/>
            </a:pPr>
            <a:r>
              <a:rPr lang="en-US" sz="1550" b="1" dirty="0">
                <a:solidFill>
                  <a:srgbClr val="F5F7FA"/>
                </a:solidFill>
                <a:latin typeface="Microsoft JhengHei" pitchFamily="34" charset="0"/>
                <a:ea typeface="Microsoft JhengHei" pitchFamily="34" charset="-122"/>
                <a:cs typeface="Microsoft JhengHei" pitchFamily="34" charset="-120"/>
              </a:rPr>
              <a:t>研究的主要「左移」結果不是純汗乳酸濃度。</a:t>
            </a:r>
            <a:endParaRPr lang="en-US" sz="1550" dirty="0"/>
          </a:p>
        </p:txBody>
      </p:sp>
      <p:sp>
        <p:nvSpPr>
          <p:cNvPr id="55" name="Text 53"/>
          <p:cNvSpPr txBox="1"/>
          <p:nvPr/>
        </p:nvSpPr>
        <p:spPr>
          <a:xfrm>
            <a:off x="6528816" y="4599432"/>
            <a:ext cx="4462272" cy="658368"/>
          </a:xfrm>
          <a:prstGeom prst="rect">
            <a:avLst/>
          </a:prstGeom>
          <a:noFill/>
          <a:ln/>
        </p:spPr>
        <p:txBody>
          <a:bodyPr wrap="square" lIns="0" tIns="0" rIns="0" bIns="0" rtlCol="0" anchor="t">
            <a:normAutofit/>
          </a:bodyPr>
          <a:lstStyle/>
          <a:p>
            <a:pPr algn="ctr" indent="0" marL="0">
              <a:buNone/>
            </a:pPr>
            <a:r>
              <a:rPr lang="en-US" sz="1700" b="1" dirty="0">
                <a:solidFill>
                  <a:srgbClr val="FFC09B"/>
                </a:solidFill>
                <a:latin typeface="Microsoft JhengHei" pitchFamily="34" charset="0"/>
                <a:ea typeface="Microsoft JhengHei" pitchFamily="34" charset="-122"/>
                <a:cs typeface="Microsoft JhengHei" pitchFamily="34" charset="-120"/>
              </a:rPr>
              <a:t>感測電流（μA） × 局部汗率</a:t>
            </a:r>
            <a:endParaRPr lang="en-US" sz="1700" dirty="0"/>
          </a:p>
          <a:p>
            <a:pPr algn="ctr" indent="0" marL="0">
              <a:buNone/>
            </a:pPr>
            <a:r>
              <a:rPr lang="en-US" sz="1700" b="1" dirty="0">
                <a:solidFill>
                  <a:srgbClr val="FFC09B"/>
                </a:solidFill>
                <a:latin typeface="Microsoft JhengHei" pitchFamily="34" charset="0"/>
                <a:ea typeface="Microsoft JhengHei" pitchFamily="34" charset="-122"/>
                <a:cs typeface="Microsoft JhengHei" pitchFamily="34" charset="-120"/>
              </a:rPr>
              <a:t>→ 汗乳酸排出／單位面積曲線</a:t>
            </a:r>
            <a:endParaRPr lang="en-US" sz="1700" dirty="0"/>
          </a:p>
        </p:txBody>
      </p:sp>
      <p:sp>
        <p:nvSpPr>
          <p:cNvPr id="56" name="Text 54"/>
          <p:cNvSpPr txBox="1"/>
          <p:nvPr/>
        </p:nvSpPr>
        <p:spPr>
          <a:xfrm>
            <a:off x="6528816" y="5404104"/>
            <a:ext cx="4617720" cy="256032"/>
          </a:xfrm>
          <a:prstGeom prst="rect">
            <a:avLst/>
          </a:prstGeom>
          <a:noFill/>
          <a:ln/>
        </p:spPr>
        <p:txBody>
          <a:bodyPr wrap="square" lIns="0" tIns="0" rIns="0" bIns="0" rtlCol="0" anchor="t">
            <a:normAutofit/>
          </a:bodyPr>
          <a:lstStyle/>
          <a:p>
            <a:pPr algn="ctr" indent="0" marL="0">
              <a:buNone/>
            </a:pPr>
            <a:r>
              <a:rPr lang="en-US" sz="1100" b="1" dirty="0">
                <a:solidFill>
                  <a:srgbClr val="D8E2EC"/>
                </a:solidFill>
                <a:latin typeface="Microsoft JhengHei" pitchFamily="34" charset="0"/>
                <a:ea typeface="Microsoft JhengHei" pitchFamily="34" charset="-122"/>
                <a:cs typeface="Microsoft JhengHei" pitchFamily="34" charset="-120"/>
              </a:rPr>
              <a:t>若系統只收濃度、沒有汗率，證據不能原封不動移植。</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0D4C7"/>
          </a:solidFill>
          <a:ln w="12700">
            <a:solidFill>
              <a:srgbClr val="20D4C7">
                <a:alpha val="0"/>
              </a:srgbClr>
            </a:solidFill>
            <a:prstDash val="solid"/>
          </a:ln>
        </p:spPr>
      </p:sp>
      <p:sp>
        <p:nvSpPr>
          <p:cNvPr id="3" name="Shape 1"/>
          <p:cNvSpPr/>
          <p:nvPr/>
        </p:nvSpPr>
        <p:spPr>
          <a:xfrm>
            <a:off x="10561320" y="-658368"/>
            <a:ext cx="2194560" cy="2194560"/>
          </a:xfrm>
          <a:prstGeom prst="ellipse">
            <a:avLst/>
          </a:prstGeom>
          <a:solidFill>
            <a:srgbClr val="20D4C7">
              <a:alpha val="8000"/>
            </a:srgbClr>
          </a:solidFill>
          <a:ln w="12700">
            <a:solidFill>
              <a:srgbClr val="20D4C7">
                <a:alpha val="0"/>
              </a:srgbClr>
            </a:solidFill>
            <a:prstDash val="solid"/>
          </a:ln>
        </p:spPr>
      </p:sp>
      <p:sp>
        <p:nvSpPr>
          <p:cNvPr id="4" name="Shape 2"/>
          <p:cNvSpPr/>
          <p:nvPr/>
        </p:nvSpPr>
        <p:spPr>
          <a:xfrm>
            <a:off x="502920" y="841248"/>
            <a:ext cx="11155680" cy="0"/>
          </a:xfrm>
          <a:prstGeom prst="line">
            <a:avLst/>
          </a:prstGeom>
          <a:noFill/>
          <a:ln w="12700">
            <a:solidFill>
              <a:srgbClr val="1E3A52"/>
            </a:solidFill>
            <a:prstDash val="solid"/>
          </a:ln>
        </p:spPr>
      </p:sp>
      <p:sp>
        <p:nvSpPr>
          <p:cNvPr id="5" name="Text 3"/>
          <p:cNvSpPr/>
          <p:nvPr/>
        </p:nvSpPr>
        <p:spPr>
          <a:xfrm>
            <a:off x="566928" y="237744"/>
            <a:ext cx="2926080" cy="219456"/>
          </a:xfrm>
          <a:prstGeom prst="rect">
            <a:avLst/>
          </a:prstGeom>
          <a:noFill/>
          <a:ln/>
        </p:spPr>
        <p:txBody>
          <a:bodyPr wrap="square" lIns="0" tIns="0" rIns="0" bIns="0" rtlCol="0" anchor="ctr">
            <a:normAutofit/>
          </a:bodyPr>
          <a:lstStyle/>
          <a:p>
            <a:pPr indent="0" marL="0">
              <a:buNone/>
            </a:pPr>
            <a:r>
              <a:rPr lang="en-US" sz="850" b="1" spc="130" kern="0" dirty="0">
                <a:solidFill>
                  <a:srgbClr val="20D4C7"/>
                </a:solidFill>
                <a:latin typeface="Aptos" pitchFamily="34" charset="0"/>
                <a:ea typeface="Aptos" pitchFamily="34" charset="-122"/>
                <a:cs typeface="Aptos" pitchFamily="34" charset="-120"/>
              </a:rPr>
              <a:t>STUDY 01 · MAIN FINDING</a:t>
            </a:r>
            <a:endParaRPr lang="en-US" sz="850" dirty="0"/>
          </a:p>
        </p:txBody>
      </p:sp>
      <p:sp>
        <p:nvSpPr>
          <p:cNvPr id="6" name="Text 4"/>
          <p:cNvSpPr/>
          <p:nvPr/>
        </p:nvSpPr>
        <p:spPr>
          <a:xfrm>
            <a:off x="566928" y="420624"/>
            <a:ext cx="10881360" cy="365760"/>
          </a:xfrm>
          <a:prstGeom prst="rect">
            <a:avLst/>
          </a:prstGeom>
          <a:noFill/>
          <a:ln/>
        </p:spPr>
        <p:txBody>
          <a:bodyPr wrap="square" lIns="0" tIns="0" rIns="0" bIns="0" rtlCol="0" anchor="ctr">
            <a:normAutofit/>
          </a:bodyPr>
          <a:lstStyle/>
          <a:p>
            <a:pPr indent="0" marL="0">
              <a:buNone/>
            </a:pPr>
            <a:r>
              <a:rPr lang="en-US" sz="2300" b="1" dirty="0">
                <a:solidFill>
                  <a:srgbClr val="F5F7FA"/>
                </a:solidFill>
                <a:latin typeface="Microsoft JhengHei" pitchFamily="34" charset="0"/>
                <a:ea typeface="Microsoft JhengHei" pitchFamily="34" charset="-122"/>
                <a:cs typeface="Microsoft JhengHei" pitchFamily="34" charset="-120"/>
              </a:rPr>
              <a:t>研究 1｜「左移」到底長什麼樣？</a:t>
            </a:r>
            <a:endParaRPr lang="en-US" sz="2300" dirty="0"/>
          </a:p>
        </p:txBody>
      </p:sp>
      <p:sp>
        <p:nvSpPr>
          <p:cNvPr id="7" name="Text 5"/>
          <p:cNvSpPr/>
          <p:nvPr/>
        </p:nvSpPr>
        <p:spPr>
          <a:xfrm>
            <a:off x="11109960" y="6519672"/>
            <a:ext cx="502920" cy="164592"/>
          </a:xfrm>
          <a:prstGeom prst="rect">
            <a:avLst/>
          </a:prstGeom>
          <a:noFill/>
          <a:ln/>
        </p:spPr>
        <p:txBody>
          <a:bodyPr wrap="square" lIns="0" tIns="0" rIns="0" bIns="0" rtlCol="0" anchor="ctr"/>
          <a:lstStyle/>
          <a:p>
            <a:pPr algn="r" indent="0" marL="0">
              <a:buNone/>
            </a:pPr>
            <a:r>
              <a:rPr lang="en-US" sz="850" b="1" dirty="0">
                <a:solidFill>
                  <a:srgbClr val="20D4C7"/>
                </a:solidFill>
                <a:latin typeface="Aptos" pitchFamily="34" charset="0"/>
                <a:ea typeface="Aptos" pitchFamily="34" charset="-122"/>
                <a:cs typeface="Aptos" pitchFamily="34" charset="-120"/>
              </a:rPr>
              <a:t>05</a:t>
            </a:r>
            <a:endParaRPr lang="en-US" sz="850" dirty="0"/>
          </a:p>
        </p:txBody>
      </p:sp>
      <p:sp>
        <p:nvSpPr>
          <p:cNvPr id="8" name="Text 6"/>
          <p:cNvSpPr/>
          <p:nvPr/>
        </p:nvSpPr>
        <p:spPr>
          <a:xfrm>
            <a:off x="566928" y="6492240"/>
            <a:ext cx="9966960" cy="182880"/>
          </a:xfrm>
          <a:prstGeom prst="rect">
            <a:avLst/>
          </a:prstGeom>
          <a:noFill/>
          <a:ln/>
        </p:spPr>
        <p:txBody>
          <a:bodyPr wrap="square" lIns="0" tIns="0" rIns="0" bIns="0" rtlCol="0" anchor="ctr">
            <a:normAutofit/>
          </a:bodyPr>
          <a:lstStyle/>
          <a:p>
            <a:pPr indent="0" marL="0">
              <a:buNone/>
            </a:pPr>
            <a:r>
              <a:rPr lang="en-US" sz="730" dirty="0">
                <a:solidFill>
                  <a:srgbClr val="93A4B6"/>
                </a:solidFill>
                <a:latin typeface="Microsoft JhengHei" pitchFamily="34" charset="0"/>
                <a:ea typeface="Microsoft JhengHei" pitchFamily="34" charset="-122"/>
                <a:cs typeface="Microsoft JhengHei" pitchFamily="34" charset="-120"/>
              </a:rPr>
              <a:t>Study 1 · Table 2 / Figures 3–4（曲線為依結果重繪之示意，不是原始逐點資料）</a:t>
            </a:r>
            <a:endParaRPr lang="en-US" sz="730" dirty="0"/>
          </a:p>
        </p:txBody>
      </p:sp>
      <p:sp>
        <p:nvSpPr>
          <p:cNvPr id="9" name="Shape 7"/>
          <p:cNvSpPr/>
          <p:nvPr/>
        </p:nvSpPr>
        <p:spPr>
          <a:xfrm>
            <a:off x="603504" y="1188720"/>
            <a:ext cx="6967728" cy="4992624"/>
          </a:xfrm>
          <a:prstGeom prst="roundRect">
            <a:avLst>
              <a:gd name="adj" fmla="val 1465"/>
            </a:avLst>
          </a:prstGeom>
          <a:solidFill>
            <a:srgbClr val="0E1D2E"/>
          </a:solidFill>
          <a:ln w="12700">
            <a:solidFill>
              <a:srgbClr val="1E3A52"/>
            </a:solidFill>
            <a:prstDash val="solid"/>
          </a:ln>
        </p:spPr>
      </p:sp>
      <p:sp>
        <p:nvSpPr>
          <p:cNvPr id="10" name="Shape 8"/>
          <p:cNvSpPr/>
          <p:nvPr/>
        </p:nvSpPr>
        <p:spPr>
          <a:xfrm>
            <a:off x="1078992" y="5102352"/>
            <a:ext cx="5907024" cy="0"/>
          </a:xfrm>
          <a:prstGeom prst="line">
            <a:avLst/>
          </a:prstGeom>
          <a:noFill/>
          <a:ln w="15240">
            <a:solidFill>
              <a:srgbClr val="93A4B6"/>
            </a:solidFill>
            <a:prstDash val="solid"/>
            <a:tailEnd type="triangle"/>
          </a:ln>
        </p:spPr>
      </p:sp>
      <p:sp>
        <p:nvSpPr>
          <p:cNvPr id="11" name="Shape 9"/>
          <p:cNvSpPr/>
          <p:nvPr/>
        </p:nvSpPr>
        <p:spPr>
          <a:xfrm>
            <a:off x="1078992" y="1691640"/>
            <a:ext cx="0" cy="3410712"/>
          </a:xfrm>
          <a:prstGeom prst="line">
            <a:avLst/>
          </a:prstGeom>
          <a:noFill/>
          <a:ln w="15240">
            <a:solidFill>
              <a:srgbClr val="93A4B6"/>
            </a:solidFill>
            <a:prstDash val="solid"/>
            <a:headEnd type="triangle"/>
          </a:ln>
        </p:spPr>
      </p:sp>
      <p:sp>
        <p:nvSpPr>
          <p:cNvPr id="12" name="Shape 10"/>
          <p:cNvSpPr/>
          <p:nvPr/>
        </p:nvSpPr>
        <p:spPr>
          <a:xfrm>
            <a:off x="1078992" y="4420210"/>
            <a:ext cx="5907024" cy="0"/>
          </a:xfrm>
          <a:prstGeom prst="line">
            <a:avLst/>
          </a:prstGeom>
          <a:noFill/>
          <a:ln w="8890">
            <a:solidFill>
              <a:srgbClr val="27435A"/>
            </a:solidFill>
            <a:prstDash val="solid"/>
          </a:ln>
        </p:spPr>
      </p:sp>
      <p:sp>
        <p:nvSpPr>
          <p:cNvPr id="13" name="Shape 11"/>
          <p:cNvSpPr/>
          <p:nvPr/>
        </p:nvSpPr>
        <p:spPr>
          <a:xfrm>
            <a:off x="1078992" y="3738067"/>
            <a:ext cx="5907024" cy="0"/>
          </a:xfrm>
          <a:prstGeom prst="line">
            <a:avLst/>
          </a:prstGeom>
          <a:noFill/>
          <a:ln w="8890">
            <a:solidFill>
              <a:srgbClr val="27435A"/>
            </a:solidFill>
            <a:prstDash val="solid"/>
          </a:ln>
        </p:spPr>
      </p:sp>
      <p:sp>
        <p:nvSpPr>
          <p:cNvPr id="14" name="Shape 12"/>
          <p:cNvSpPr/>
          <p:nvPr/>
        </p:nvSpPr>
        <p:spPr>
          <a:xfrm>
            <a:off x="1078992" y="3055925"/>
            <a:ext cx="5907024" cy="0"/>
          </a:xfrm>
          <a:prstGeom prst="line">
            <a:avLst/>
          </a:prstGeom>
          <a:noFill/>
          <a:ln w="8890">
            <a:solidFill>
              <a:srgbClr val="27435A"/>
            </a:solidFill>
            <a:prstDash val="solid"/>
          </a:ln>
        </p:spPr>
      </p:sp>
      <p:sp>
        <p:nvSpPr>
          <p:cNvPr id="15" name="Shape 13"/>
          <p:cNvSpPr/>
          <p:nvPr/>
        </p:nvSpPr>
        <p:spPr>
          <a:xfrm>
            <a:off x="1078992" y="2373782"/>
            <a:ext cx="5907024" cy="0"/>
          </a:xfrm>
          <a:prstGeom prst="line">
            <a:avLst/>
          </a:prstGeom>
          <a:noFill/>
          <a:ln w="8890">
            <a:solidFill>
              <a:srgbClr val="27435A"/>
            </a:solidFill>
            <a:prstDash val="solid"/>
          </a:ln>
        </p:spPr>
      </p:sp>
      <p:sp>
        <p:nvSpPr>
          <p:cNvPr id="16" name="Text 14"/>
          <p:cNvSpPr txBox="1"/>
          <p:nvPr/>
        </p:nvSpPr>
        <p:spPr>
          <a:xfrm>
            <a:off x="896112" y="5212080"/>
            <a:ext cx="411480" cy="164592"/>
          </a:xfrm>
          <a:prstGeom prst="rect">
            <a:avLst/>
          </a:prstGeom>
          <a:noFill/>
          <a:ln/>
        </p:spPr>
        <p:txBody>
          <a:bodyPr wrap="square" lIns="0" tIns="0" rIns="0" bIns="0" rtlCol="0" anchor="t">
            <a:normAutofit/>
          </a:bodyPr>
          <a:lstStyle/>
          <a:p>
            <a:pPr algn="ctr" indent="0" marL="0">
              <a:buNone/>
            </a:pPr>
            <a:r>
              <a:rPr lang="en-US" sz="850" dirty="0">
                <a:solidFill>
                  <a:srgbClr val="93A4B6"/>
                </a:solidFill>
                <a:latin typeface="Aptos" pitchFamily="34" charset="0"/>
                <a:ea typeface="Aptos" pitchFamily="34" charset="-122"/>
                <a:cs typeface="Aptos" pitchFamily="34" charset="-120"/>
              </a:rPr>
              <a:t>0</a:t>
            </a:r>
            <a:endParaRPr lang="en-US" sz="850" dirty="0"/>
          </a:p>
        </p:txBody>
      </p:sp>
      <p:sp>
        <p:nvSpPr>
          <p:cNvPr id="17" name="Text 15"/>
          <p:cNvSpPr txBox="1"/>
          <p:nvPr/>
        </p:nvSpPr>
        <p:spPr>
          <a:xfrm>
            <a:off x="2865120" y="5212080"/>
            <a:ext cx="411480" cy="164592"/>
          </a:xfrm>
          <a:prstGeom prst="rect">
            <a:avLst/>
          </a:prstGeom>
          <a:noFill/>
          <a:ln/>
        </p:spPr>
        <p:txBody>
          <a:bodyPr wrap="square" lIns="0" tIns="0" rIns="0" bIns="0" rtlCol="0" anchor="t">
            <a:normAutofit/>
          </a:bodyPr>
          <a:lstStyle/>
          <a:p>
            <a:pPr algn="ctr" indent="0" marL="0">
              <a:buNone/>
            </a:pPr>
            <a:r>
              <a:rPr lang="en-US" sz="850" dirty="0">
                <a:solidFill>
                  <a:srgbClr val="93A4B6"/>
                </a:solidFill>
                <a:latin typeface="Aptos" pitchFamily="34" charset="0"/>
                <a:ea typeface="Aptos" pitchFamily="34" charset="-122"/>
                <a:cs typeface="Aptos" pitchFamily="34" charset="-120"/>
              </a:rPr>
              <a:t>300</a:t>
            </a:r>
            <a:endParaRPr lang="en-US" sz="850" dirty="0"/>
          </a:p>
        </p:txBody>
      </p:sp>
      <p:sp>
        <p:nvSpPr>
          <p:cNvPr id="18" name="Text 16"/>
          <p:cNvSpPr txBox="1"/>
          <p:nvPr/>
        </p:nvSpPr>
        <p:spPr>
          <a:xfrm>
            <a:off x="4834128" y="5212080"/>
            <a:ext cx="411480" cy="164592"/>
          </a:xfrm>
          <a:prstGeom prst="rect">
            <a:avLst/>
          </a:prstGeom>
          <a:noFill/>
          <a:ln/>
        </p:spPr>
        <p:txBody>
          <a:bodyPr wrap="square" lIns="0" tIns="0" rIns="0" bIns="0" rtlCol="0" anchor="t">
            <a:normAutofit/>
          </a:bodyPr>
          <a:lstStyle/>
          <a:p>
            <a:pPr algn="ctr" indent="0" marL="0">
              <a:buNone/>
            </a:pPr>
            <a:r>
              <a:rPr lang="en-US" sz="850" dirty="0">
                <a:solidFill>
                  <a:srgbClr val="93A4B6"/>
                </a:solidFill>
                <a:latin typeface="Aptos" pitchFamily="34" charset="0"/>
                <a:ea typeface="Aptos" pitchFamily="34" charset="-122"/>
                <a:cs typeface="Aptos" pitchFamily="34" charset="-120"/>
              </a:rPr>
              <a:t>600</a:t>
            </a:r>
            <a:endParaRPr lang="en-US" sz="850" dirty="0"/>
          </a:p>
        </p:txBody>
      </p:sp>
      <p:sp>
        <p:nvSpPr>
          <p:cNvPr id="19" name="Text 17"/>
          <p:cNvSpPr txBox="1"/>
          <p:nvPr/>
        </p:nvSpPr>
        <p:spPr>
          <a:xfrm>
            <a:off x="6803136" y="5212080"/>
            <a:ext cx="411480" cy="164592"/>
          </a:xfrm>
          <a:prstGeom prst="rect">
            <a:avLst/>
          </a:prstGeom>
          <a:noFill/>
          <a:ln/>
        </p:spPr>
        <p:txBody>
          <a:bodyPr wrap="square" lIns="0" tIns="0" rIns="0" bIns="0" rtlCol="0" anchor="t">
            <a:normAutofit/>
          </a:bodyPr>
          <a:lstStyle/>
          <a:p>
            <a:pPr algn="ctr" indent="0" marL="0">
              <a:buNone/>
            </a:pPr>
            <a:r>
              <a:rPr lang="en-US" sz="850" dirty="0">
                <a:solidFill>
                  <a:srgbClr val="93A4B6"/>
                </a:solidFill>
                <a:latin typeface="Aptos" pitchFamily="34" charset="0"/>
                <a:ea typeface="Aptos" pitchFamily="34" charset="-122"/>
                <a:cs typeface="Aptos" pitchFamily="34" charset="-120"/>
              </a:rPr>
              <a:t>900</a:t>
            </a:r>
            <a:endParaRPr lang="en-US" sz="850" dirty="0"/>
          </a:p>
        </p:txBody>
      </p:sp>
      <p:sp>
        <p:nvSpPr>
          <p:cNvPr id="20" name="Text 18"/>
          <p:cNvSpPr txBox="1"/>
          <p:nvPr/>
        </p:nvSpPr>
        <p:spPr>
          <a:xfrm>
            <a:off x="3547872" y="5468112"/>
            <a:ext cx="1097280" cy="182880"/>
          </a:xfrm>
          <a:prstGeom prst="rect">
            <a:avLst/>
          </a:prstGeom>
          <a:noFill/>
          <a:ln/>
        </p:spPr>
        <p:txBody>
          <a:bodyPr wrap="square" lIns="0" tIns="0" rIns="0" bIns="0" rtlCol="0" anchor="t">
            <a:normAutofit/>
          </a:bodyPr>
          <a:lstStyle/>
          <a:p>
            <a:pPr algn="ctr" indent="0" marL="0">
              <a:buNone/>
            </a:pPr>
            <a:r>
              <a:rPr lang="en-US" sz="950" dirty="0">
                <a:solidFill>
                  <a:srgbClr val="93A4B6"/>
                </a:solidFill>
                <a:latin typeface="Microsoft JhengHei" pitchFamily="34" charset="0"/>
                <a:ea typeface="Microsoft JhengHei" pitchFamily="34" charset="-122"/>
                <a:cs typeface="Microsoft JhengHei" pitchFamily="34" charset="-120"/>
              </a:rPr>
              <a:t>時間（秒）</a:t>
            </a:r>
            <a:endParaRPr lang="en-US" sz="950" dirty="0"/>
          </a:p>
        </p:txBody>
      </p:sp>
      <p:sp>
        <p:nvSpPr>
          <p:cNvPr id="21" name="Text 19"/>
          <p:cNvSpPr txBox="1"/>
          <p:nvPr/>
        </p:nvSpPr>
        <p:spPr>
          <a:xfrm>
            <a:off x="694944" y="2816352"/>
            <a:ext cx="256032" cy="1143000"/>
          </a:xfrm>
          <a:prstGeom prst="rect">
            <a:avLst/>
          </a:prstGeom>
          <a:noFill/>
          <a:ln/>
        </p:spPr>
        <p:txBody>
          <a:bodyPr wrap="square" lIns="0" tIns="0" rIns="0" bIns="0" rtlCol="0" anchor="t">
            <a:normAutofit/>
          </a:bodyPr>
          <a:lstStyle/>
          <a:p>
            <a:pPr algn="ctr" indent="0" marL="0">
              <a:buNone/>
            </a:pPr>
            <a:r>
              <a:rPr lang="en-US" sz="920" dirty="0">
                <a:solidFill>
                  <a:srgbClr val="93A4B6"/>
                </a:solidFill>
                <a:latin typeface="Microsoft JhengHei" pitchFamily="34" charset="0"/>
                <a:ea typeface="Microsoft JhengHei" pitchFamily="34" charset="-122"/>
                <a:cs typeface="Microsoft JhengHei" pitchFamily="34" charset="-120"/>
              </a:rPr>
              <a:t>相對汗乳酸排出反應</a:t>
            </a:r>
            <a:endParaRPr lang="en-US" sz="920" dirty="0"/>
          </a:p>
        </p:txBody>
      </p:sp>
      <p:sp>
        <p:nvSpPr>
          <p:cNvPr id="22" name="Shape 20"/>
          <p:cNvSpPr/>
          <p:nvPr/>
        </p:nvSpPr>
        <p:spPr>
          <a:xfrm flipV="1">
            <a:off x="1078992" y="4854826"/>
            <a:ext cx="131267" cy="1340"/>
          </a:xfrm>
          <a:prstGeom prst="line">
            <a:avLst/>
          </a:prstGeom>
          <a:noFill/>
          <a:ln w="34290">
            <a:solidFill>
              <a:srgbClr val="6BB7FF"/>
            </a:solidFill>
            <a:prstDash val="solid"/>
          </a:ln>
        </p:spPr>
      </p:sp>
      <p:sp>
        <p:nvSpPr>
          <p:cNvPr id="23" name="Shape 21"/>
          <p:cNvSpPr/>
          <p:nvPr/>
        </p:nvSpPr>
        <p:spPr>
          <a:xfrm flipV="1">
            <a:off x="1210259" y="4853190"/>
            <a:ext cx="131267" cy="1635"/>
          </a:xfrm>
          <a:prstGeom prst="line">
            <a:avLst/>
          </a:prstGeom>
          <a:noFill/>
          <a:ln w="34290">
            <a:solidFill>
              <a:srgbClr val="6BB7FF"/>
            </a:solidFill>
            <a:prstDash val="solid"/>
          </a:ln>
        </p:spPr>
      </p:sp>
      <p:sp>
        <p:nvSpPr>
          <p:cNvPr id="24" name="Shape 22"/>
          <p:cNvSpPr/>
          <p:nvPr/>
        </p:nvSpPr>
        <p:spPr>
          <a:xfrm flipV="1">
            <a:off x="1341526" y="4851196"/>
            <a:ext cx="131267" cy="1995"/>
          </a:xfrm>
          <a:prstGeom prst="line">
            <a:avLst/>
          </a:prstGeom>
          <a:noFill/>
          <a:ln w="34290">
            <a:solidFill>
              <a:srgbClr val="6BB7FF"/>
            </a:solidFill>
            <a:prstDash val="solid"/>
          </a:ln>
        </p:spPr>
      </p:sp>
      <p:sp>
        <p:nvSpPr>
          <p:cNvPr id="25" name="Shape 23"/>
          <p:cNvSpPr/>
          <p:nvPr/>
        </p:nvSpPr>
        <p:spPr>
          <a:xfrm flipV="1">
            <a:off x="1472794" y="4848764"/>
            <a:ext cx="131267" cy="2432"/>
          </a:xfrm>
          <a:prstGeom prst="line">
            <a:avLst/>
          </a:prstGeom>
          <a:noFill/>
          <a:ln w="34290">
            <a:solidFill>
              <a:srgbClr val="6BB7FF"/>
            </a:solidFill>
            <a:prstDash val="solid"/>
          </a:ln>
        </p:spPr>
      </p:sp>
      <p:sp>
        <p:nvSpPr>
          <p:cNvPr id="26" name="Shape 24"/>
          <p:cNvSpPr/>
          <p:nvPr/>
        </p:nvSpPr>
        <p:spPr>
          <a:xfrm flipV="1">
            <a:off x="1604061" y="4845799"/>
            <a:ext cx="131267" cy="2964"/>
          </a:xfrm>
          <a:prstGeom prst="line">
            <a:avLst/>
          </a:prstGeom>
          <a:noFill/>
          <a:ln w="34290">
            <a:solidFill>
              <a:srgbClr val="6BB7FF"/>
            </a:solidFill>
            <a:prstDash val="solid"/>
          </a:ln>
        </p:spPr>
      </p:sp>
      <p:sp>
        <p:nvSpPr>
          <p:cNvPr id="27" name="Shape 25"/>
          <p:cNvSpPr/>
          <p:nvPr/>
        </p:nvSpPr>
        <p:spPr>
          <a:xfrm flipV="1">
            <a:off x="1735328" y="4842188"/>
            <a:ext cx="131267" cy="3611"/>
          </a:xfrm>
          <a:prstGeom prst="line">
            <a:avLst/>
          </a:prstGeom>
          <a:noFill/>
          <a:ln w="34290">
            <a:solidFill>
              <a:srgbClr val="6BB7FF"/>
            </a:solidFill>
            <a:prstDash val="solid"/>
          </a:ln>
        </p:spPr>
      </p:sp>
      <p:sp>
        <p:nvSpPr>
          <p:cNvPr id="28" name="Shape 26"/>
          <p:cNvSpPr/>
          <p:nvPr/>
        </p:nvSpPr>
        <p:spPr>
          <a:xfrm flipV="1">
            <a:off x="1866595" y="4837791"/>
            <a:ext cx="131267" cy="4397"/>
          </a:xfrm>
          <a:prstGeom prst="line">
            <a:avLst/>
          </a:prstGeom>
          <a:noFill/>
          <a:ln w="34290">
            <a:solidFill>
              <a:srgbClr val="6BB7FF"/>
            </a:solidFill>
            <a:prstDash val="solid"/>
          </a:ln>
        </p:spPr>
      </p:sp>
      <p:sp>
        <p:nvSpPr>
          <p:cNvPr id="29" name="Shape 27"/>
          <p:cNvSpPr/>
          <p:nvPr/>
        </p:nvSpPr>
        <p:spPr>
          <a:xfrm flipV="1">
            <a:off x="1997862" y="4832441"/>
            <a:ext cx="131267" cy="5350"/>
          </a:xfrm>
          <a:prstGeom prst="line">
            <a:avLst/>
          </a:prstGeom>
          <a:noFill/>
          <a:ln w="34290">
            <a:solidFill>
              <a:srgbClr val="6BB7FF"/>
            </a:solidFill>
            <a:prstDash val="solid"/>
          </a:ln>
        </p:spPr>
      </p:sp>
      <p:sp>
        <p:nvSpPr>
          <p:cNvPr id="30" name="Shape 28"/>
          <p:cNvSpPr/>
          <p:nvPr/>
        </p:nvSpPr>
        <p:spPr>
          <a:xfrm flipV="1">
            <a:off x="2129130" y="4825936"/>
            <a:ext cx="131267" cy="6504"/>
          </a:xfrm>
          <a:prstGeom prst="line">
            <a:avLst/>
          </a:prstGeom>
          <a:noFill/>
          <a:ln w="34290">
            <a:solidFill>
              <a:srgbClr val="6BB7FF"/>
            </a:solidFill>
            <a:prstDash val="solid"/>
          </a:ln>
        </p:spPr>
      </p:sp>
      <p:sp>
        <p:nvSpPr>
          <p:cNvPr id="31" name="Shape 29"/>
          <p:cNvSpPr/>
          <p:nvPr/>
        </p:nvSpPr>
        <p:spPr>
          <a:xfrm flipV="1">
            <a:off x="2260397" y="4818037"/>
            <a:ext cx="131267" cy="7900"/>
          </a:xfrm>
          <a:prstGeom prst="line">
            <a:avLst/>
          </a:prstGeom>
          <a:noFill/>
          <a:ln w="34290">
            <a:solidFill>
              <a:srgbClr val="6BB7FF"/>
            </a:solidFill>
            <a:prstDash val="solid"/>
          </a:ln>
        </p:spPr>
      </p:sp>
      <p:sp>
        <p:nvSpPr>
          <p:cNvPr id="32" name="Shape 30"/>
          <p:cNvSpPr/>
          <p:nvPr/>
        </p:nvSpPr>
        <p:spPr>
          <a:xfrm flipV="1">
            <a:off x="2391664" y="4808455"/>
            <a:ext cx="131267" cy="9582"/>
          </a:xfrm>
          <a:prstGeom prst="line">
            <a:avLst/>
          </a:prstGeom>
          <a:noFill/>
          <a:ln w="34290">
            <a:solidFill>
              <a:srgbClr val="6BB7FF"/>
            </a:solidFill>
            <a:prstDash val="solid"/>
          </a:ln>
        </p:spPr>
      </p:sp>
      <p:sp>
        <p:nvSpPr>
          <p:cNvPr id="33" name="Shape 31"/>
          <p:cNvSpPr/>
          <p:nvPr/>
        </p:nvSpPr>
        <p:spPr>
          <a:xfrm flipV="1">
            <a:off x="2522931" y="4796848"/>
            <a:ext cx="131267" cy="11606"/>
          </a:xfrm>
          <a:prstGeom prst="line">
            <a:avLst/>
          </a:prstGeom>
          <a:noFill/>
          <a:ln w="34290">
            <a:solidFill>
              <a:srgbClr val="6BB7FF"/>
            </a:solidFill>
            <a:prstDash val="solid"/>
          </a:ln>
        </p:spPr>
      </p:sp>
      <p:sp>
        <p:nvSpPr>
          <p:cNvPr id="34" name="Shape 32"/>
          <p:cNvSpPr/>
          <p:nvPr/>
        </p:nvSpPr>
        <p:spPr>
          <a:xfrm flipV="1">
            <a:off x="2654198" y="4782816"/>
            <a:ext cx="131267" cy="14032"/>
          </a:xfrm>
          <a:prstGeom prst="line">
            <a:avLst/>
          </a:prstGeom>
          <a:noFill/>
          <a:ln w="34290">
            <a:solidFill>
              <a:srgbClr val="6BB7FF"/>
            </a:solidFill>
            <a:prstDash val="solid"/>
          </a:ln>
        </p:spPr>
      </p:sp>
      <p:sp>
        <p:nvSpPr>
          <p:cNvPr id="35" name="Shape 33"/>
          <p:cNvSpPr/>
          <p:nvPr/>
        </p:nvSpPr>
        <p:spPr>
          <a:xfrm flipV="1">
            <a:off x="2785466" y="4765889"/>
            <a:ext cx="131267" cy="16928"/>
          </a:xfrm>
          <a:prstGeom prst="line">
            <a:avLst/>
          </a:prstGeom>
          <a:noFill/>
          <a:ln w="34290">
            <a:solidFill>
              <a:srgbClr val="6BB7FF"/>
            </a:solidFill>
            <a:prstDash val="solid"/>
          </a:ln>
        </p:spPr>
      </p:sp>
      <p:sp>
        <p:nvSpPr>
          <p:cNvPr id="36" name="Shape 34"/>
          <p:cNvSpPr/>
          <p:nvPr/>
        </p:nvSpPr>
        <p:spPr>
          <a:xfrm flipV="1">
            <a:off x="2916733" y="4745521"/>
            <a:ext cx="131267" cy="20367"/>
          </a:xfrm>
          <a:prstGeom prst="line">
            <a:avLst/>
          </a:prstGeom>
          <a:noFill/>
          <a:ln w="34290">
            <a:solidFill>
              <a:srgbClr val="6BB7FF"/>
            </a:solidFill>
            <a:prstDash val="solid"/>
          </a:ln>
        </p:spPr>
      </p:sp>
      <p:sp>
        <p:nvSpPr>
          <p:cNvPr id="37" name="Shape 35"/>
          <p:cNvSpPr/>
          <p:nvPr/>
        </p:nvSpPr>
        <p:spPr>
          <a:xfrm flipV="1">
            <a:off x="3048000" y="4721093"/>
            <a:ext cx="131267" cy="24428"/>
          </a:xfrm>
          <a:prstGeom prst="line">
            <a:avLst/>
          </a:prstGeom>
          <a:noFill/>
          <a:ln w="34290">
            <a:solidFill>
              <a:srgbClr val="6BB7FF"/>
            </a:solidFill>
            <a:prstDash val="solid"/>
          </a:ln>
        </p:spPr>
      </p:sp>
      <p:sp>
        <p:nvSpPr>
          <p:cNvPr id="38" name="Shape 36"/>
          <p:cNvSpPr/>
          <p:nvPr/>
        </p:nvSpPr>
        <p:spPr>
          <a:xfrm flipV="1">
            <a:off x="3179267" y="4691905"/>
            <a:ext cx="131267" cy="29188"/>
          </a:xfrm>
          <a:prstGeom prst="line">
            <a:avLst/>
          </a:prstGeom>
          <a:noFill/>
          <a:ln w="34290">
            <a:solidFill>
              <a:srgbClr val="6BB7FF"/>
            </a:solidFill>
            <a:prstDash val="solid"/>
          </a:ln>
        </p:spPr>
      </p:sp>
      <p:sp>
        <p:nvSpPr>
          <p:cNvPr id="39" name="Shape 37"/>
          <p:cNvSpPr/>
          <p:nvPr/>
        </p:nvSpPr>
        <p:spPr>
          <a:xfrm flipV="1">
            <a:off x="3310534" y="4657189"/>
            <a:ext cx="131267" cy="34716"/>
          </a:xfrm>
          <a:prstGeom prst="line">
            <a:avLst/>
          </a:prstGeom>
          <a:noFill/>
          <a:ln w="34290">
            <a:solidFill>
              <a:srgbClr val="6BB7FF"/>
            </a:solidFill>
            <a:prstDash val="solid"/>
          </a:ln>
        </p:spPr>
      </p:sp>
      <p:sp>
        <p:nvSpPr>
          <p:cNvPr id="40" name="Shape 38"/>
          <p:cNvSpPr/>
          <p:nvPr/>
        </p:nvSpPr>
        <p:spPr>
          <a:xfrm flipV="1">
            <a:off x="3441802" y="4616119"/>
            <a:ext cx="131267" cy="41070"/>
          </a:xfrm>
          <a:prstGeom prst="line">
            <a:avLst/>
          </a:prstGeom>
          <a:noFill/>
          <a:ln w="34290">
            <a:solidFill>
              <a:srgbClr val="6BB7FF"/>
            </a:solidFill>
            <a:prstDash val="solid"/>
          </a:ln>
        </p:spPr>
      </p:sp>
      <p:sp>
        <p:nvSpPr>
          <p:cNvPr id="41" name="Shape 39"/>
          <p:cNvSpPr/>
          <p:nvPr/>
        </p:nvSpPr>
        <p:spPr>
          <a:xfrm flipV="1">
            <a:off x="3573069" y="4567843"/>
            <a:ext cx="131267" cy="48276"/>
          </a:xfrm>
          <a:prstGeom prst="line">
            <a:avLst/>
          </a:prstGeom>
          <a:noFill/>
          <a:ln w="34290">
            <a:solidFill>
              <a:srgbClr val="6BB7FF"/>
            </a:solidFill>
            <a:prstDash val="solid"/>
          </a:ln>
        </p:spPr>
      </p:sp>
      <p:sp>
        <p:nvSpPr>
          <p:cNvPr id="42" name="Shape 40"/>
          <p:cNvSpPr/>
          <p:nvPr/>
        </p:nvSpPr>
        <p:spPr>
          <a:xfrm flipV="1">
            <a:off x="3704336" y="4511519"/>
            <a:ext cx="131267" cy="56324"/>
          </a:xfrm>
          <a:prstGeom prst="line">
            <a:avLst/>
          </a:prstGeom>
          <a:noFill/>
          <a:ln w="34290">
            <a:solidFill>
              <a:srgbClr val="6BB7FF"/>
            </a:solidFill>
            <a:prstDash val="solid"/>
          </a:ln>
        </p:spPr>
      </p:sp>
      <p:sp>
        <p:nvSpPr>
          <p:cNvPr id="43" name="Shape 41"/>
          <p:cNvSpPr/>
          <p:nvPr/>
        </p:nvSpPr>
        <p:spPr>
          <a:xfrm flipV="1">
            <a:off x="3835603" y="4446379"/>
            <a:ext cx="131267" cy="65140"/>
          </a:xfrm>
          <a:prstGeom prst="line">
            <a:avLst/>
          </a:prstGeom>
          <a:noFill/>
          <a:ln w="34290">
            <a:solidFill>
              <a:srgbClr val="6BB7FF"/>
            </a:solidFill>
            <a:prstDash val="solid"/>
          </a:ln>
        </p:spPr>
      </p:sp>
      <p:sp>
        <p:nvSpPr>
          <p:cNvPr id="44" name="Shape 42"/>
          <p:cNvSpPr/>
          <p:nvPr/>
        </p:nvSpPr>
        <p:spPr>
          <a:xfrm flipV="1">
            <a:off x="3966870" y="4371801"/>
            <a:ext cx="131267" cy="74578"/>
          </a:xfrm>
          <a:prstGeom prst="line">
            <a:avLst/>
          </a:prstGeom>
          <a:noFill/>
          <a:ln w="34290">
            <a:solidFill>
              <a:srgbClr val="6BB7FF"/>
            </a:solidFill>
            <a:prstDash val="solid"/>
          </a:ln>
        </p:spPr>
      </p:sp>
      <p:sp>
        <p:nvSpPr>
          <p:cNvPr id="45" name="Shape 43"/>
          <p:cNvSpPr/>
          <p:nvPr/>
        </p:nvSpPr>
        <p:spPr>
          <a:xfrm flipV="1">
            <a:off x="4098138" y="4287398"/>
            <a:ext cx="131267" cy="84402"/>
          </a:xfrm>
          <a:prstGeom prst="line">
            <a:avLst/>
          </a:prstGeom>
          <a:noFill/>
          <a:ln w="34290">
            <a:solidFill>
              <a:srgbClr val="6BB7FF"/>
            </a:solidFill>
            <a:prstDash val="solid"/>
          </a:ln>
        </p:spPr>
      </p:sp>
      <p:sp>
        <p:nvSpPr>
          <p:cNvPr id="46" name="Shape 44"/>
          <p:cNvSpPr/>
          <p:nvPr/>
        </p:nvSpPr>
        <p:spPr>
          <a:xfrm flipV="1">
            <a:off x="4229405" y="4193119"/>
            <a:ext cx="131267" cy="94279"/>
          </a:xfrm>
          <a:prstGeom prst="line">
            <a:avLst/>
          </a:prstGeom>
          <a:noFill/>
          <a:ln w="34290">
            <a:solidFill>
              <a:srgbClr val="6BB7FF"/>
            </a:solidFill>
            <a:prstDash val="solid"/>
          </a:ln>
        </p:spPr>
      </p:sp>
      <p:sp>
        <p:nvSpPr>
          <p:cNvPr id="47" name="Shape 45"/>
          <p:cNvSpPr/>
          <p:nvPr/>
        </p:nvSpPr>
        <p:spPr>
          <a:xfrm flipV="1">
            <a:off x="4360672" y="4089334"/>
            <a:ext cx="131267" cy="103785"/>
          </a:xfrm>
          <a:prstGeom prst="line">
            <a:avLst/>
          </a:prstGeom>
          <a:noFill/>
          <a:ln w="34290">
            <a:solidFill>
              <a:srgbClr val="6BB7FF"/>
            </a:solidFill>
            <a:prstDash val="solid"/>
          </a:ln>
        </p:spPr>
      </p:sp>
      <p:sp>
        <p:nvSpPr>
          <p:cNvPr id="48" name="Shape 46"/>
          <p:cNvSpPr/>
          <p:nvPr/>
        </p:nvSpPr>
        <p:spPr>
          <a:xfrm flipV="1">
            <a:off x="4491939" y="3976904"/>
            <a:ext cx="131267" cy="112430"/>
          </a:xfrm>
          <a:prstGeom prst="line">
            <a:avLst/>
          </a:prstGeom>
          <a:noFill/>
          <a:ln w="34290">
            <a:solidFill>
              <a:srgbClr val="6BB7FF"/>
            </a:solidFill>
            <a:prstDash val="solid"/>
          </a:ln>
        </p:spPr>
      </p:sp>
      <p:sp>
        <p:nvSpPr>
          <p:cNvPr id="49" name="Shape 47"/>
          <p:cNvSpPr/>
          <p:nvPr/>
        </p:nvSpPr>
        <p:spPr>
          <a:xfrm flipV="1">
            <a:off x="4623206" y="3857209"/>
            <a:ext cx="131267" cy="119695"/>
          </a:xfrm>
          <a:prstGeom prst="line">
            <a:avLst/>
          </a:prstGeom>
          <a:noFill/>
          <a:ln w="34290">
            <a:solidFill>
              <a:srgbClr val="6BB7FF"/>
            </a:solidFill>
            <a:prstDash val="solid"/>
          </a:ln>
        </p:spPr>
      </p:sp>
      <p:sp>
        <p:nvSpPr>
          <p:cNvPr id="50" name="Shape 48"/>
          <p:cNvSpPr/>
          <p:nvPr/>
        </p:nvSpPr>
        <p:spPr>
          <a:xfrm flipV="1">
            <a:off x="4754474" y="3732116"/>
            <a:ext cx="131267" cy="125093"/>
          </a:xfrm>
          <a:prstGeom prst="line">
            <a:avLst/>
          </a:prstGeom>
          <a:noFill/>
          <a:ln w="34290">
            <a:solidFill>
              <a:srgbClr val="6BB7FF"/>
            </a:solidFill>
            <a:prstDash val="solid"/>
          </a:ln>
        </p:spPr>
      </p:sp>
      <p:sp>
        <p:nvSpPr>
          <p:cNvPr id="51" name="Shape 49"/>
          <p:cNvSpPr/>
          <p:nvPr/>
        </p:nvSpPr>
        <p:spPr>
          <a:xfrm flipV="1">
            <a:off x="4885741" y="3603883"/>
            <a:ext cx="131267" cy="128233"/>
          </a:xfrm>
          <a:prstGeom prst="line">
            <a:avLst/>
          </a:prstGeom>
          <a:noFill/>
          <a:ln w="34290">
            <a:solidFill>
              <a:srgbClr val="6BB7FF"/>
            </a:solidFill>
            <a:prstDash val="solid"/>
          </a:ln>
        </p:spPr>
      </p:sp>
      <p:sp>
        <p:nvSpPr>
          <p:cNvPr id="52" name="Shape 50"/>
          <p:cNvSpPr/>
          <p:nvPr/>
        </p:nvSpPr>
        <p:spPr>
          <a:xfrm flipV="1">
            <a:off x="5017008" y="3475010"/>
            <a:ext cx="131267" cy="128874"/>
          </a:xfrm>
          <a:prstGeom prst="line">
            <a:avLst/>
          </a:prstGeom>
          <a:noFill/>
          <a:ln w="34290">
            <a:solidFill>
              <a:srgbClr val="6BB7FF"/>
            </a:solidFill>
            <a:prstDash val="solid"/>
          </a:ln>
        </p:spPr>
      </p:sp>
      <p:sp>
        <p:nvSpPr>
          <p:cNvPr id="53" name="Shape 51"/>
          <p:cNvSpPr/>
          <p:nvPr/>
        </p:nvSpPr>
        <p:spPr>
          <a:xfrm flipV="1">
            <a:off x="5148275" y="3348045"/>
            <a:ext cx="131267" cy="126965"/>
          </a:xfrm>
          <a:prstGeom prst="line">
            <a:avLst/>
          </a:prstGeom>
          <a:noFill/>
          <a:ln w="34290">
            <a:solidFill>
              <a:srgbClr val="6BB7FF"/>
            </a:solidFill>
            <a:prstDash val="solid"/>
          </a:ln>
        </p:spPr>
      </p:sp>
      <p:sp>
        <p:nvSpPr>
          <p:cNvPr id="54" name="Shape 52"/>
          <p:cNvSpPr/>
          <p:nvPr/>
        </p:nvSpPr>
        <p:spPr>
          <a:xfrm flipV="1">
            <a:off x="5279542" y="3225390"/>
            <a:ext cx="131267" cy="122655"/>
          </a:xfrm>
          <a:prstGeom prst="line">
            <a:avLst/>
          </a:prstGeom>
          <a:noFill/>
          <a:ln w="34290">
            <a:solidFill>
              <a:srgbClr val="6BB7FF"/>
            </a:solidFill>
            <a:prstDash val="solid"/>
          </a:ln>
        </p:spPr>
      </p:sp>
      <p:sp>
        <p:nvSpPr>
          <p:cNvPr id="55" name="Shape 53"/>
          <p:cNvSpPr/>
          <p:nvPr/>
        </p:nvSpPr>
        <p:spPr>
          <a:xfrm flipV="1">
            <a:off x="5410810" y="3109124"/>
            <a:ext cx="131267" cy="116266"/>
          </a:xfrm>
          <a:prstGeom prst="line">
            <a:avLst/>
          </a:prstGeom>
          <a:noFill/>
          <a:ln w="34290">
            <a:solidFill>
              <a:srgbClr val="6BB7FF"/>
            </a:solidFill>
            <a:prstDash val="solid"/>
          </a:ln>
        </p:spPr>
      </p:sp>
      <p:sp>
        <p:nvSpPr>
          <p:cNvPr id="56" name="Shape 54"/>
          <p:cNvSpPr/>
          <p:nvPr/>
        </p:nvSpPr>
        <p:spPr>
          <a:xfrm flipV="1">
            <a:off x="5542077" y="3000876"/>
            <a:ext cx="131267" cy="108248"/>
          </a:xfrm>
          <a:prstGeom prst="line">
            <a:avLst/>
          </a:prstGeom>
          <a:noFill/>
          <a:ln w="34290">
            <a:solidFill>
              <a:srgbClr val="6BB7FF"/>
            </a:solidFill>
            <a:prstDash val="solid"/>
          </a:ln>
        </p:spPr>
      </p:sp>
      <p:sp>
        <p:nvSpPr>
          <p:cNvPr id="57" name="Shape 55"/>
          <p:cNvSpPr/>
          <p:nvPr/>
        </p:nvSpPr>
        <p:spPr>
          <a:xfrm flipV="1">
            <a:off x="5673344" y="2901768"/>
            <a:ext cx="131267" cy="99108"/>
          </a:xfrm>
          <a:prstGeom prst="line">
            <a:avLst/>
          </a:prstGeom>
          <a:noFill/>
          <a:ln w="34290">
            <a:solidFill>
              <a:srgbClr val="6BB7FF"/>
            </a:solidFill>
            <a:prstDash val="solid"/>
          </a:ln>
        </p:spPr>
      </p:sp>
      <p:sp>
        <p:nvSpPr>
          <p:cNvPr id="58" name="Shape 56"/>
          <p:cNvSpPr/>
          <p:nvPr/>
        </p:nvSpPr>
        <p:spPr>
          <a:xfrm flipV="1">
            <a:off x="5804611" y="2812409"/>
            <a:ext cx="131267" cy="89359"/>
          </a:xfrm>
          <a:prstGeom prst="line">
            <a:avLst/>
          </a:prstGeom>
          <a:noFill/>
          <a:ln w="34290">
            <a:solidFill>
              <a:srgbClr val="6BB7FF"/>
            </a:solidFill>
            <a:prstDash val="solid"/>
          </a:ln>
        </p:spPr>
      </p:sp>
      <p:sp>
        <p:nvSpPr>
          <p:cNvPr id="59" name="Shape 57"/>
          <p:cNvSpPr/>
          <p:nvPr/>
        </p:nvSpPr>
        <p:spPr>
          <a:xfrm flipV="1">
            <a:off x="5935878" y="2732948"/>
            <a:ext cx="131267" cy="79461"/>
          </a:xfrm>
          <a:prstGeom prst="line">
            <a:avLst/>
          </a:prstGeom>
          <a:noFill/>
          <a:ln w="34290">
            <a:solidFill>
              <a:srgbClr val="6BB7FF"/>
            </a:solidFill>
            <a:prstDash val="solid"/>
          </a:ln>
        </p:spPr>
      </p:sp>
      <p:sp>
        <p:nvSpPr>
          <p:cNvPr id="60" name="Shape 58"/>
          <p:cNvSpPr/>
          <p:nvPr/>
        </p:nvSpPr>
        <p:spPr>
          <a:xfrm flipV="1">
            <a:off x="6067146" y="2663154"/>
            <a:ext cx="131267" cy="69794"/>
          </a:xfrm>
          <a:prstGeom prst="line">
            <a:avLst/>
          </a:prstGeom>
          <a:noFill/>
          <a:ln w="34290">
            <a:solidFill>
              <a:srgbClr val="6BB7FF"/>
            </a:solidFill>
            <a:prstDash val="solid"/>
          </a:ln>
        </p:spPr>
      </p:sp>
      <p:sp>
        <p:nvSpPr>
          <p:cNvPr id="61" name="Shape 59"/>
          <p:cNvSpPr/>
          <p:nvPr/>
        </p:nvSpPr>
        <p:spPr>
          <a:xfrm flipV="1">
            <a:off x="6198413" y="2602512"/>
            <a:ext cx="131267" cy="60643"/>
          </a:xfrm>
          <a:prstGeom prst="line">
            <a:avLst/>
          </a:prstGeom>
          <a:noFill/>
          <a:ln w="34290">
            <a:solidFill>
              <a:srgbClr val="6BB7FF"/>
            </a:solidFill>
            <a:prstDash val="solid"/>
          </a:ln>
        </p:spPr>
      </p:sp>
      <p:sp>
        <p:nvSpPr>
          <p:cNvPr id="62" name="Shape 60"/>
          <p:cNvSpPr/>
          <p:nvPr/>
        </p:nvSpPr>
        <p:spPr>
          <a:xfrm flipV="1">
            <a:off x="6329680" y="2550314"/>
            <a:ext cx="131267" cy="52198"/>
          </a:xfrm>
          <a:prstGeom prst="line">
            <a:avLst/>
          </a:prstGeom>
          <a:noFill/>
          <a:ln w="34290">
            <a:solidFill>
              <a:srgbClr val="6BB7FF"/>
            </a:solidFill>
            <a:prstDash val="solid"/>
          </a:ln>
        </p:spPr>
      </p:sp>
      <p:sp>
        <p:nvSpPr>
          <p:cNvPr id="63" name="Shape 61"/>
          <p:cNvSpPr/>
          <p:nvPr/>
        </p:nvSpPr>
        <p:spPr>
          <a:xfrm flipV="1">
            <a:off x="6460947" y="2505748"/>
            <a:ext cx="131267" cy="44566"/>
          </a:xfrm>
          <a:prstGeom prst="line">
            <a:avLst/>
          </a:prstGeom>
          <a:noFill/>
          <a:ln w="34290">
            <a:solidFill>
              <a:srgbClr val="6BB7FF"/>
            </a:solidFill>
            <a:prstDash val="solid"/>
          </a:ln>
        </p:spPr>
      </p:sp>
      <p:sp>
        <p:nvSpPr>
          <p:cNvPr id="64" name="Shape 62"/>
          <p:cNvSpPr/>
          <p:nvPr/>
        </p:nvSpPr>
        <p:spPr>
          <a:xfrm>
            <a:off x="6592214" y="2505748"/>
            <a:ext cx="131267" cy="152303"/>
          </a:xfrm>
          <a:prstGeom prst="line">
            <a:avLst/>
          </a:prstGeom>
          <a:noFill/>
          <a:ln w="34290">
            <a:solidFill>
              <a:srgbClr val="6BB7FF"/>
            </a:solidFill>
            <a:prstDash val="solid"/>
          </a:ln>
        </p:spPr>
      </p:sp>
      <p:sp>
        <p:nvSpPr>
          <p:cNvPr id="65" name="Shape 63"/>
          <p:cNvSpPr/>
          <p:nvPr/>
        </p:nvSpPr>
        <p:spPr>
          <a:xfrm>
            <a:off x="6723482" y="2658051"/>
            <a:ext cx="131267" cy="158238"/>
          </a:xfrm>
          <a:prstGeom prst="line">
            <a:avLst/>
          </a:prstGeom>
          <a:noFill/>
          <a:ln w="34290">
            <a:solidFill>
              <a:srgbClr val="6BB7FF"/>
            </a:solidFill>
            <a:prstDash val="solid"/>
          </a:ln>
        </p:spPr>
      </p:sp>
      <p:sp>
        <p:nvSpPr>
          <p:cNvPr id="66" name="Shape 64"/>
          <p:cNvSpPr/>
          <p:nvPr/>
        </p:nvSpPr>
        <p:spPr>
          <a:xfrm>
            <a:off x="6854749" y="2816289"/>
            <a:ext cx="131267" cy="163374"/>
          </a:xfrm>
          <a:prstGeom prst="line">
            <a:avLst/>
          </a:prstGeom>
          <a:noFill/>
          <a:ln w="34290">
            <a:solidFill>
              <a:srgbClr val="6BB7FF"/>
            </a:solidFill>
            <a:prstDash val="solid"/>
          </a:ln>
        </p:spPr>
      </p:sp>
      <p:sp>
        <p:nvSpPr>
          <p:cNvPr id="67" name="Shape 65"/>
          <p:cNvSpPr/>
          <p:nvPr/>
        </p:nvSpPr>
        <p:spPr>
          <a:xfrm flipV="1">
            <a:off x="1078992" y="4836123"/>
            <a:ext cx="131267" cy="6285"/>
          </a:xfrm>
          <a:prstGeom prst="line">
            <a:avLst/>
          </a:prstGeom>
          <a:noFill/>
          <a:ln w="34290">
            <a:solidFill>
              <a:srgbClr val="FF9B5E"/>
            </a:solidFill>
            <a:prstDash val="solid"/>
          </a:ln>
        </p:spPr>
      </p:sp>
      <p:sp>
        <p:nvSpPr>
          <p:cNvPr id="68" name="Shape 66"/>
          <p:cNvSpPr/>
          <p:nvPr/>
        </p:nvSpPr>
        <p:spPr>
          <a:xfrm flipV="1">
            <a:off x="1210259" y="4827872"/>
            <a:ext cx="131267" cy="8251"/>
          </a:xfrm>
          <a:prstGeom prst="line">
            <a:avLst/>
          </a:prstGeom>
          <a:noFill/>
          <a:ln w="34290">
            <a:solidFill>
              <a:srgbClr val="FF9B5E"/>
            </a:solidFill>
            <a:prstDash val="solid"/>
          </a:ln>
        </p:spPr>
      </p:sp>
      <p:sp>
        <p:nvSpPr>
          <p:cNvPr id="69" name="Shape 67"/>
          <p:cNvSpPr/>
          <p:nvPr/>
        </p:nvSpPr>
        <p:spPr>
          <a:xfrm flipV="1">
            <a:off x="1341526" y="4817061"/>
            <a:ext cx="131267" cy="10811"/>
          </a:xfrm>
          <a:prstGeom prst="line">
            <a:avLst/>
          </a:prstGeom>
          <a:noFill/>
          <a:ln w="34290">
            <a:solidFill>
              <a:srgbClr val="FF9B5E"/>
            </a:solidFill>
            <a:prstDash val="solid"/>
          </a:ln>
        </p:spPr>
      </p:sp>
      <p:sp>
        <p:nvSpPr>
          <p:cNvPr id="70" name="Shape 68"/>
          <p:cNvSpPr/>
          <p:nvPr/>
        </p:nvSpPr>
        <p:spPr>
          <a:xfrm flipV="1">
            <a:off x="1472794" y="4802928"/>
            <a:ext cx="131267" cy="14133"/>
          </a:xfrm>
          <a:prstGeom prst="line">
            <a:avLst/>
          </a:prstGeom>
          <a:noFill/>
          <a:ln w="34290">
            <a:solidFill>
              <a:srgbClr val="FF9B5E"/>
            </a:solidFill>
            <a:prstDash val="solid"/>
          </a:ln>
        </p:spPr>
      </p:sp>
      <p:sp>
        <p:nvSpPr>
          <p:cNvPr id="71" name="Shape 69"/>
          <p:cNvSpPr/>
          <p:nvPr/>
        </p:nvSpPr>
        <p:spPr>
          <a:xfrm flipV="1">
            <a:off x="1604061" y="4784509"/>
            <a:ext cx="131267" cy="18419"/>
          </a:xfrm>
          <a:prstGeom prst="line">
            <a:avLst/>
          </a:prstGeom>
          <a:noFill/>
          <a:ln w="34290">
            <a:solidFill>
              <a:srgbClr val="FF9B5E"/>
            </a:solidFill>
            <a:prstDash val="solid"/>
          </a:ln>
        </p:spPr>
      </p:sp>
      <p:sp>
        <p:nvSpPr>
          <p:cNvPr id="72" name="Shape 70"/>
          <p:cNvSpPr/>
          <p:nvPr/>
        </p:nvSpPr>
        <p:spPr>
          <a:xfrm flipV="1">
            <a:off x="1735328" y="4760601"/>
            <a:ext cx="131267" cy="23908"/>
          </a:xfrm>
          <a:prstGeom prst="line">
            <a:avLst/>
          </a:prstGeom>
          <a:noFill/>
          <a:ln w="34290">
            <a:solidFill>
              <a:srgbClr val="FF9B5E"/>
            </a:solidFill>
            <a:prstDash val="solid"/>
          </a:ln>
        </p:spPr>
      </p:sp>
      <p:sp>
        <p:nvSpPr>
          <p:cNvPr id="73" name="Shape 71"/>
          <p:cNvSpPr/>
          <p:nvPr/>
        </p:nvSpPr>
        <p:spPr>
          <a:xfrm flipV="1">
            <a:off x="1866595" y="4729729"/>
            <a:ext cx="131267" cy="30873"/>
          </a:xfrm>
          <a:prstGeom prst="line">
            <a:avLst/>
          </a:prstGeom>
          <a:noFill/>
          <a:ln w="34290">
            <a:solidFill>
              <a:srgbClr val="FF9B5E"/>
            </a:solidFill>
            <a:prstDash val="solid"/>
          </a:ln>
        </p:spPr>
      </p:sp>
      <p:sp>
        <p:nvSpPr>
          <p:cNvPr id="74" name="Shape 72"/>
          <p:cNvSpPr/>
          <p:nvPr/>
        </p:nvSpPr>
        <p:spPr>
          <a:xfrm flipV="1">
            <a:off x="1997862" y="4690129"/>
            <a:ext cx="131267" cy="39600"/>
          </a:xfrm>
          <a:prstGeom prst="line">
            <a:avLst/>
          </a:prstGeom>
          <a:noFill/>
          <a:ln w="34290">
            <a:solidFill>
              <a:srgbClr val="FF9B5E"/>
            </a:solidFill>
            <a:prstDash val="solid"/>
          </a:ln>
        </p:spPr>
      </p:sp>
      <p:sp>
        <p:nvSpPr>
          <p:cNvPr id="75" name="Shape 73"/>
          <p:cNvSpPr/>
          <p:nvPr/>
        </p:nvSpPr>
        <p:spPr>
          <a:xfrm flipV="1">
            <a:off x="2129130" y="4639771"/>
            <a:ext cx="131267" cy="50358"/>
          </a:xfrm>
          <a:prstGeom prst="line">
            <a:avLst/>
          </a:prstGeom>
          <a:noFill/>
          <a:ln w="34290">
            <a:solidFill>
              <a:srgbClr val="FF9B5E"/>
            </a:solidFill>
            <a:prstDash val="solid"/>
          </a:ln>
        </p:spPr>
      </p:sp>
      <p:sp>
        <p:nvSpPr>
          <p:cNvPr id="76" name="Shape 74"/>
          <p:cNvSpPr/>
          <p:nvPr/>
        </p:nvSpPr>
        <p:spPr>
          <a:xfrm flipV="1">
            <a:off x="2260397" y="4576426"/>
            <a:ext cx="131267" cy="63345"/>
          </a:xfrm>
          <a:prstGeom prst="line">
            <a:avLst/>
          </a:prstGeom>
          <a:noFill/>
          <a:ln w="34290">
            <a:solidFill>
              <a:srgbClr val="FF9B5E"/>
            </a:solidFill>
            <a:prstDash val="solid"/>
          </a:ln>
        </p:spPr>
      </p:sp>
      <p:sp>
        <p:nvSpPr>
          <p:cNvPr id="77" name="Shape 75"/>
          <p:cNvSpPr/>
          <p:nvPr/>
        </p:nvSpPr>
        <p:spPr>
          <a:xfrm flipV="1">
            <a:off x="2391664" y="4497830"/>
            <a:ext cx="131267" cy="78595"/>
          </a:xfrm>
          <a:prstGeom prst="line">
            <a:avLst/>
          </a:prstGeom>
          <a:noFill/>
          <a:ln w="34290">
            <a:solidFill>
              <a:srgbClr val="FF9B5E"/>
            </a:solidFill>
            <a:prstDash val="solid"/>
          </a:ln>
        </p:spPr>
      </p:sp>
      <p:sp>
        <p:nvSpPr>
          <p:cNvPr id="78" name="Shape 76"/>
          <p:cNvSpPr/>
          <p:nvPr/>
        </p:nvSpPr>
        <p:spPr>
          <a:xfrm flipV="1">
            <a:off x="2522931" y="4401956"/>
            <a:ext cx="131267" cy="95874"/>
          </a:xfrm>
          <a:prstGeom prst="line">
            <a:avLst/>
          </a:prstGeom>
          <a:noFill/>
          <a:ln w="34290">
            <a:solidFill>
              <a:srgbClr val="FF9B5E"/>
            </a:solidFill>
            <a:prstDash val="solid"/>
          </a:ln>
        </p:spPr>
      </p:sp>
      <p:sp>
        <p:nvSpPr>
          <p:cNvPr id="79" name="Shape 77"/>
          <p:cNvSpPr/>
          <p:nvPr/>
        </p:nvSpPr>
        <p:spPr>
          <a:xfrm flipV="1">
            <a:off x="2654198" y="4287398"/>
            <a:ext cx="131267" cy="114558"/>
          </a:xfrm>
          <a:prstGeom prst="line">
            <a:avLst/>
          </a:prstGeom>
          <a:noFill/>
          <a:ln w="34290">
            <a:solidFill>
              <a:srgbClr val="FF9B5E"/>
            </a:solidFill>
            <a:prstDash val="solid"/>
          </a:ln>
        </p:spPr>
      </p:sp>
      <p:sp>
        <p:nvSpPr>
          <p:cNvPr id="80" name="Shape 78"/>
          <p:cNvSpPr/>
          <p:nvPr/>
        </p:nvSpPr>
        <p:spPr>
          <a:xfrm flipV="1">
            <a:off x="2785466" y="4153852"/>
            <a:ext cx="131267" cy="133547"/>
          </a:xfrm>
          <a:prstGeom prst="line">
            <a:avLst/>
          </a:prstGeom>
          <a:noFill/>
          <a:ln w="34290">
            <a:solidFill>
              <a:srgbClr val="FF9B5E"/>
            </a:solidFill>
            <a:prstDash val="solid"/>
          </a:ln>
        </p:spPr>
      </p:sp>
      <p:sp>
        <p:nvSpPr>
          <p:cNvPr id="81" name="Shape 79"/>
          <p:cNvSpPr/>
          <p:nvPr/>
        </p:nvSpPr>
        <p:spPr>
          <a:xfrm flipV="1">
            <a:off x="2916733" y="4002573"/>
            <a:ext cx="131267" cy="151279"/>
          </a:xfrm>
          <a:prstGeom prst="line">
            <a:avLst/>
          </a:prstGeom>
          <a:noFill/>
          <a:ln w="34290">
            <a:solidFill>
              <a:srgbClr val="FF9B5E"/>
            </a:solidFill>
            <a:prstDash val="solid"/>
          </a:ln>
        </p:spPr>
      </p:sp>
      <p:sp>
        <p:nvSpPr>
          <p:cNvPr id="82" name="Shape 80"/>
          <p:cNvSpPr/>
          <p:nvPr/>
        </p:nvSpPr>
        <p:spPr>
          <a:xfrm flipV="1">
            <a:off x="3048000" y="3836679"/>
            <a:ext cx="131267" cy="165894"/>
          </a:xfrm>
          <a:prstGeom prst="line">
            <a:avLst/>
          </a:prstGeom>
          <a:noFill/>
          <a:ln w="34290">
            <a:solidFill>
              <a:srgbClr val="FF9B5E"/>
            </a:solidFill>
            <a:prstDash val="solid"/>
          </a:ln>
        </p:spPr>
      </p:sp>
      <p:sp>
        <p:nvSpPr>
          <p:cNvPr id="83" name="Shape 81"/>
          <p:cNvSpPr/>
          <p:nvPr/>
        </p:nvSpPr>
        <p:spPr>
          <a:xfrm flipV="1">
            <a:off x="3179267" y="3661107"/>
            <a:ext cx="131267" cy="175572"/>
          </a:xfrm>
          <a:prstGeom prst="line">
            <a:avLst/>
          </a:prstGeom>
          <a:noFill/>
          <a:ln w="34290">
            <a:solidFill>
              <a:srgbClr val="FF9B5E"/>
            </a:solidFill>
            <a:prstDash val="solid"/>
          </a:ln>
        </p:spPr>
      </p:sp>
      <p:sp>
        <p:nvSpPr>
          <p:cNvPr id="84" name="Shape 82"/>
          <p:cNvSpPr/>
          <p:nvPr/>
        </p:nvSpPr>
        <p:spPr>
          <a:xfrm flipV="1">
            <a:off x="3310534" y="3482142"/>
            <a:ext cx="131267" cy="178964"/>
          </a:xfrm>
          <a:prstGeom prst="line">
            <a:avLst/>
          </a:prstGeom>
          <a:noFill/>
          <a:ln w="34290">
            <a:solidFill>
              <a:srgbClr val="FF9B5E"/>
            </a:solidFill>
            <a:prstDash val="solid"/>
          </a:ln>
        </p:spPr>
      </p:sp>
      <p:sp>
        <p:nvSpPr>
          <p:cNvPr id="85" name="Shape 83"/>
          <p:cNvSpPr/>
          <p:nvPr/>
        </p:nvSpPr>
        <p:spPr>
          <a:xfrm flipV="1">
            <a:off x="3441802" y="3306570"/>
            <a:ext cx="131267" cy="175572"/>
          </a:xfrm>
          <a:prstGeom prst="line">
            <a:avLst/>
          </a:prstGeom>
          <a:noFill/>
          <a:ln w="34290">
            <a:solidFill>
              <a:srgbClr val="FF9B5E"/>
            </a:solidFill>
            <a:prstDash val="solid"/>
          </a:ln>
        </p:spPr>
      </p:sp>
      <p:sp>
        <p:nvSpPr>
          <p:cNvPr id="86" name="Shape 84"/>
          <p:cNvSpPr/>
          <p:nvPr/>
        </p:nvSpPr>
        <p:spPr>
          <a:xfrm flipV="1">
            <a:off x="3573069" y="3140676"/>
            <a:ext cx="131267" cy="165894"/>
          </a:xfrm>
          <a:prstGeom prst="line">
            <a:avLst/>
          </a:prstGeom>
          <a:noFill/>
          <a:ln w="34290">
            <a:solidFill>
              <a:srgbClr val="FF9B5E"/>
            </a:solidFill>
            <a:prstDash val="solid"/>
          </a:ln>
        </p:spPr>
      </p:sp>
      <p:sp>
        <p:nvSpPr>
          <p:cNvPr id="87" name="Shape 85"/>
          <p:cNvSpPr/>
          <p:nvPr/>
        </p:nvSpPr>
        <p:spPr>
          <a:xfrm flipV="1">
            <a:off x="3704336" y="2989397"/>
            <a:ext cx="131267" cy="151279"/>
          </a:xfrm>
          <a:prstGeom prst="line">
            <a:avLst/>
          </a:prstGeom>
          <a:noFill/>
          <a:ln w="34290">
            <a:solidFill>
              <a:srgbClr val="FF9B5E"/>
            </a:solidFill>
            <a:prstDash val="solid"/>
          </a:ln>
        </p:spPr>
      </p:sp>
      <p:sp>
        <p:nvSpPr>
          <p:cNvPr id="88" name="Shape 86"/>
          <p:cNvSpPr/>
          <p:nvPr/>
        </p:nvSpPr>
        <p:spPr>
          <a:xfrm flipV="1">
            <a:off x="3835603" y="2855851"/>
            <a:ext cx="131267" cy="133547"/>
          </a:xfrm>
          <a:prstGeom prst="line">
            <a:avLst/>
          </a:prstGeom>
          <a:noFill/>
          <a:ln w="34290">
            <a:solidFill>
              <a:srgbClr val="FF9B5E"/>
            </a:solidFill>
            <a:prstDash val="solid"/>
          </a:ln>
        </p:spPr>
      </p:sp>
      <p:sp>
        <p:nvSpPr>
          <p:cNvPr id="89" name="Shape 87"/>
          <p:cNvSpPr/>
          <p:nvPr/>
        </p:nvSpPr>
        <p:spPr>
          <a:xfrm flipV="1">
            <a:off x="3966870" y="2741293"/>
            <a:ext cx="131267" cy="114558"/>
          </a:xfrm>
          <a:prstGeom prst="line">
            <a:avLst/>
          </a:prstGeom>
          <a:noFill/>
          <a:ln w="34290">
            <a:solidFill>
              <a:srgbClr val="FF9B5E"/>
            </a:solidFill>
            <a:prstDash val="solid"/>
          </a:ln>
        </p:spPr>
      </p:sp>
      <p:sp>
        <p:nvSpPr>
          <p:cNvPr id="90" name="Shape 88"/>
          <p:cNvSpPr/>
          <p:nvPr/>
        </p:nvSpPr>
        <p:spPr>
          <a:xfrm flipV="1">
            <a:off x="4098138" y="2645419"/>
            <a:ext cx="131267" cy="95874"/>
          </a:xfrm>
          <a:prstGeom prst="line">
            <a:avLst/>
          </a:prstGeom>
          <a:noFill/>
          <a:ln w="34290">
            <a:solidFill>
              <a:srgbClr val="FF9B5E"/>
            </a:solidFill>
            <a:prstDash val="solid"/>
          </a:ln>
        </p:spPr>
      </p:sp>
      <p:sp>
        <p:nvSpPr>
          <p:cNvPr id="91" name="Shape 89"/>
          <p:cNvSpPr/>
          <p:nvPr/>
        </p:nvSpPr>
        <p:spPr>
          <a:xfrm flipV="1">
            <a:off x="4229405" y="2566823"/>
            <a:ext cx="131267" cy="78595"/>
          </a:xfrm>
          <a:prstGeom prst="line">
            <a:avLst/>
          </a:prstGeom>
          <a:noFill/>
          <a:ln w="34290">
            <a:solidFill>
              <a:srgbClr val="FF9B5E"/>
            </a:solidFill>
            <a:prstDash val="solid"/>
          </a:ln>
        </p:spPr>
      </p:sp>
      <p:sp>
        <p:nvSpPr>
          <p:cNvPr id="92" name="Shape 90"/>
          <p:cNvSpPr/>
          <p:nvPr/>
        </p:nvSpPr>
        <p:spPr>
          <a:xfrm flipV="1">
            <a:off x="4360672" y="2503478"/>
            <a:ext cx="131267" cy="63345"/>
          </a:xfrm>
          <a:prstGeom prst="line">
            <a:avLst/>
          </a:prstGeom>
          <a:noFill/>
          <a:ln w="34290">
            <a:solidFill>
              <a:srgbClr val="FF9B5E"/>
            </a:solidFill>
            <a:prstDash val="solid"/>
          </a:ln>
        </p:spPr>
      </p:sp>
      <p:sp>
        <p:nvSpPr>
          <p:cNvPr id="93" name="Shape 91"/>
          <p:cNvSpPr/>
          <p:nvPr/>
        </p:nvSpPr>
        <p:spPr>
          <a:xfrm flipV="1">
            <a:off x="4491939" y="2453120"/>
            <a:ext cx="131267" cy="50358"/>
          </a:xfrm>
          <a:prstGeom prst="line">
            <a:avLst/>
          </a:prstGeom>
          <a:noFill/>
          <a:ln w="34290">
            <a:solidFill>
              <a:srgbClr val="FF9B5E"/>
            </a:solidFill>
            <a:prstDash val="solid"/>
          </a:ln>
        </p:spPr>
      </p:sp>
      <p:sp>
        <p:nvSpPr>
          <p:cNvPr id="94" name="Shape 92"/>
          <p:cNvSpPr/>
          <p:nvPr/>
        </p:nvSpPr>
        <p:spPr>
          <a:xfrm flipV="1">
            <a:off x="4623206" y="2413520"/>
            <a:ext cx="131267" cy="39600"/>
          </a:xfrm>
          <a:prstGeom prst="line">
            <a:avLst/>
          </a:prstGeom>
          <a:noFill/>
          <a:ln w="34290">
            <a:solidFill>
              <a:srgbClr val="FF9B5E"/>
            </a:solidFill>
            <a:prstDash val="solid"/>
          </a:ln>
        </p:spPr>
      </p:sp>
      <p:sp>
        <p:nvSpPr>
          <p:cNvPr id="95" name="Shape 93"/>
          <p:cNvSpPr/>
          <p:nvPr/>
        </p:nvSpPr>
        <p:spPr>
          <a:xfrm flipV="1">
            <a:off x="4754474" y="2382648"/>
            <a:ext cx="131267" cy="30873"/>
          </a:xfrm>
          <a:prstGeom prst="line">
            <a:avLst/>
          </a:prstGeom>
          <a:noFill/>
          <a:ln w="34290">
            <a:solidFill>
              <a:srgbClr val="FF9B5E"/>
            </a:solidFill>
            <a:prstDash val="solid"/>
          </a:ln>
        </p:spPr>
      </p:sp>
      <p:sp>
        <p:nvSpPr>
          <p:cNvPr id="96" name="Shape 94"/>
          <p:cNvSpPr/>
          <p:nvPr/>
        </p:nvSpPr>
        <p:spPr>
          <a:xfrm flipV="1">
            <a:off x="4885741" y="2358740"/>
            <a:ext cx="131267" cy="23908"/>
          </a:xfrm>
          <a:prstGeom prst="line">
            <a:avLst/>
          </a:prstGeom>
          <a:noFill/>
          <a:ln w="34290">
            <a:solidFill>
              <a:srgbClr val="FF9B5E"/>
            </a:solidFill>
            <a:prstDash val="solid"/>
          </a:ln>
        </p:spPr>
      </p:sp>
      <p:sp>
        <p:nvSpPr>
          <p:cNvPr id="97" name="Shape 95"/>
          <p:cNvSpPr/>
          <p:nvPr/>
        </p:nvSpPr>
        <p:spPr>
          <a:xfrm flipV="1">
            <a:off x="5017008" y="2340321"/>
            <a:ext cx="131267" cy="18419"/>
          </a:xfrm>
          <a:prstGeom prst="line">
            <a:avLst/>
          </a:prstGeom>
          <a:noFill/>
          <a:ln w="34290">
            <a:solidFill>
              <a:srgbClr val="FF9B5E"/>
            </a:solidFill>
            <a:prstDash val="solid"/>
          </a:ln>
        </p:spPr>
      </p:sp>
      <p:sp>
        <p:nvSpPr>
          <p:cNvPr id="98" name="Shape 96"/>
          <p:cNvSpPr/>
          <p:nvPr/>
        </p:nvSpPr>
        <p:spPr>
          <a:xfrm flipV="1">
            <a:off x="5148275" y="2326188"/>
            <a:ext cx="131267" cy="14133"/>
          </a:xfrm>
          <a:prstGeom prst="line">
            <a:avLst/>
          </a:prstGeom>
          <a:noFill/>
          <a:ln w="34290">
            <a:solidFill>
              <a:srgbClr val="FF9B5E"/>
            </a:solidFill>
            <a:prstDash val="solid"/>
          </a:ln>
        </p:spPr>
      </p:sp>
      <p:sp>
        <p:nvSpPr>
          <p:cNvPr id="99" name="Shape 97"/>
          <p:cNvSpPr/>
          <p:nvPr/>
        </p:nvSpPr>
        <p:spPr>
          <a:xfrm flipV="1">
            <a:off x="5279542" y="2315377"/>
            <a:ext cx="131267" cy="10811"/>
          </a:xfrm>
          <a:prstGeom prst="line">
            <a:avLst/>
          </a:prstGeom>
          <a:noFill/>
          <a:ln w="34290">
            <a:solidFill>
              <a:srgbClr val="FF9B5E"/>
            </a:solidFill>
            <a:prstDash val="solid"/>
          </a:ln>
        </p:spPr>
      </p:sp>
      <p:sp>
        <p:nvSpPr>
          <p:cNvPr id="100" name="Shape 98"/>
          <p:cNvSpPr/>
          <p:nvPr/>
        </p:nvSpPr>
        <p:spPr>
          <a:xfrm>
            <a:off x="5410810" y="2315377"/>
            <a:ext cx="131267" cy="4422"/>
          </a:xfrm>
          <a:prstGeom prst="line">
            <a:avLst/>
          </a:prstGeom>
          <a:noFill/>
          <a:ln w="34290">
            <a:solidFill>
              <a:srgbClr val="FF9B5E"/>
            </a:solidFill>
            <a:prstDash val="solid"/>
          </a:ln>
        </p:spPr>
      </p:sp>
      <p:sp>
        <p:nvSpPr>
          <p:cNvPr id="101" name="Shape 99"/>
          <p:cNvSpPr/>
          <p:nvPr/>
        </p:nvSpPr>
        <p:spPr>
          <a:xfrm>
            <a:off x="5542077" y="2319799"/>
            <a:ext cx="131267" cy="44406"/>
          </a:xfrm>
          <a:prstGeom prst="line">
            <a:avLst/>
          </a:prstGeom>
          <a:noFill/>
          <a:ln w="34290">
            <a:solidFill>
              <a:srgbClr val="FF9B5E"/>
            </a:solidFill>
            <a:prstDash val="solid"/>
          </a:ln>
        </p:spPr>
      </p:sp>
      <p:sp>
        <p:nvSpPr>
          <p:cNvPr id="102" name="Shape 100"/>
          <p:cNvSpPr/>
          <p:nvPr/>
        </p:nvSpPr>
        <p:spPr>
          <a:xfrm>
            <a:off x="5673344" y="2364205"/>
            <a:ext cx="131267" cy="45909"/>
          </a:xfrm>
          <a:prstGeom prst="line">
            <a:avLst/>
          </a:prstGeom>
          <a:noFill/>
          <a:ln w="34290">
            <a:solidFill>
              <a:srgbClr val="FF9B5E"/>
            </a:solidFill>
            <a:prstDash val="solid"/>
          </a:ln>
        </p:spPr>
      </p:sp>
      <p:sp>
        <p:nvSpPr>
          <p:cNvPr id="103" name="Shape 101"/>
          <p:cNvSpPr/>
          <p:nvPr/>
        </p:nvSpPr>
        <p:spPr>
          <a:xfrm>
            <a:off x="5804611" y="2410114"/>
            <a:ext cx="131267" cy="47057"/>
          </a:xfrm>
          <a:prstGeom prst="line">
            <a:avLst/>
          </a:prstGeom>
          <a:noFill/>
          <a:ln w="34290">
            <a:solidFill>
              <a:srgbClr val="FF9B5E"/>
            </a:solidFill>
            <a:prstDash val="solid"/>
          </a:ln>
        </p:spPr>
      </p:sp>
      <p:sp>
        <p:nvSpPr>
          <p:cNvPr id="104" name="Shape 102"/>
          <p:cNvSpPr/>
          <p:nvPr/>
        </p:nvSpPr>
        <p:spPr>
          <a:xfrm>
            <a:off x="5935878" y="2457171"/>
            <a:ext cx="131267" cy="47932"/>
          </a:xfrm>
          <a:prstGeom prst="line">
            <a:avLst/>
          </a:prstGeom>
          <a:noFill/>
          <a:ln w="34290">
            <a:solidFill>
              <a:srgbClr val="FF9B5E"/>
            </a:solidFill>
            <a:prstDash val="solid"/>
          </a:ln>
        </p:spPr>
      </p:sp>
      <p:sp>
        <p:nvSpPr>
          <p:cNvPr id="105" name="Shape 103"/>
          <p:cNvSpPr/>
          <p:nvPr/>
        </p:nvSpPr>
        <p:spPr>
          <a:xfrm>
            <a:off x="6067146" y="2505102"/>
            <a:ext cx="131267" cy="48597"/>
          </a:xfrm>
          <a:prstGeom prst="line">
            <a:avLst/>
          </a:prstGeom>
          <a:noFill/>
          <a:ln w="34290">
            <a:solidFill>
              <a:srgbClr val="FF9B5E"/>
            </a:solidFill>
            <a:prstDash val="solid"/>
          </a:ln>
        </p:spPr>
      </p:sp>
      <p:sp>
        <p:nvSpPr>
          <p:cNvPr id="106" name="Shape 104"/>
          <p:cNvSpPr/>
          <p:nvPr/>
        </p:nvSpPr>
        <p:spPr>
          <a:xfrm>
            <a:off x="6198413" y="2553699"/>
            <a:ext cx="131267" cy="49102"/>
          </a:xfrm>
          <a:prstGeom prst="line">
            <a:avLst/>
          </a:prstGeom>
          <a:noFill/>
          <a:ln w="34290">
            <a:solidFill>
              <a:srgbClr val="FF9B5E"/>
            </a:solidFill>
            <a:prstDash val="solid"/>
          </a:ln>
        </p:spPr>
      </p:sp>
      <p:sp>
        <p:nvSpPr>
          <p:cNvPr id="107" name="Shape 105"/>
          <p:cNvSpPr/>
          <p:nvPr/>
        </p:nvSpPr>
        <p:spPr>
          <a:xfrm>
            <a:off x="6329680" y="2602802"/>
            <a:ext cx="131267" cy="49486"/>
          </a:xfrm>
          <a:prstGeom prst="line">
            <a:avLst/>
          </a:prstGeom>
          <a:noFill/>
          <a:ln w="34290">
            <a:solidFill>
              <a:srgbClr val="FF9B5E"/>
            </a:solidFill>
            <a:prstDash val="solid"/>
          </a:ln>
        </p:spPr>
      </p:sp>
      <p:sp>
        <p:nvSpPr>
          <p:cNvPr id="108" name="Shape 106"/>
          <p:cNvSpPr/>
          <p:nvPr/>
        </p:nvSpPr>
        <p:spPr>
          <a:xfrm>
            <a:off x="6460947" y="2652288"/>
            <a:ext cx="131267" cy="49778"/>
          </a:xfrm>
          <a:prstGeom prst="line">
            <a:avLst/>
          </a:prstGeom>
          <a:noFill/>
          <a:ln w="34290">
            <a:solidFill>
              <a:srgbClr val="FF9B5E"/>
            </a:solidFill>
            <a:prstDash val="solid"/>
          </a:ln>
        </p:spPr>
      </p:sp>
      <p:sp>
        <p:nvSpPr>
          <p:cNvPr id="109" name="Shape 107"/>
          <p:cNvSpPr/>
          <p:nvPr/>
        </p:nvSpPr>
        <p:spPr>
          <a:xfrm>
            <a:off x="6592214" y="2702066"/>
            <a:ext cx="131267" cy="49999"/>
          </a:xfrm>
          <a:prstGeom prst="line">
            <a:avLst/>
          </a:prstGeom>
          <a:noFill/>
          <a:ln w="34290">
            <a:solidFill>
              <a:srgbClr val="FF9B5E"/>
            </a:solidFill>
            <a:prstDash val="solid"/>
          </a:ln>
        </p:spPr>
      </p:sp>
      <p:sp>
        <p:nvSpPr>
          <p:cNvPr id="110" name="Shape 108"/>
          <p:cNvSpPr/>
          <p:nvPr/>
        </p:nvSpPr>
        <p:spPr>
          <a:xfrm>
            <a:off x="6723482" y="2752064"/>
            <a:ext cx="131267" cy="50166"/>
          </a:xfrm>
          <a:prstGeom prst="line">
            <a:avLst/>
          </a:prstGeom>
          <a:noFill/>
          <a:ln w="34290">
            <a:solidFill>
              <a:srgbClr val="FF9B5E"/>
            </a:solidFill>
            <a:prstDash val="solid"/>
          </a:ln>
        </p:spPr>
      </p:sp>
      <p:sp>
        <p:nvSpPr>
          <p:cNvPr id="111" name="Shape 109"/>
          <p:cNvSpPr/>
          <p:nvPr/>
        </p:nvSpPr>
        <p:spPr>
          <a:xfrm>
            <a:off x="6854749" y="2802231"/>
            <a:ext cx="131267" cy="50293"/>
          </a:xfrm>
          <a:prstGeom prst="line">
            <a:avLst/>
          </a:prstGeom>
          <a:noFill/>
          <a:ln w="34290">
            <a:solidFill>
              <a:srgbClr val="FF9B5E"/>
            </a:solidFill>
            <a:prstDash val="solid"/>
          </a:ln>
        </p:spPr>
      </p:sp>
      <p:sp>
        <p:nvSpPr>
          <p:cNvPr id="112" name="Shape 110"/>
          <p:cNvSpPr/>
          <p:nvPr/>
        </p:nvSpPr>
        <p:spPr>
          <a:xfrm>
            <a:off x="6474730" y="1874520"/>
            <a:ext cx="0" cy="3227832"/>
          </a:xfrm>
          <a:prstGeom prst="line">
            <a:avLst/>
          </a:prstGeom>
          <a:noFill/>
          <a:ln w="12700">
            <a:solidFill>
              <a:srgbClr val="6BB7FF"/>
            </a:solidFill>
            <a:prstDash val="solid"/>
          </a:ln>
        </p:spPr>
      </p:sp>
      <p:sp>
        <p:nvSpPr>
          <p:cNvPr id="113" name="Shape 111"/>
          <p:cNvSpPr/>
          <p:nvPr/>
        </p:nvSpPr>
        <p:spPr>
          <a:xfrm>
            <a:off x="5488257" y="1874520"/>
            <a:ext cx="0" cy="3227832"/>
          </a:xfrm>
          <a:prstGeom prst="line">
            <a:avLst/>
          </a:prstGeom>
          <a:noFill/>
          <a:ln w="12700">
            <a:solidFill>
              <a:srgbClr val="FF9B5E"/>
            </a:solidFill>
            <a:prstDash val="solid"/>
          </a:ln>
        </p:spPr>
      </p:sp>
      <p:sp>
        <p:nvSpPr>
          <p:cNvPr id="114" name="Shape 112"/>
          <p:cNvSpPr/>
          <p:nvPr/>
        </p:nvSpPr>
        <p:spPr>
          <a:xfrm>
            <a:off x="1371600" y="1920240"/>
            <a:ext cx="1417320" cy="310896"/>
          </a:xfrm>
          <a:prstGeom prst="roundRect">
            <a:avLst/>
          </a:prstGeom>
          <a:solidFill>
            <a:srgbClr val="FF9B5E"/>
          </a:solidFill>
          <a:ln w="12700">
            <a:solidFill>
              <a:srgbClr val="FF9B5E">
                <a:alpha val="0"/>
              </a:srgbClr>
            </a:solidFill>
            <a:prstDash val="solid"/>
          </a:ln>
        </p:spPr>
      </p:sp>
      <p:sp>
        <p:nvSpPr>
          <p:cNvPr id="115" name="Text 113"/>
          <p:cNvSpPr txBox="1"/>
          <p:nvPr/>
        </p:nvSpPr>
        <p:spPr>
          <a:xfrm>
            <a:off x="1444752" y="1988820"/>
            <a:ext cx="1271016" cy="210312"/>
          </a:xfrm>
          <a:prstGeom prst="rect">
            <a:avLst/>
          </a:prstGeom>
          <a:noFill/>
          <a:ln/>
        </p:spPr>
        <p:txBody>
          <a:bodyPr wrap="square" lIns="0" tIns="0" rIns="0" bIns="0" rtlCol="0" anchor="ctr">
            <a:normAutofit/>
          </a:bodyPr>
          <a:lstStyle/>
          <a:p>
            <a:pPr algn="ctr" indent="0" marL="0">
              <a:buNone/>
            </a:pPr>
            <a:r>
              <a:rPr lang="en-US" sz="900" b="1" dirty="0">
                <a:solidFill>
                  <a:srgbClr val="07111F"/>
                </a:solidFill>
                <a:latin typeface="Microsoft JhengHei" pitchFamily="34" charset="0"/>
                <a:ea typeface="Microsoft JhengHei" pitchFamily="34" charset="-122"/>
                <a:cs typeface="Microsoft JhengHei" pitchFamily="34" charset="-120"/>
              </a:rPr>
              <a:t>Test 2 疲勞後</a:t>
            </a:r>
            <a:endParaRPr lang="en-US" sz="900" dirty="0"/>
          </a:p>
        </p:txBody>
      </p:sp>
      <p:sp>
        <p:nvSpPr>
          <p:cNvPr id="116" name="Shape 114"/>
          <p:cNvSpPr/>
          <p:nvPr/>
        </p:nvSpPr>
        <p:spPr>
          <a:xfrm>
            <a:off x="3511296" y="2404872"/>
            <a:ext cx="1417320" cy="310896"/>
          </a:xfrm>
          <a:prstGeom prst="roundRect">
            <a:avLst/>
          </a:prstGeom>
          <a:solidFill>
            <a:srgbClr val="6BB7FF"/>
          </a:solidFill>
          <a:ln w="12700">
            <a:solidFill>
              <a:srgbClr val="6BB7FF">
                <a:alpha val="0"/>
              </a:srgbClr>
            </a:solidFill>
            <a:prstDash val="solid"/>
          </a:ln>
        </p:spPr>
      </p:sp>
      <p:sp>
        <p:nvSpPr>
          <p:cNvPr id="117" name="Text 115"/>
          <p:cNvSpPr txBox="1"/>
          <p:nvPr/>
        </p:nvSpPr>
        <p:spPr>
          <a:xfrm>
            <a:off x="3584448" y="2473452"/>
            <a:ext cx="1271016" cy="210312"/>
          </a:xfrm>
          <a:prstGeom prst="rect">
            <a:avLst/>
          </a:prstGeom>
          <a:noFill/>
          <a:ln/>
        </p:spPr>
        <p:txBody>
          <a:bodyPr wrap="square" lIns="0" tIns="0" rIns="0" bIns="0" rtlCol="0" anchor="ctr">
            <a:normAutofit/>
          </a:bodyPr>
          <a:lstStyle/>
          <a:p>
            <a:pPr algn="ctr" indent="0" marL="0">
              <a:buNone/>
            </a:pPr>
            <a:r>
              <a:rPr lang="en-US" sz="900" b="1" dirty="0">
                <a:solidFill>
                  <a:srgbClr val="07111F"/>
                </a:solidFill>
                <a:latin typeface="Microsoft JhengHei" pitchFamily="34" charset="0"/>
                <a:ea typeface="Microsoft JhengHei" pitchFamily="34" charset="-122"/>
                <a:cs typeface="Microsoft JhengHei" pitchFamily="34" charset="-120"/>
              </a:rPr>
              <a:t>Test 1 疲勞前</a:t>
            </a:r>
            <a:endParaRPr lang="en-US" sz="900" dirty="0"/>
          </a:p>
        </p:txBody>
      </p:sp>
      <p:sp>
        <p:nvSpPr>
          <p:cNvPr id="118" name="Text 116"/>
          <p:cNvSpPr txBox="1"/>
          <p:nvPr/>
        </p:nvSpPr>
        <p:spPr>
          <a:xfrm>
            <a:off x="5012769" y="1773936"/>
            <a:ext cx="960120" cy="502920"/>
          </a:xfrm>
          <a:prstGeom prst="rect">
            <a:avLst/>
          </a:prstGeom>
          <a:noFill/>
          <a:ln/>
        </p:spPr>
        <p:txBody>
          <a:bodyPr wrap="square" lIns="0" tIns="0" rIns="0" bIns="0" rtlCol="0" anchor="t">
            <a:normAutofit/>
          </a:bodyPr>
          <a:lstStyle/>
          <a:p>
            <a:pPr algn="ctr" indent="0" marL="0">
              <a:buNone/>
            </a:pPr>
            <a:r>
              <a:rPr lang="en-US" sz="950" b="1" dirty="0">
                <a:solidFill>
                  <a:srgbClr val="FFC09B"/>
                </a:solidFill>
                <a:latin typeface="Aptos" pitchFamily="34" charset="0"/>
                <a:ea typeface="Aptos" pitchFamily="34" charset="-122"/>
                <a:cs typeface="Aptos" pitchFamily="34" charset="-120"/>
              </a:rPr>
              <a:t>峰值更早</a:t>
            </a:r>
            <a:endParaRPr lang="en-US" sz="950" dirty="0"/>
          </a:p>
          <a:p>
            <a:pPr algn="ctr" indent="0" marL="0">
              <a:buNone/>
            </a:pPr>
            <a:r>
              <a:rPr lang="en-US" sz="950" b="1" dirty="0">
                <a:solidFill>
                  <a:srgbClr val="FFC09B"/>
                </a:solidFill>
                <a:latin typeface="Aptos" pitchFamily="34" charset="0"/>
                <a:ea typeface="Aptos" pitchFamily="34" charset="-122"/>
                <a:cs typeface="Aptos" pitchFamily="34" charset="-120"/>
              </a:rPr>
              <a:t>671.8 s</a:t>
            </a:r>
            <a:endParaRPr lang="en-US" sz="950" dirty="0"/>
          </a:p>
        </p:txBody>
      </p:sp>
      <p:sp>
        <p:nvSpPr>
          <p:cNvPr id="119" name="Text 117"/>
          <p:cNvSpPr txBox="1"/>
          <p:nvPr/>
        </p:nvSpPr>
        <p:spPr>
          <a:xfrm>
            <a:off x="6108970" y="1773936"/>
            <a:ext cx="731520" cy="201168"/>
          </a:xfrm>
          <a:prstGeom prst="rect">
            <a:avLst/>
          </a:prstGeom>
          <a:noFill/>
          <a:ln/>
        </p:spPr>
        <p:txBody>
          <a:bodyPr wrap="square" lIns="0" tIns="0" rIns="0" bIns="0" rtlCol="0" anchor="t">
            <a:normAutofit/>
          </a:bodyPr>
          <a:lstStyle/>
          <a:p>
            <a:pPr algn="ctr" indent="0" marL="0">
              <a:buNone/>
            </a:pPr>
            <a:r>
              <a:rPr lang="en-US" sz="900" b="1" dirty="0">
                <a:solidFill>
                  <a:srgbClr val="9DD0FF"/>
                </a:solidFill>
                <a:latin typeface="Aptos" pitchFamily="34" charset="0"/>
                <a:ea typeface="Aptos" pitchFamily="34" charset="-122"/>
                <a:cs typeface="Aptos" pitchFamily="34" charset="-120"/>
              </a:rPr>
              <a:t>822.1 s</a:t>
            </a:r>
            <a:endParaRPr lang="en-US" sz="900" dirty="0"/>
          </a:p>
        </p:txBody>
      </p:sp>
      <p:sp>
        <p:nvSpPr>
          <p:cNvPr id="120" name="Text 118"/>
          <p:cNvSpPr txBox="1"/>
          <p:nvPr/>
        </p:nvSpPr>
        <p:spPr>
          <a:xfrm>
            <a:off x="1234440" y="5733288"/>
            <a:ext cx="5303520" cy="201168"/>
          </a:xfrm>
          <a:prstGeom prst="rect">
            <a:avLst/>
          </a:prstGeom>
          <a:noFill/>
          <a:ln/>
        </p:spPr>
        <p:txBody>
          <a:bodyPr wrap="square" lIns="0" tIns="0" rIns="0" bIns="0" rtlCol="0" anchor="t">
            <a:normAutofit/>
          </a:bodyPr>
          <a:lstStyle/>
          <a:p>
            <a:pPr algn="ctr" indent="0" marL="0">
              <a:buNone/>
            </a:pPr>
            <a:r>
              <a:rPr lang="en-US" sz="830" dirty="0">
                <a:solidFill>
                  <a:srgbClr val="93A4B6"/>
                </a:solidFill>
                <a:latin typeface="Microsoft JhengHei" pitchFamily="34" charset="0"/>
                <a:ea typeface="Microsoft JhengHei" pitchFamily="34" charset="-122"/>
                <a:cs typeface="Microsoft JhengHei" pitchFamily="34" charset="-120"/>
              </a:rPr>
              <a:t>示意：曲線形狀非原始資料；時間標記取自論文表 2</a:t>
            </a:r>
            <a:endParaRPr lang="en-US" sz="830" dirty="0"/>
          </a:p>
        </p:txBody>
      </p:sp>
      <p:sp>
        <p:nvSpPr>
          <p:cNvPr id="121" name="Shape 119"/>
          <p:cNvSpPr/>
          <p:nvPr/>
        </p:nvSpPr>
        <p:spPr>
          <a:xfrm>
            <a:off x="7808976" y="1188720"/>
            <a:ext cx="3767328" cy="4992624"/>
          </a:xfrm>
          <a:prstGeom prst="roundRect">
            <a:avLst>
              <a:gd name="adj" fmla="val 1942"/>
            </a:avLst>
          </a:prstGeom>
          <a:solidFill>
            <a:srgbClr val="12263A"/>
          </a:solidFill>
          <a:ln w="12700">
            <a:solidFill>
              <a:srgbClr val="1E3A52"/>
            </a:solidFill>
            <a:prstDash val="solid"/>
          </a:ln>
        </p:spPr>
      </p:sp>
      <p:sp>
        <p:nvSpPr>
          <p:cNvPr id="122" name="Text 120"/>
          <p:cNvSpPr txBox="1"/>
          <p:nvPr/>
        </p:nvSpPr>
        <p:spPr>
          <a:xfrm>
            <a:off x="8083296" y="1499616"/>
            <a:ext cx="1371600" cy="201168"/>
          </a:xfrm>
          <a:prstGeom prst="rect">
            <a:avLst/>
          </a:prstGeom>
          <a:noFill/>
          <a:ln/>
        </p:spPr>
        <p:txBody>
          <a:bodyPr wrap="square" lIns="0" tIns="0" rIns="0" bIns="0" rtlCol="0" anchor="t">
            <a:normAutofit/>
          </a:bodyPr>
          <a:lstStyle/>
          <a:p>
            <a:pPr algn="l" indent="0" marL="0">
              <a:buNone/>
            </a:pPr>
            <a:r>
              <a:rPr lang="en-US" sz="950" b="1" spc="40" kern="0" dirty="0">
                <a:solidFill>
                  <a:srgbClr val="20D4C7"/>
                </a:solidFill>
                <a:latin typeface="Microsoft JhengHei" pitchFamily="34" charset="0"/>
                <a:ea typeface="Microsoft JhengHei" pitchFamily="34" charset="-122"/>
                <a:cs typeface="Microsoft JhengHei" pitchFamily="34" charset="-120"/>
              </a:rPr>
              <a:t>三個讀法</a:t>
            </a:r>
            <a:endParaRPr lang="en-US" sz="950" dirty="0"/>
          </a:p>
        </p:txBody>
      </p:sp>
      <p:sp>
        <p:nvSpPr>
          <p:cNvPr id="123" name="Shape 121"/>
          <p:cNvSpPr/>
          <p:nvPr/>
        </p:nvSpPr>
        <p:spPr>
          <a:xfrm>
            <a:off x="8092440" y="1975104"/>
            <a:ext cx="128016" cy="128016"/>
          </a:xfrm>
          <a:prstGeom prst="ellipse">
            <a:avLst/>
          </a:prstGeom>
          <a:solidFill>
            <a:srgbClr val="FF9B5E"/>
          </a:solidFill>
          <a:ln w="12700">
            <a:solidFill>
              <a:srgbClr val="FF9B5E">
                <a:alpha val="0"/>
              </a:srgbClr>
            </a:solidFill>
            <a:prstDash val="solid"/>
          </a:ln>
        </p:spPr>
      </p:sp>
      <p:sp>
        <p:nvSpPr>
          <p:cNvPr id="124" name="Text 122"/>
          <p:cNvSpPr txBox="1"/>
          <p:nvPr/>
        </p:nvSpPr>
        <p:spPr>
          <a:xfrm>
            <a:off x="8302752" y="1938528"/>
            <a:ext cx="2880360"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相同負荷，反應提早</a:t>
            </a:r>
            <a:endParaRPr lang="en-US" sz="1250" dirty="0"/>
          </a:p>
        </p:txBody>
      </p:sp>
      <p:sp>
        <p:nvSpPr>
          <p:cNvPr id="125" name="Text 123"/>
          <p:cNvSpPr txBox="1"/>
          <p:nvPr/>
        </p:nvSpPr>
        <p:spPr>
          <a:xfrm>
            <a:off x="8302752" y="2203704"/>
            <a:ext cx="2880360" cy="566928"/>
          </a:xfrm>
          <a:prstGeom prst="rect">
            <a:avLst/>
          </a:prstGeom>
          <a:noFill/>
          <a:ln/>
        </p:spPr>
        <p:txBody>
          <a:bodyPr wrap="square" lIns="0" tIns="0" rIns="0" bIns="0" rtlCol="0" anchor="t">
            <a:normAutofit/>
          </a:bodyPr>
          <a:lstStyle/>
          <a:p>
            <a:pPr algn="l" indent="0" marL="0">
              <a:buNone/>
            </a:pPr>
            <a:r>
              <a:rPr lang="en-US" sz="1070" dirty="0">
                <a:solidFill>
                  <a:srgbClr val="93A4B6"/>
                </a:solidFill>
                <a:latin typeface="Microsoft JhengHei" pitchFamily="34" charset="0"/>
                <a:ea typeface="Microsoft JhengHei" pitchFamily="34" charset="-122"/>
                <a:cs typeface="Microsoft JhengHei" pitchFamily="34" charset="-120"/>
              </a:rPr>
              <a:t>疲勞後不是騎得更重；是在同一個 25% PP 下，曲線更早上升。</a:t>
            </a:r>
            <a:endParaRPr lang="en-US" sz="1070" dirty="0"/>
          </a:p>
        </p:txBody>
      </p:sp>
      <p:sp>
        <p:nvSpPr>
          <p:cNvPr id="126" name="Shape 124"/>
          <p:cNvSpPr/>
          <p:nvPr/>
        </p:nvSpPr>
        <p:spPr>
          <a:xfrm>
            <a:off x="8092440" y="3054096"/>
            <a:ext cx="128016" cy="128016"/>
          </a:xfrm>
          <a:prstGeom prst="ellipse">
            <a:avLst/>
          </a:prstGeom>
          <a:solidFill>
            <a:srgbClr val="6BB7FF"/>
          </a:solidFill>
          <a:ln w="12700">
            <a:solidFill>
              <a:srgbClr val="6BB7FF">
                <a:alpha val="0"/>
              </a:srgbClr>
            </a:solidFill>
            <a:prstDash val="solid"/>
          </a:ln>
        </p:spPr>
      </p:sp>
      <p:sp>
        <p:nvSpPr>
          <p:cNvPr id="127" name="Text 125"/>
          <p:cNvSpPr txBox="1"/>
          <p:nvPr/>
        </p:nvSpPr>
        <p:spPr>
          <a:xfrm>
            <a:off x="8302752" y="3017520"/>
            <a:ext cx="2880360"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峰值提早約 150 秒</a:t>
            </a:r>
            <a:endParaRPr lang="en-US" sz="1250" dirty="0"/>
          </a:p>
        </p:txBody>
      </p:sp>
      <p:sp>
        <p:nvSpPr>
          <p:cNvPr id="128" name="Text 126"/>
          <p:cNvSpPr txBox="1"/>
          <p:nvPr/>
        </p:nvSpPr>
        <p:spPr>
          <a:xfrm>
            <a:off x="8302752" y="3282696"/>
            <a:ext cx="2880360" cy="502920"/>
          </a:xfrm>
          <a:prstGeom prst="rect">
            <a:avLst/>
          </a:prstGeom>
          <a:noFill/>
          <a:ln/>
        </p:spPr>
        <p:txBody>
          <a:bodyPr wrap="square" lIns="0" tIns="0" rIns="0" bIns="0" rtlCol="0" anchor="t">
            <a:normAutofit/>
          </a:bodyPr>
          <a:lstStyle/>
          <a:p>
            <a:pPr algn="l" indent="0" marL="0">
              <a:buNone/>
            </a:pPr>
            <a:r>
              <a:rPr lang="en-US" sz="1070" dirty="0">
                <a:solidFill>
                  <a:srgbClr val="93A4B6"/>
                </a:solidFill>
                <a:latin typeface="Microsoft JhengHei" pitchFamily="34" charset="0"/>
                <a:ea typeface="Microsoft JhengHei" pitchFamily="34" charset="-122"/>
                <a:cs typeface="Microsoft JhengHei" pitchFamily="34" charset="-120"/>
              </a:rPr>
              <a:t>822.1 → 671.8 秒；平均差 150.3 秒，p &lt; 0.01。</a:t>
            </a:r>
            <a:endParaRPr lang="en-US" sz="1070" dirty="0"/>
          </a:p>
        </p:txBody>
      </p:sp>
      <p:sp>
        <p:nvSpPr>
          <p:cNvPr id="129" name="Shape 127"/>
          <p:cNvSpPr/>
          <p:nvPr/>
        </p:nvSpPr>
        <p:spPr>
          <a:xfrm>
            <a:off x="8092440" y="4078224"/>
            <a:ext cx="128016" cy="128016"/>
          </a:xfrm>
          <a:prstGeom prst="ellipse">
            <a:avLst/>
          </a:prstGeom>
          <a:solidFill>
            <a:srgbClr val="B7F06A"/>
          </a:solidFill>
          <a:ln w="12700">
            <a:solidFill>
              <a:srgbClr val="B7F06A">
                <a:alpha val="0"/>
              </a:srgbClr>
            </a:solidFill>
            <a:prstDash val="solid"/>
          </a:ln>
        </p:spPr>
      </p:sp>
      <p:sp>
        <p:nvSpPr>
          <p:cNvPr id="130" name="Text 128"/>
          <p:cNvSpPr txBox="1"/>
          <p:nvPr/>
        </p:nvSpPr>
        <p:spPr>
          <a:xfrm>
            <a:off x="8302752" y="4041648"/>
            <a:ext cx="2880360"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固定反應值提早更多</a:t>
            </a:r>
            <a:endParaRPr lang="en-US" sz="1250" dirty="0"/>
          </a:p>
        </p:txBody>
      </p:sp>
      <p:sp>
        <p:nvSpPr>
          <p:cNvPr id="131" name="Text 129"/>
          <p:cNvSpPr txBox="1"/>
          <p:nvPr/>
        </p:nvSpPr>
        <p:spPr>
          <a:xfrm>
            <a:off x="8302752" y="4306824"/>
            <a:ext cx="2880360" cy="594360"/>
          </a:xfrm>
          <a:prstGeom prst="rect">
            <a:avLst/>
          </a:prstGeom>
          <a:noFill/>
          <a:ln/>
        </p:spPr>
        <p:txBody>
          <a:bodyPr wrap="square" lIns="0" tIns="0" rIns="0" bIns="0" rtlCol="0" anchor="t">
            <a:normAutofit/>
          </a:bodyPr>
          <a:lstStyle/>
          <a:p>
            <a:pPr algn="l" indent="0" marL="0">
              <a:buNone/>
            </a:pPr>
            <a:r>
              <a:rPr lang="en-US" sz="1070" dirty="0">
                <a:solidFill>
                  <a:srgbClr val="93A4B6"/>
                </a:solidFill>
                <a:latin typeface="Microsoft JhengHei" pitchFamily="34" charset="0"/>
                <a:ea typeface="Microsoft JhengHei" pitchFamily="34" charset="-122"/>
                <a:cs typeface="Microsoft JhengHei" pitchFamily="34" charset="-120"/>
              </a:rPr>
              <a:t>達 2、3、4 μA 的時間分別提早 237.5、267.5、267.9 秒。</a:t>
            </a:r>
            <a:endParaRPr lang="en-US" sz="1070" dirty="0"/>
          </a:p>
        </p:txBody>
      </p:sp>
      <p:sp>
        <p:nvSpPr>
          <p:cNvPr id="132" name="Shape 130"/>
          <p:cNvSpPr/>
          <p:nvPr/>
        </p:nvSpPr>
        <p:spPr>
          <a:xfrm>
            <a:off x="8147304" y="5230368"/>
            <a:ext cx="3035808" cy="566928"/>
          </a:xfrm>
          <a:prstGeom prst="roundRect">
            <a:avLst>
              <a:gd name="adj" fmla="val 12903"/>
            </a:avLst>
          </a:prstGeom>
          <a:solidFill>
            <a:srgbClr val="102235"/>
          </a:solidFill>
          <a:ln w="12700">
            <a:solidFill>
              <a:srgbClr val="FF9B5E"/>
            </a:solidFill>
            <a:prstDash val="solid"/>
          </a:ln>
        </p:spPr>
      </p:sp>
      <p:sp>
        <p:nvSpPr>
          <p:cNvPr id="133" name="Text 131"/>
          <p:cNvSpPr txBox="1"/>
          <p:nvPr/>
        </p:nvSpPr>
        <p:spPr>
          <a:xfrm>
            <a:off x="8302752" y="5413248"/>
            <a:ext cx="2724912" cy="192024"/>
          </a:xfrm>
          <a:prstGeom prst="rect">
            <a:avLst/>
          </a:prstGeom>
          <a:noFill/>
          <a:ln/>
        </p:spPr>
        <p:txBody>
          <a:bodyPr wrap="square" lIns="0" tIns="0" rIns="0" bIns="0" rtlCol="0" anchor="t">
            <a:normAutofit/>
          </a:bodyPr>
          <a:lstStyle/>
          <a:p>
            <a:pPr algn="ctr" indent="0" marL="0">
              <a:buNone/>
            </a:pPr>
            <a:r>
              <a:rPr lang="en-US" sz="1150" b="1" dirty="0">
                <a:solidFill>
                  <a:srgbClr val="FFC09B"/>
                </a:solidFill>
                <a:latin typeface="Microsoft JhengHei" pitchFamily="34" charset="0"/>
                <a:ea typeface="Microsoft JhengHei" pitchFamily="34" charset="-122"/>
                <a:cs typeface="Microsoft JhengHei" pitchFamily="34" charset="-120"/>
              </a:rPr>
              <a:t>候選疲勞特徵 = 「提前多久」</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0D4C7"/>
          </a:solidFill>
          <a:ln w="12700">
            <a:solidFill>
              <a:srgbClr val="20D4C7">
                <a:alpha val="0"/>
              </a:srgbClr>
            </a:solidFill>
            <a:prstDash val="solid"/>
          </a:ln>
        </p:spPr>
      </p:sp>
      <p:sp>
        <p:nvSpPr>
          <p:cNvPr id="3" name="Shape 1"/>
          <p:cNvSpPr/>
          <p:nvPr/>
        </p:nvSpPr>
        <p:spPr>
          <a:xfrm>
            <a:off x="10561320" y="-658368"/>
            <a:ext cx="2194560" cy="2194560"/>
          </a:xfrm>
          <a:prstGeom prst="ellipse">
            <a:avLst/>
          </a:prstGeom>
          <a:solidFill>
            <a:srgbClr val="20D4C7">
              <a:alpha val="8000"/>
            </a:srgbClr>
          </a:solidFill>
          <a:ln w="12700">
            <a:solidFill>
              <a:srgbClr val="20D4C7">
                <a:alpha val="0"/>
              </a:srgbClr>
            </a:solidFill>
            <a:prstDash val="solid"/>
          </a:ln>
        </p:spPr>
      </p:sp>
      <p:sp>
        <p:nvSpPr>
          <p:cNvPr id="4" name="Shape 2"/>
          <p:cNvSpPr/>
          <p:nvPr/>
        </p:nvSpPr>
        <p:spPr>
          <a:xfrm>
            <a:off x="502920" y="841248"/>
            <a:ext cx="11155680" cy="0"/>
          </a:xfrm>
          <a:prstGeom prst="line">
            <a:avLst/>
          </a:prstGeom>
          <a:noFill/>
          <a:ln w="12700">
            <a:solidFill>
              <a:srgbClr val="1E3A52"/>
            </a:solidFill>
            <a:prstDash val="solid"/>
          </a:ln>
        </p:spPr>
      </p:sp>
      <p:sp>
        <p:nvSpPr>
          <p:cNvPr id="5" name="Text 3"/>
          <p:cNvSpPr/>
          <p:nvPr/>
        </p:nvSpPr>
        <p:spPr>
          <a:xfrm>
            <a:off x="566928" y="237744"/>
            <a:ext cx="2926080" cy="219456"/>
          </a:xfrm>
          <a:prstGeom prst="rect">
            <a:avLst/>
          </a:prstGeom>
          <a:noFill/>
          <a:ln/>
        </p:spPr>
        <p:txBody>
          <a:bodyPr wrap="square" lIns="0" tIns="0" rIns="0" bIns="0" rtlCol="0" anchor="ctr">
            <a:normAutofit/>
          </a:bodyPr>
          <a:lstStyle/>
          <a:p>
            <a:pPr indent="0" marL="0">
              <a:buNone/>
            </a:pPr>
            <a:r>
              <a:rPr lang="en-US" sz="850" b="1" spc="130" kern="0" dirty="0">
                <a:solidFill>
                  <a:srgbClr val="20D4C7"/>
                </a:solidFill>
                <a:latin typeface="Aptos" pitchFamily="34" charset="0"/>
                <a:ea typeface="Aptos" pitchFamily="34" charset="-122"/>
                <a:cs typeface="Aptos" pitchFamily="34" charset="-120"/>
              </a:rPr>
              <a:t>STUDY 01 · NUMBERS</a:t>
            </a:r>
            <a:endParaRPr lang="en-US" sz="850" dirty="0"/>
          </a:p>
        </p:txBody>
      </p:sp>
      <p:sp>
        <p:nvSpPr>
          <p:cNvPr id="6" name="Text 4"/>
          <p:cNvSpPr/>
          <p:nvPr/>
        </p:nvSpPr>
        <p:spPr>
          <a:xfrm>
            <a:off x="566928" y="420624"/>
            <a:ext cx="10881360" cy="365760"/>
          </a:xfrm>
          <a:prstGeom prst="rect">
            <a:avLst/>
          </a:prstGeom>
          <a:noFill/>
          <a:ln/>
        </p:spPr>
        <p:txBody>
          <a:bodyPr wrap="square" lIns="0" tIns="0" rIns="0" bIns="0" rtlCol="0" anchor="ctr">
            <a:normAutofit/>
          </a:bodyPr>
          <a:lstStyle/>
          <a:p>
            <a:pPr indent="0" marL="0">
              <a:buNone/>
            </a:pPr>
            <a:r>
              <a:rPr lang="en-US" sz="2300" b="1" dirty="0">
                <a:solidFill>
                  <a:srgbClr val="F5F7FA"/>
                </a:solidFill>
                <a:latin typeface="Microsoft JhengHei" pitchFamily="34" charset="0"/>
                <a:ea typeface="Microsoft JhengHei" pitchFamily="34" charset="-122"/>
                <a:cs typeface="Microsoft JhengHei" pitchFamily="34" charset="-120"/>
              </a:rPr>
              <a:t>研究 1｜各反應門檻都提早，而且效應量很大</a:t>
            </a:r>
            <a:endParaRPr lang="en-US" sz="2300" dirty="0"/>
          </a:p>
        </p:txBody>
      </p:sp>
      <p:sp>
        <p:nvSpPr>
          <p:cNvPr id="7" name="Text 5"/>
          <p:cNvSpPr/>
          <p:nvPr/>
        </p:nvSpPr>
        <p:spPr>
          <a:xfrm>
            <a:off x="11109960" y="6519672"/>
            <a:ext cx="502920" cy="164592"/>
          </a:xfrm>
          <a:prstGeom prst="rect">
            <a:avLst/>
          </a:prstGeom>
          <a:noFill/>
          <a:ln/>
        </p:spPr>
        <p:txBody>
          <a:bodyPr wrap="square" lIns="0" tIns="0" rIns="0" bIns="0" rtlCol="0" anchor="ctr"/>
          <a:lstStyle/>
          <a:p>
            <a:pPr algn="r" indent="0" marL="0">
              <a:buNone/>
            </a:pPr>
            <a:r>
              <a:rPr lang="en-US" sz="850" b="1" dirty="0">
                <a:solidFill>
                  <a:srgbClr val="20D4C7"/>
                </a:solidFill>
                <a:latin typeface="Aptos" pitchFamily="34" charset="0"/>
                <a:ea typeface="Aptos" pitchFamily="34" charset="-122"/>
                <a:cs typeface="Aptos" pitchFamily="34" charset="-120"/>
              </a:rPr>
              <a:t>06</a:t>
            </a:r>
            <a:endParaRPr lang="en-US" sz="850" dirty="0"/>
          </a:p>
        </p:txBody>
      </p:sp>
      <p:sp>
        <p:nvSpPr>
          <p:cNvPr id="8" name="Text 6"/>
          <p:cNvSpPr/>
          <p:nvPr/>
        </p:nvSpPr>
        <p:spPr>
          <a:xfrm>
            <a:off x="566928" y="6492240"/>
            <a:ext cx="9966960" cy="182880"/>
          </a:xfrm>
          <a:prstGeom prst="rect">
            <a:avLst/>
          </a:prstGeom>
          <a:noFill/>
          <a:ln/>
        </p:spPr>
        <p:txBody>
          <a:bodyPr wrap="square" lIns="0" tIns="0" rIns="0" bIns="0" rtlCol="0" anchor="ctr">
            <a:normAutofit/>
          </a:bodyPr>
          <a:lstStyle/>
          <a:p>
            <a:pPr indent="0" marL="0">
              <a:buNone/>
            </a:pPr>
            <a:r>
              <a:rPr lang="en-US" sz="730" dirty="0">
                <a:solidFill>
                  <a:srgbClr val="93A4B6"/>
                </a:solidFill>
                <a:latin typeface="Microsoft JhengHei" pitchFamily="34" charset="0"/>
                <a:ea typeface="Microsoft JhengHei" pitchFamily="34" charset="-122"/>
                <a:cs typeface="Microsoft JhengHei" pitchFamily="34" charset="-120"/>
              </a:rPr>
              <a:t>Study 1 · Table 2 · paired t-test；所有列 p &lt; 0.01</a:t>
            </a:r>
            <a:endParaRPr lang="en-US" sz="730" dirty="0"/>
          </a:p>
        </p:txBody>
      </p:sp>
      <p:sp>
        <p:nvSpPr>
          <p:cNvPr id="9" name="Shape 7"/>
          <p:cNvSpPr/>
          <p:nvPr/>
        </p:nvSpPr>
        <p:spPr>
          <a:xfrm>
            <a:off x="612648" y="1188720"/>
            <a:ext cx="7406640" cy="4983480"/>
          </a:xfrm>
          <a:prstGeom prst="roundRect">
            <a:avLst>
              <a:gd name="adj" fmla="val 1468"/>
            </a:avLst>
          </a:prstGeom>
          <a:solidFill>
            <a:srgbClr val="0E1D2E"/>
          </a:solidFill>
          <a:ln w="12700">
            <a:solidFill>
              <a:srgbClr val="1E3A52"/>
            </a:solidFill>
            <a:prstDash val="solid"/>
          </a:ln>
        </p:spPr>
      </p:sp>
      <p:sp>
        <p:nvSpPr>
          <p:cNvPr id="10" name="Shape 8"/>
          <p:cNvSpPr/>
          <p:nvPr/>
        </p:nvSpPr>
        <p:spPr>
          <a:xfrm>
            <a:off x="4864608" y="1417320"/>
            <a:ext cx="1335024" cy="310896"/>
          </a:xfrm>
          <a:prstGeom prst="roundRect">
            <a:avLst/>
          </a:prstGeom>
          <a:solidFill>
            <a:srgbClr val="6BB7FF"/>
          </a:solidFill>
          <a:ln w="12700">
            <a:solidFill>
              <a:srgbClr val="6BB7FF">
                <a:alpha val="0"/>
              </a:srgbClr>
            </a:solidFill>
            <a:prstDash val="solid"/>
          </a:ln>
        </p:spPr>
      </p:sp>
      <p:sp>
        <p:nvSpPr>
          <p:cNvPr id="11" name="Text 9"/>
          <p:cNvSpPr txBox="1"/>
          <p:nvPr/>
        </p:nvSpPr>
        <p:spPr>
          <a:xfrm>
            <a:off x="4937760" y="1485900"/>
            <a:ext cx="1188720" cy="210312"/>
          </a:xfrm>
          <a:prstGeom prst="rect">
            <a:avLst/>
          </a:prstGeom>
          <a:noFill/>
          <a:ln/>
        </p:spPr>
        <p:txBody>
          <a:bodyPr wrap="square" lIns="0" tIns="0" rIns="0" bIns="0" rtlCol="0" anchor="ctr">
            <a:normAutofit/>
          </a:bodyPr>
          <a:lstStyle/>
          <a:p>
            <a:pPr algn="ctr" indent="0" marL="0">
              <a:buNone/>
            </a:pPr>
            <a:r>
              <a:rPr lang="en-US" sz="860" b="1" dirty="0">
                <a:solidFill>
                  <a:srgbClr val="07111F"/>
                </a:solidFill>
                <a:latin typeface="Microsoft JhengHei" pitchFamily="34" charset="0"/>
                <a:ea typeface="Microsoft JhengHei" pitchFamily="34" charset="-122"/>
                <a:cs typeface="Microsoft JhengHei" pitchFamily="34" charset="-120"/>
              </a:rPr>
              <a:t>Test 1 疲勞前</a:t>
            </a:r>
            <a:endParaRPr lang="en-US" sz="860" dirty="0"/>
          </a:p>
        </p:txBody>
      </p:sp>
      <p:sp>
        <p:nvSpPr>
          <p:cNvPr id="12" name="Shape 10"/>
          <p:cNvSpPr/>
          <p:nvPr/>
        </p:nvSpPr>
        <p:spPr>
          <a:xfrm>
            <a:off x="6318504" y="1417320"/>
            <a:ext cx="1335024" cy="310896"/>
          </a:xfrm>
          <a:prstGeom prst="roundRect">
            <a:avLst/>
          </a:prstGeom>
          <a:solidFill>
            <a:srgbClr val="FF9B5E"/>
          </a:solidFill>
          <a:ln w="12700">
            <a:solidFill>
              <a:srgbClr val="FF9B5E">
                <a:alpha val="0"/>
              </a:srgbClr>
            </a:solidFill>
            <a:prstDash val="solid"/>
          </a:ln>
        </p:spPr>
      </p:sp>
      <p:sp>
        <p:nvSpPr>
          <p:cNvPr id="13" name="Text 11"/>
          <p:cNvSpPr txBox="1"/>
          <p:nvPr/>
        </p:nvSpPr>
        <p:spPr>
          <a:xfrm>
            <a:off x="6391656" y="1485900"/>
            <a:ext cx="1188720" cy="210312"/>
          </a:xfrm>
          <a:prstGeom prst="rect">
            <a:avLst/>
          </a:prstGeom>
          <a:noFill/>
          <a:ln/>
        </p:spPr>
        <p:txBody>
          <a:bodyPr wrap="square" lIns="0" tIns="0" rIns="0" bIns="0" rtlCol="0" anchor="ctr">
            <a:normAutofit/>
          </a:bodyPr>
          <a:lstStyle/>
          <a:p>
            <a:pPr algn="ctr" indent="0" marL="0">
              <a:buNone/>
            </a:pPr>
            <a:r>
              <a:rPr lang="en-US" sz="860" b="1" dirty="0">
                <a:solidFill>
                  <a:srgbClr val="07111F"/>
                </a:solidFill>
                <a:latin typeface="Microsoft JhengHei" pitchFamily="34" charset="0"/>
                <a:ea typeface="Microsoft JhengHei" pitchFamily="34" charset="-122"/>
                <a:cs typeface="Microsoft JhengHei" pitchFamily="34" charset="-120"/>
              </a:rPr>
              <a:t>Test 2 疲勞後</a:t>
            </a:r>
            <a:endParaRPr lang="en-US" sz="860" dirty="0"/>
          </a:p>
        </p:txBody>
      </p:sp>
      <p:sp>
        <p:nvSpPr>
          <p:cNvPr id="14" name="Shape 12"/>
          <p:cNvSpPr/>
          <p:nvPr/>
        </p:nvSpPr>
        <p:spPr>
          <a:xfrm>
            <a:off x="1847088" y="1901952"/>
            <a:ext cx="0" cy="3529584"/>
          </a:xfrm>
          <a:prstGeom prst="line">
            <a:avLst/>
          </a:prstGeom>
          <a:noFill/>
          <a:ln w="7620">
            <a:solidFill>
              <a:srgbClr val="27435A"/>
            </a:solidFill>
            <a:prstDash val="solid"/>
          </a:ln>
        </p:spPr>
      </p:sp>
      <p:sp>
        <p:nvSpPr>
          <p:cNvPr id="15" name="Text 13"/>
          <p:cNvSpPr txBox="1"/>
          <p:nvPr/>
        </p:nvSpPr>
        <p:spPr>
          <a:xfrm>
            <a:off x="1664208" y="5495544"/>
            <a:ext cx="365760" cy="164592"/>
          </a:xfrm>
          <a:prstGeom prst="rect">
            <a:avLst/>
          </a:prstGeom>
          <a:noFill/>
          <a:ln/>
        </p:spPr>
        <p:txBody>
          <a:bodyPr wrap="square" lIns="0" tIns="0" rIns="0" bIns="0" rtlCol="0" anchor="t">
            <a:normAutofit/>
          </a:bodyPr>
          <a:lstStyle/>
          <a:p>
            <a:pPr algn="ctr" indent="0" marL="0">
              <a:buNone/>
            </a:pPr>
            <a:r>
              <a:rPr lang="en-US" sz="820" dirty="0">
                <a:solidFill>
                  <a:srgbClr val="93A4B6"/>
                </a:solidFill>
                <a:latin typeface="Aptos" pitchFamily="34" charset="0"/>
                <a:ea typeface="Aptos" pitchFamily="34" charset="-122"/>
                <a:cs typeface="Aptos" pitchFamily="34" charset="-120"/>
              </a:rPr>
              <a:t>0</a:t>
            </a:r>
            <a:endParaRPr lang="en-US" sz="820" dirty="0"/>
          </a:p>
        </p:txBody>
      </p:sp>
      <p:sp>
        <p:nvSpPr>
          <p:cNvPr id="16" name="Shape 14"/>
          <p:cNvSpPr/>
          <p:nvPr/>
        </p:nvSpPr>
        <p:spPr>
          <a:xfrm>
            <a:off x="3636264" y="1901952"/>
            <a:ext cx="0" cy="3529584"/>
          </a:xfrm>
          <a:prstGeom prst="line">
            <a:avLst/>
          </a:prstGeom>
          <a:noFill/>
          <a:ln w="7620">
            <a:solidFill>
              <a:srgbClr val="27435A"/>
            </a:solidFill>
            <a:prstDash val="solid"/>
          </a:ln>
        </p:spPr>
      </p:sp>
      <p:sp>
        <p:nvSpPr>
          <p:cNvPr id="17" name="Text 15"/>
          <p:cNvSpPr txBox="1"/>
          <p:nvPr/>
        </p:nvSpPr>
        <p:spPr>
          <a:xfrm>
            <a:off x="3453384" y="5495544"/>
            <a:ext cx="365760" cy="164592"/>
          </a:xfrm>
          <a:prstGeom prst="rect">
            <a:avLst/>
          </a:prstGeom>
          <a:noFill/>
          <a:ln/>
        </p:spPr>
        <p:txBody>
          <a:bodyPr wrap="square" lIns="0" tIns="0" rIns="0" bIns="0" rtlCol="0" anchor="t">
            <a:normAutofit/>
          </a:bodyPr>
          <a:lstStyle/>
          <a:p>
            <a:pPr algn="ctr" indent="0" marL="0">
              <a:buNone/>
            </a:pPr>
            <a:r>
              <a:rPr lang="en-US" sz="820" dirty="0">
                <a:solidFill>
                  <a:srgbClr val="93A4B6"/>
                </a:solidFill>
                <a:latin typeface="Aptos" pitchFamily="34" charset="0"/>
                <a:ea typeface="Aptos" pitchFamily="34" charset="-122"/>
                <a:cs typeface="Aptos" pitchFamily="34" charset="-120"/>
              </a:rPr>
              <a:t>300</a:t>
            </a:r>
            <a:endParaRPr lang="en-US" sz="820" dirty="0"/>
          </a:p>
        </p:txBody>
      </p:sp>
      <p:sp>
        <p:nvSpPr>
          <p:cNvPr id="18" name="Shape 16"/>
          <p:cNvSpPr/>
          <p:nvPr/>
        </p:nvSpPr>
        <p:spPr>
          <a:xfrm>
            <a:off x="5425440" y="1901952"/>
            <a:ext cx="0" cy="3529584"/>
          </a:xfrm>
          <a:prstGeom prst="line">
            <a:avLst/>
          </a:prstGeom>
          <a:noFill/>
          <a:ln w="7620">
            <a:solidFill>
              <a:srgbClr val="27435A"/>
            </a:solidFill>
            <a:prstDash val="solid"/>
          </a:ln>
        </p:spPr>
      </p:sp>
      <p:sp>
        <p:nvSpPr>
          <p:cNvPr id="19" name="Text 17"/>
          <p:cNvSpPr txBox="1"/>
          <p:nvPr/>
        </p:nvSpPr>
        <p:spPr>
          <a:xfrm>
            <a:off x="5242560" y="5495544"/>
            <a:ext cx="365760" cy="164592"/>
          </a:xfrm>
          <a:prstGeom prst="rect">
            <a:avLst/>
          </a:prstGeom>
          <a:noFill/>
          <a:ln/>
        </p:spPr>
        <p:txBody>
          <a:bodyPr wrap="square" lIns="0" tIns="0" rIns="0" bIns="0" rtlCol="0" anchor="t">
            <a:normAutofit/>
          </a:bodyPr>
          <a:lstStyle/>
          <a:p>
            <a:pPr algn="ctr" indent="0" marL="0">
              <a:buNone/>
            </a:pPr>
            <a:r>
              <a:rPr lang="en-US" sz="820" dirty="0">
                <a:solidFill>
                  <a:srgbClr val="93A4B6"/>
                </a:solidFill>
                <a:latin typeface="Aptos" pitchFamily="34" charset="0"/>
                <a:ea typeface="Aptos" pitchFamily="34" charset="-122"/>
                <a:cs typeface="Aptos" pitchFamily="34" charset="-120"/>
              </a:rPr>
              <a:t>600</a:t>
            </a:r>
            <a:endParaRPr lang="en-US" sz="820" dirty="0"/>
          </a:p>
        </p:txBody>
      </p:sp>
      <p:sp>
        <p:nvSpPr>
          <p:cNvPr id="20" name="Shape 18"/>
          <p:cNvSpPr/>
          <p:nvPr/>
        </p:nvSpPr>
        <p:spPr>
          <a:xfrm>
            <a:off x="7214616" y="1901952"/>
            <a:ext cx="0" cy="3529584"/>
          </a:xfrm>
          <a:prstGeom prst="line">
            <a:avLst/>
          </a:prstGeom>
          <a:noFill/>
          <a:ln w="7620">
            <a:solidFill>
              <a:srgbClr val="27435A"/>
            </a:solidFill>
            <a:prstDash val="solid"/>
          </a:ln>
        </p:spPr>
      </p:sp>
      <p:sp>
        <p:nvSpPr>
          <p:cNvPr id="21" name="Text 19"/>
          <p:cNvSpPr txBox="1"/>
          <p:nvPr/>
        </p:nvSpPr>
        <p:spPr>
          <a:xfrm>
            <a:off x="7031736" y="5495544"/>
            <a:ext cx="365760" cy="164592"/>
          </a:xfrm>
          <a:prstGeom prst="rect">
            <a:avLst/>
          </a:prstGeom>
          <a:noFill/>
          <a:ln/>
        </p:spPr>
        <p:txBody>
          <a:bodyPr wrap="square" lIns="0" tIns="0" rIns="0" bIns="0" rtlCol="0" anchor="t">
            <a:normAutofit/>
          </a:bodyPr>
          <a:lstStyle/>
          <a:p>
            <a:pPr algn="ctr" indent="0" marL="0">
              <a:buNone/>
            </a:pPr>
            <a:r>
              <a:rPr lang="en-US" sz="820" dirty="0">
                <a:solidFill>
                  <a:srgbClr val="93A4B6"/>
                </a:solidFill>
                <a:latin typeface="Aptos" pitchFamily="34" charset="0"/>
                <a:ea typeface="Aptos" pitchFamily="34" charset="-122"/>
                <a:cs typeface="Aptos" pitchFamily="34" charset="-120"/>
              </a:rPr>
              <a:t>900</a:t>
            </a:r>
            <a:endParaRPr lang="en-US" sz="820" dirty="0"/>
          </a:p>
        </p:txBody>
      </p:sp>
      <p:sp>
        <p:nvSpPr>
          <p:cNvPr id="22" name="Text 20"/>
          <p:cNvSpPr txBox="1"/>
          <p:nvPr/>
        </p:nvSpPr>
        <p:spPr>
          <a:xfrm>
            <a:off x="896112" y="2075688"/>
            <a:ext cx="804672" cy="201168"/>
          </a:xfrm>
          <a:prstGeom prst="rect">
            <a:avLst/>
          </a:prstGeom>
          <a:noFill/>
          <a:ln/>
        </p:spPr>
        <p:txBody>
          <a:bodyPr wrap="square" lIns="0" tIns="0" rIns="0" bIns="0" rtlCol="0" anchor="t">
            <a:normAutofit/>
          </a:bodyPr>
          <a:lstStyle/>
          <a:p>
            <a:pPr algn="r" indent="0" marL="0">
              <a:buNone/>
            </a:pPr>
            <a:r>
              <a:rPr lang="en-US" sz="1050" b="1" dirty="0">
                <a:solidFill>
                  <a:srgbClr val="D8E2EC"/>
                </a:solidFill>
                <a:latin typeface="Microsoft JhengHei" pitchFamily="34" charset="0"/>
                <a:ea typeface="Microsoft JhengHei" pitchFamily="34" charset="-122"/>
                <a:cs typeface="Microsoft JhengHei" pitchFamily="34" charset="-120"/>
              </a:rPr>
              <a:t>峰值</a:t>
            </a:r>
            <a:endParaRPr lang="en-US" sz="1050" dirty="0"/>
          </a:p>
        </p:txBody>
      </p:sp>
      <p:sp>
        <p:nvSpPr>
          <p:cNvPr id="23" name="Shape 21"/>
          <p:cNvSpPr/>
          <p:nvPr/>
        </p:nvSpPr>
        <p:spPr>
          <a:xfrm>
            <a:off x="1847088" y="1975104"/>
            <a:ext cx="4902939" cy="201168"/>
          </a:xfrm>
          <a:prstGeom prst="roundRect">
            <a:avLst/>
          </a:prstGeom>
          <a:solidFill>
            <a:srgbClr val="6BB7FF"/>
          </a:solidFill>
          <a:ln w="12700">
            <a:solidFill>
              <a:srgbClr val="6BB7FF">
                <a:alpha val="0"/>
              </a:srgbClr>
            </a:solidFill>
            <a:prstDash val="solid"/>
          </a:ln>
        </p:spPr>
      </p:sp>
      <p:sp>
        <p:nvSpPr>
          <p:cNvPr id="24" name="Shape 22"/>
          <p:cNvSpPr/>
          <p:nvPr/>
        </p:nvSpPr>
        <p:spPr>
          <a:xfrm>
            <a:off x="1847088" y="2231136"/>
            <a:ext cx="4006561" cy="201168"/>
          </a:xfrm>
          <a:prstGeom prst="roundRect">
            <a:avLst/>
          </a:prstGeom>
          <a:solidFill>
            <a:srgbClr val="FF9B5E"/>
          </a:solidFill>
          <a:ln w="12700">
            <a:solidFill>
              <a:srgbClr val="FF9B5E">
                <a:alpha val="0"/>
              </a:srgbClr>
            </a:solidFill>
            <a:prstDash val="solid"/>
          </a:ln>
        </p:spPr>
      </p:sp>
      <p:sp>
        <p:nvSpPr>
          <p:cNvPr id="25" name="Text 23"/>
          <p:cNvSpPr txBox="1"/>
          <p:nvPr/>
        </p:nvSpPr>
        <p:spPr>
          <a:xfrm>
            <a:off x="6823179" y="1965960"/>
            <a:ext cx="530352" cy="182880"/>
          </a:xfrm>
          <a:prstGeom prst="rect">
            <a:avLst/>
          </a:prstGeom>
          <a:noFill/>
          <a:ln/>
        </p:spPr>
        <p:txBody>
          <a:bodyPr wrap="square" lIns="0" tIns="0" rIns="0" bIns="0" rtlCol="0" anchor="t">
            <a:normAutofit/>
          </a:bodyPr>
          <a:lstStyle/>
          <a:p>
            <a:pPr algn="l" indent="0" marL="0">
              <a:buNone/>
            </a:pPr>
            <a:r>
              <a:rPr lang="en-US" sz="860" dirty="0">
                <a:solidFill>
                  <a:srgbClr val="9DD0FF"/>
                </a:solidFill>
                <a:latin typeface="Aptos" pitchFamily="34" charset="0"/>
                <a:ea typeface="Aptos" pitchFamily="34" charset="-122"/>
                <a:cs typeface="Aptos" pitchFamily="34" charset="-120"/>
              </a:rPr>
              <a:t>822.1</a:t>
            </a:r>
            <a:endParaRPr lang="en-US" sz="860" dirty="0"/>
          </a:p>
        </p:txBody>
      </p:sp>
      <p:sp>
        <p:nvSpPr>
          <p:cNvPr id="26" name="Text 24"/>
          <p:cNvSpPr txBox="1"/>
          <p:nvPr/>
        </p:nvSpPr>
        <p:spPr>
          <a:xfrm>
            <a:off x="5926801" y="2221992"/>
            <a:ext cx="530352" cy="182880"/>
          </a:xfrm>
          <a:prstGeom prst="rect">
            <a:avLst/>
          </a:prstGeom>
          <a:noFill/>
          <a:ln/>
        </p:spPr>
        <p:txBody>
          <a:bodyPr wrap="square" lIns="0" tIns="0" rIns="0" bIns="0" rtlCol="0" anchor="t">
            <a:normAutofit/>
          </a:bodyPr>
          <a:lstStyle/>
          <a:p>
            <a:pPr algn="l" indent="0" marL="0">
              <a:buNone/>
            </a:pPr>
            <a:r>
              <a:rPr lang="en-US" sz="860" dirty="0">
                <a:solidFill>
                  <a:srgbClr val="FFC09B"/>
                </a:solidFill>
                <a:latin typeface="Aptos" pitchFamily="34" charset="0"/>
                <a:ea typeface="Aptos" pitchFamily="34" charset="-122"/>
                <a:cs typeface="Aptos" pitchFamily="34" charset="-120"/>
              </a:rPr>
              <a:t>671.8</a:t>
            </a:r>
            <a:endParaRPr lang="en-US" sz="860" dirty="0"/>
          </a:p>
        </p:txBody>
      </p:sp>
      <p:sp>
        <p:nvSpPr>
          <p:cNvPr id="27" name="Text 25"/>
          <p:cNvSpPr txBox="1"/>
          <p:nvPr/>
        </p:nvSpPr>
        <p:spPr>
          <a:xfrm>
            <a:off x="896112" y="2734056"/>
            <a:ext cx="804672" cy="201168"/>
          </a:xfrm>
          <a:prstGeom prst="rect">
            <a:avLst/>
          </a:prstGeom>
          <a:noFill/>
          <a:ln/>
        </p:spPr>
        <p:txBody>
          <a:bodyPr wrap="square" lIns="0" tIns="0" rIns="0" bIns="0" rtlCol="0" anchor="t">
            <a:normAutofit/>
          </a:bodyPr>
          <a:lstStyle/>
          <a:p>
            <a:pPr algn="r" indent="0" marL="0">
              <a:buNone/>
            </a:pPr>
            <a:r>
              <a:rPr lang="en-US" sz="1050" b="1" dirty="0">
                <a:solidFill>
                  <a:srgbClr val="D8E2EC"/>
                </a:solidFill>
                <a:latin typeface="Aptos" pitchFamily="34" charset="0"/>
                <a:ea typeface="Aptos" pitchFamily="34" charset="-122"/>
                <a:cs typeface="Aptos" pitchFamily="34" charset="-120"/>
              </a:rPr>
              <a:t>1 μA/cm²</a:t>
            </a:r>
            <a:endParaRPr lang="en-US" sz="1050" dirty="0"/>
          </a:p>
        </p:txBody>
      </p:sp>
      <p:sp>
        <p:nvSpPr>
          <p:cNvPr id="28" name="Shape 26"/>
          <p:cNvSpPr/>
          <p:nvPr/>
        </p:nvSpPr>
        <p:spPr>
          <a:xfrm>
            <a:off x="1847088" y="2633472"/>
            <a:ext cx="3449531" cy="201168"/>
          </a:xfrm>
          <a:prstGeom prst="roundRect">
            <a:avLst/>
          </a:prstGeom>
          <a:solidFill>
            <a:srgbClr val="6BB7FF"/>
          </a:solidFill>
          <a:ln w="12700">
            <a:solidFill>
              <a:srgbClr val="6BB7FF">
                <a:alpha val="0"/>
              </a:srgbClr>
            </a:solidFill>
            <a:prstDash val="solid"/>
          </a:ln>
        </p:spPr>
      </p:sp>
      <p:sp>
        <p:nvSpPr>
          <p:cNvPr id="29" name="Shape 27"/>
          <p:cNvSpPr/>
          <p:nvPr/>
        </p:nvSpPr>
        <p:spPr>
          <a:xfrm>
            <a:off x="1847088" y="2889504"/>
            <a:ext cx="1999702" cy="201168"/>
          </a:xfrm>
          <a:prstGeom prst="roundRect">
            <a:avLst/>
          </a:prstGeom>
          <a:solidFill>
            <a:srgbClr val="FF9B5E"/>
          </a:solidFill>
          <a:ln w="12700">
            <a:solidFill>
              <a:srgbClr val="FF9B5E">
                <a:alpha val="0"/>
              </a:srgbClr>
            </a:solidFill>
            <a:prstDash val="solid"/>
          </a:ln>
        </p:spPr>
      </p:sp>
      <p:sp>
        <p:nvSpPr>
          <p:cNvPr id="30" name="Text 28"/>
          <p:cNvSpPr txBox="1"/>
          <p:nvPr/>
        </p:nvSpPr>
        <p:spPr>
          <a:xfrm>
            <a:off x="5369771" y="2624328"/>
            <a:ext cx="530352" cy="182880"/>
          </a:xfrm>
          <a:prstGeom prst="rect">
            <a:avLst/>
          </a:prstGeom>
          <a:noFill/>
          <a:ln/>
        </p:spPr>
        <p:txBody>
          <a:bodyPr wrap="square" lIns="0" tIns="0" rIns="0" bIns="0" rtlCol="0" anchor="t">
            <a:normAutofit/>
          </a:bodyPr>
          <a:lstStyle/>
          <a:p>
            <a:pPr algn="l" indent="0" marL="0">
              <a:buNone/>
            </a:pPr>
            <a:r>
              <a:rPr lang="en-US" sz="860" dirty="0">
                <a:solidFill>
                  <a:srgbClr val="9DD0FF"/>
                </a:solidFill>
                <a:latin typeface="Aptos" pitchFamily="34" charset="0"/>
                <a:ea typeface="Aptos" pitchFamily="34" charset="-122"/>
                <a:cs typeface="Aptos" pitchFamily="34" charset="-120"/>
              </a:rPr>
              <a:t>578.4</a:t>
            </a:r>
            <a:endParaRPr lang="en-US" sz="860" dirty="0"/>
          </a:p>
        </p:txBody>
      </p:sp>
      <p:sp>
        <p:nvSpPr>
          <p:cNvPr id="31" name="Text 29"/>
          <p:cNvSpPr txBox="1"/>
          <p:nvPr/>
        </p:nvSpPr>
        <p:spPr>
          <a:xfrm>
            <a:off x="3919942" y="2880360"/>
            <a:ext cx="530352" cy="182880"/>
          </a:xfrm>
          <a:prstGeom prst="rect">
            <a:avLst/>
          </a:prstGeom>
          <a:noFill/>
          <a:ln/>
        </p:spPr>
        <p:txBody>
          <a:bodyPr wrap="square" lIns="0" tIns="0" rIns="0" bIns="0" rtlCol="0" anchor="t">
            <a:normAutofit/>
          </a:bodyPr>
          <a:lstStyle/>
          <a:p>
            <a:pPr algn="l" indent="0" marL="0">
              <a:buNone/>
            </a:pPr>
            <a:r>
              <a:rPr lang="en-US" sz="860" dirty="0">
                <a:solidFill>
                  <a:srgbClr val="FFC09B"/>
                </a:solidFill>
                <a:latin typeface="Aptos" pitchFamily="34" charset="0"/>
                <a:ea typeface="Aptos" pitchFamily="34" charset="-122"/>
                <a:cs typeface="Aptos" pitchFamily="34" charset="-120"/>
              </a:rPr>
              <a:t>335.3</a:t>
            </a:r>
            <a:endParaRPr lang="en-US" sz="860" dirty="0"/>
          </a:p>
        </p:txBody>
      </p:sp>
      <p:sp>
        <p:nvSpPr>
          <p:cNvPr id="32" name="Text 30"/>
          <p:cNvSpPr txBox="1"/>
          <p:nvPr/>
        </p:nvSpPr>
        <p:spPr>
          <a:xfrm>
            <a:off x="896112" y="3392424"/>
            <a:ext cx="804672" cy="201168"/>
          </a:xfrm>
          <a:prstGeom prst="rect">
            <a:avLst/>
          </a:prstGeom>
          <a:noFill/>
          <a:ln/>
        </p:spPr>
        <p:txBody>
          <a:bodyPr wrap="square" lIns="0" tIns="0" rIns="0" bIns="0" rtlCol="0" anchor="t">
            <a:normAutofit/>
          </a:bodyPr>
          <a:lstStyle/>
          <a:p>
            <a:pPr algn="r" indent="0" marL="0">
              <a:buNone/>
            </a:pPr>
            <a:r>
              <a:rPr lang="en-US" sz="1050" b="1" dirty="0">
                <a:solidFill>
                  <a:srgbClr val="D8E2EC"/>
                </a:solidFill>
                <a:latin typeface="Aptos" pitchFamily="34" charset="0"/>
                <a:ea typeface="Aptos" pitchFamily="34" charset="-122"/>
                <a:cs typeface="Aptos" pitchFamily="34" charset="-120"/>
              </a:rPr>
              <a:t>2 μA/cm²</a:t>
            </a:r>
            <a:endParaRPr lang="en-US" sz="1050" dirty="0"/>
          </a:p>
        </p:txBody>
      </p:sp>
      <p:sp>
        <p:nvSpPr>
          <p:cNvPr id="33" name="Shape 31"/>
          <p:cNvSpPr/>
          <p:nvPr/>
        </p:nvSpPr>
        <p:spPr>
          <a:xfrm>
            <a:off x="1847088" y="3291840"/>
            <a:ext cx="3519309" cy="201168"/>
          </a:xfrm>
          <a:prstGeom prst="roundRect">
            <a:avLst/>
          </a:prstGeom>
          <a:solidFill>
            <a:srgbClr val="6BB7FF"/>
          </a:solidFill>
          <a:ln w="12700">
            <a:solidFill>
              <a:srgbClr val="6BB7FF">
                <a:alpha val="0"/>
              </a:srgbClr>
            </a:solidFill>
            <a:prstDash val="solid"/>
          </a:ln>
        </p:spPr>
      </p:sp>
      <p:sp>
        <p:nvSpPr>
          <p:cNvPr id="34" name="Shape 32"/>
          <p:cNvSpPr/>
          <p:nvPr/>
        </p:nvSpPr>
        <p:spPr>
          <a:xfrm>
            <a:off x="1847088" y="3547872"/>
            <a:ext cx="2102878" cy="201168"/>
          </a:xfrm>
          <a:prstGeom prst="roundRect">
            <a:avLst/>
          </a:prstGeom>
          <a:solidFill>
            <a:srgbClr val="FF9B5E"/>
          </a:solidFill>
          <a:ln w="12700">
            <a:solidFill>
              <a:srgbClr val="FF9B5E">
                <a:alpha val="0"/>
              </a:srgbClr>
            </a:solidFill>
            <a:prstDash val="solid"/>
          </a:ln>
        </p:spPr>
      </p:sp>
      <p:sp>
        <p:nvSpPr>
          <p:cNvPr id="35" name="Text 33"/>
          <p:cNvSpPr txBox="1"/>
          <p:nvPr/>
        </p:nvSpPr>
        <p:spPr>
          <a:xfrm>
            <a:off x="5439549" y="3282696"/>
            <a:ext cx="530352" cy="182880"/>
          </a:xfrm>
          <a:prstGeom prst="rect">
            <a:avLst/>
          </a:prstGeom>
          <a:noFill/>
          <a:ln/>
        </p:spPr>
        <p:txBody>
          <a:bodyPr wrap="square" lIns="0" tIns="0" rIns="0" bIns="0" rtlCol="0" anchor="t">
            <a:normAutofit/>
          </a:bodyPr>
          <a:lstStyle/>
          <a:p>
            <a:pPr algn="l" indent="0" marL="0">
              <a:buNone/>
            </a:pPr>
            <a:r>
              <a:rPr lang="en-US" sz="860" dirty="0">
                <a:solidFill>
                  <a:srgbClr val="9DD0FF"/>
                </a:solidFill>
                <a:latin typeface="Aptos" pitchFamily="34" charset="0"/>
                <a:ea typeface="Aptos" pitchFamily="34" charset="-122"/>
                <a:cs typeface="Aptos" pitchFamily="34" charset="-120"/>
              </a:rPr>
              <a:t>590.1</a:t>
            </a:r>
            <a:endParaRPr lang="en-US" sz="860" dirty="0"/>
          </a:p>
        </p:txBody>
      </p:sp>
      <p:sp>
        <p:nvSpPr>
          <p:cNvPr id="36" name="Text 34"/>
          <p:cNvSpPr txBox="1"/>
          <p:nvPr/>
        </p:nvSpPr>
        <p:spPr>
          <a:xfrm>
            <a:off x="4023118" y="3538728"/>
            <a:ext cx="530352" cy="182880"/>
          </a:xfrm>
          <a:prstGeom prst="rect">
            <a:avLst/>
          </a:prstGeom>
          <a:noFill/>
          <a:ln/>
        </p:spPr>
        <p:txBody>
          <a:bodyPr wrap="square" lIns="0" tIns="0" rIns="0" bIns="0" rtlCol="0" anchor="t">
            <a:normAutofit/>
          </a:bodyPr>
          <a:lstStyle/>
          <a:p>
            <a:pPr algn="l" indent="0" marL="0">
              <a:buNone/>
            </a:pPr>
            <a:r>
              <a:rPr lang="en-US" sz="860" dirty="0">
                <a:solidFill>
                  <a:srgbClr val="FFC09B"/>
                </a:solidFill>
                <a:latin typeface="Aptos" pitchFamily="34" charset="0"/>
                <a:ea typeface="Aptos" pitchFamily="34" charset="-122"/>
                <a:cs typeface="Aptos" pitchFamily="34" charset="-120"/>
              </a:rPr>
              <a:t>352.6</a:t>
            </a:r>
            <a:endParaRPr lang="en-US" sz="860" dirty="0"/>
          </a:p>
        </p:txBody>
      </p:sp>
      <p:sp>
        <p:nvSpPr>
          <p:cNvPr id="37" name="Text 35"/>
          <p:cNvSpPr txBox="1"/>
          <p:nvPr/>
        </p:nvSpPr>
        <p:spPr>
          <a:xfrm>
            <a:off x="896112" y="4050792"/>
            <a:ext cx="804672" cy="201168"/>
          </a:xfrm>
          <a:prstGeom prst="rect">
            <a:avLst/>
          </a:prstGeom>
          <a:noFill/>
          <a:ln/>
        </p:spPr>
        <p:txBody>
          <a:bodyPr wrap="square" lIns="0" tIns="0" rIns="0" bIns="0" rtlCol="0" anchor="t">
            <a:normAutofit/>
          </a:bodyPr>
          <a:lstStyle/>
          <a:p>
            <a:pPr algn="r" indent="0" marL="0">
              <a:buNone/>
            </a:pPr>
            <a:r>
              <a:rPr lang="en-US" sz="1050" b="1" dirty="0">
                <a:solidFill>
                  <a:srgbClr val="D8E2EC"/>
                </a:solidFill>
                <a:latin typeface="Aptos" pitchFamily="34" charset="0"/>
                <a:ea typeface="Aptos" pitchFamily="34" charset="-122"/>
                <a:cs typeface="Aptos" pitchFamily="34" charset="-120"/>
              </a:rPr>
              <a:t>3 μA/cm²</a:t>
            </a:r>
            <a:endParaRPr lang="en-US" sz="1050" dirty="0"/>
          </a:p>
        </p:txBody>
      </p:sp>
      <p:sp>
        <p:nvSpPr>
          <p:cNvPr id="38" name="Shape 36"/>
          <p:cNvSpPr/>
          <p:nvPr/>
        </p:nvSpPr>
        <p:spPr>
          <a:xfrm>
            <a:off x="1847088" y="3950208"/>
            <a:ext cx="3818698" cy="201168"/>
          </a:xfrm>
          <a:prstGeom prst="roundRect">
            <a:avLst/>
          </a:prstGeom>
          <a:solidFill>
            <a:srgbClr val="6BB7FF"/>
          </a:solidFill>
          <a:ln w="12700">
            <a:solidFill>
              <a:srgbClr val="6BB7FF">
                <a:alpha val="0"/>
              </a:srgbClr>
            </a:solidFill>
            <a:prstDash val="solid"/>
          </a:ln>
        </p:spPr>
      </p:sp>
      <p:sp>
        <p:nvSpPr>
          <p:cNvPr id="39" name="Shape 37"/>
          <p:cNvSpPr/>
          <p:nvPr/>
        </p:nvSpPr>
        <p:spPr>
          <a:xfrm>
            <a:off x="1847088" y="4206240"/>
            <a:ext cx="2223349" cy="201168"/>
          </a:xfrm>
          <a:prstGeom prst="roundRect">
            <a:avLst/>
          </a:prstGeom>
          <a:solidFill>
            <a:srgbClr val="FF9B5E"/>
          </a:solidFill>
          <a:ln w="12700">
            <a:solidFill>
              <a:srgbClr val="FF9B5E">
                <a:alpha val="0"/>
              </a:srgbClr>
            </a:solidFill>
            <a:prstDash val="solid"/>
          </a:ln>
        </p:spPr>
      </p:sp>
      <p:sp>
        <p:nvSpPr>
          <p:cNvPr id="40" name="Text 38"/>
          <p:cNvSpPr txBox="1"/>
          <p:nvPr/>
        </p:nvSpPr>
        <p:spPr>
          <a:xfrm>
            <a:off x="5738938" y="3941064"/>
            <a:ext cx="530352" cy="182880"/>
          </a:xfrm>
          <a:prstGeom prst="rect">
            <a:avLst/>
          </a:prstGeom>
          <a:noFill/>
          <a:ln/>
        </p:spPr>
        <p:txBody>
          <a:bodyPr wrap="square" lIns="0" tIns="0" rIns="0" bIns="0" rtlCol="0" anchor="t">
            <a:normAutofit/>
          </a:bodyPr>
          <a:lstStyle/>
          <a:p>
            <a:pPr algn="l" indent="0" marL="0">
              <a:buNone/>
            </a:pPr>
            <a:r>
              <a:rPr lang="en-US" sz="860" dirty="0">
                <a:solidFill>
                  <a:srgbClr val="9DD0FF"/>
                </a:solidFill>
                <a:latin typeface="Aptos" pitchFamily="34" charset="0"/>
                <a:ea typeface="Aptos" pitchFamily="34" charset="-122"/>
                <a:cs typeface="Aptos" pitchFamily="34" charset="-120"/>
              </a:rPr>
              <a:t>640.3</a:t>
            </a:r>
            <a:endParaRPr lang="en-US" sz="860" dirty="0"/>
          </a:p>
        </p:txBody>
      </p:sp>
      <p:sp>
        <p:nvSpPr>
          <p:cNvPr id="41" name="Text 39"/>
          <p:cNvSpPr txBox="1"/>
          <p:nvPr/>
        </p:nvSpPr>
        <p:spPr>
          <a:xfrm>
            <a:off x="4143589" y="4197096"/>
            <a:ext cx="530352" cy="182880"/>
          </a:xfrm>
          <a:prstGeom prst="rect">
            <a:avLst/>
          </a:prstGeom>
          <a:noFill/>
          <a:ln/>
        </p:spPr>
        <p:txBody>
          <a:bodyPr wrap="square" lIns="0" tIns="0" rIns="0" bIns="0" rtlCol="0" anchor="t">
            <a:normAutofit/>
          </a:bodyPr>
          <a:lstStyle/>
          <a:p>
            <a:pPr algn="l" indent="0" marL="0">
              <a:buNone/>
            </a:pPr>
            <a:r>
              <a:rPr lang="en-US" sz="860" dirty="0">
                <a:solidFill>
                  <a:srgbClr val="FFC09B"/>
                </a:solidFill>
                <a:latin typeface="Aptos" pitchFamily="34" charset="0"/>
                <a:ea typeface="Aptos" pitchFamily="34" charset="-122"/>
                <a:cs typeface="Aptos" pitchFamily="34" charset="-120"/>
              </a:rPr>
              <a:t>372.8</a:t>
            </a:r>
            <a:endParaRPr lang="en-US" sz="860" dirty="0"/>
          </a:p>
        </p:txBody>
      </p:sp>
      <p:sp>
        <p:nvSpPr>
          <p:cNvPr id="42" name="Text 40"/>
          <p:cNvSpPr txBox="1"/>
          <p:nvPr/>
        </p:nvSpPr>
        <p:spPr>
          <a:xfrm>
            <a:off x="896112" y="4709160"/>
            <a:ext cx="804672" cy="201168"/>
          </a:xfrm>
          <a:prstGeom prst="rect">
            <a:avLst/>
          </a:prstGeom>
          <a:noFill/>
          <a:ln/>
        </p:spPr>
        <p:txBody>
          <a:bodyPr wrap="square" lIns="0" tIns="0" rIns="0" bIns="0" rtlCol="0" anchor="t">
            <a:normAutofit/>
          </a:bodyPr>
          <a:lstStyle/>
          <a:p>
            <a:pPr algn="r" indent="0" marL="0">
              <a:buNone/>
            </a:pPr>
            <a:r>
              <a:rPr lang="en-US" sz="1050" b="1" dirty="0">
                <a:solidFill>
                  <a:srgbClr val="D8E2EC"/>
                </a:solidFill>
                <a:latin typeface="Aptos" pitchFamily="34" charset="0"/>
                <a:ea typeface="Aptos" pitchFamily="34" charset="-122"/>
                <a:cs typeface="Aptos" pitchFamily="34" charset="-120"/>
              </a:rPr>
              <a:t>4 μA/cm²</a:t>
            </a:r>
            <a:endParaRPr lang="en-US" sz="1050" dirty="0"/>
          </a:p>
        </p:txBody>
      </p:sp>
      <p:sp>
        <p:nvSpPr>
          <p:cNvPr id="43" name="Shape 41"/>
          <p:cNvSpPr/>
          <p:nvPr/>
        </p:nvSpPr>
        <p:spPr>
          <a:xfrm>
            <a:off x="1847088" y="4608576"/>
            <a:ext cx="4047713" cy="201168"/>
          </a:xfrm>
          <a:prstGeom prst="roundRect">
            <a:avLst/>
          </a:prstGeom>
          <a:solidFill>
            <a:srgbClr val="6BB7FF"/>
          </a:solidFill>
          <a:ln w="12700">
            <a:solidFill>
              <a:srgbClr val="6BB7FF">
                <a:alpha val="0"/>
              </a:srgbClr>
            </a:solidFill>
            <a:prstDash val="solid"/>
          </a:ln>
        </p:spPr>
      </p:sp>
      <p:sp>
        <p:nvSpPr>
          <p:cNvPr id="44" name="Shape 42"/>
          <p:cNvSpPr/>
          <p:nvPr/>
        </p:nvSpPr>
        <p:spPr>
          <a:xfrm>
            <a:off x="1847088" y="4864608"/>
            <a:ext cx="2449978" cy="201168"/>
          </a:xfrm>
          <a:prstGeom prst="roundRect">
            <a:avLst/>
          </a:prstGeom>
          <a:solidFill>
            <a:srgbClr val="FF9B5E"/>
          </a:solidFill>
          <a:ln w="12700">
            <a:solidFill>
              <a:srgbClr val="FF9B5E">
                <a:alpha val="0"/>
              </a:srgbClr>
            </a:solidFill>
            <a:prstDash val="solid"/>
          </a:ln>
        </p:spPr>
      </p:sp>
      <p:sp>
        <p:nvSpPr>
          <p:cNvPr id="45" name="Text 43"/>
          <p:cNvSpPr txBox="1"/>
          <p:nvPr/>
        </p:nvSpPr>
        <p:spPr>
          <a:xfrm>
            <a:off x="5967953" y="4599432"/>
            <a:ext cx="530352" cy="182880"/>
          </a:xfrm>
          <a:prstGeom prst="rect">
            <a:avLst/>
          </a:prstGeom>
          <a:noFill/>
          <a:ln/>
        </p:spPr>
        <p:txBody>
          <a:bodyPr wrap="square" lIns="0" tIns="0" rIns="0" bIns="0" rtlCol="0" anchor="t">
            <a:normAutofit/>
          </a:bodyPr>
          <a:lstStyle/>
          <a:p>
            <a:pPr algn="l" indent="0" marL="0">
              <a:buNone/>
            </a:pPr>
            <a:r>
              <a:rPr lang="en-US" sz="860" dirty="0">
                <a:solidFill>
                  <a:srgbClr val="9DD0FF"/>
                </a:solidFill>
                <a:latin typeface="Aptos" pitchFamily="34" charset="0"/>
                <a:ea typeface="Aptos" pitchFamily="34" charset="-122"/>
                <a:cs typeface="Aptos" pitchFamily="34" charset="-120"/>
              </a:rPr>
              <a:t>678.7</a:t>
            </a:r>
            <a:endParaRPr lang="en-US" sz="860" dirty="0"/>
          </a:p>
        </p:txBody>
      </p:sp>
      <p:sp>
        <p:nvSpPr>
          <p:cNvPr id="46" name="Text 44"/>
          <p:cNvSpPr txBox="1"/>
          <p:nvPr/>
        </p:nvSpPr>
        <p:spPr>
          <a:xfrm>
            <a:off x="4370218" y="4855464"/>
            <a:ext cx="530352" cy="182880"/>
          </a:xfrm>
          <a:prstGeom prst="rect">
            <a:avLst/>
          </a:prstGeom>
          <a:noFill/>
          <a:ln/>
        </p:spPr>
        <p:txBody>
          <a:bodyPr wrap="square" lIns="0" tIns="0" rIns="0" bIns="0" rtlCol="0" anchor="t">
            <a:normAutofit/>
          </a:bodyPr>
          <a:lstStyle/>
          <a:p>
            <a:pPr algn="l" indent="0" marL="0">
              <a:buNone/>
            </a:pPr>
            <a:r>
              <a:rPr lang="en-US" sz="860" dirty="0">
                <a:solidFill>
                  <a:srgbClr val="FFC09B"/>
                </a:solidFill>
                <a:latin typeface="Aptos" pitchFamily="34" charset="0"/>
                <a:ea typeface="Aptos" pitchFamily="34" charset="-122"/>
                <a:cs typeface="Aptos" pitchFamily="34" charset="-120"/>
              </a:rPr>
              <a:t>410.8</a:t>
            </a:r>
            <a:endParaRPr lang="en-US" sz="860" dirty="0"/>
          </a:p>
        </p:txBody>
      </p:sp>
      <p:sp>
        <p:nvSpPr>
          <p:cNvPr id="47" name="Text 45"/>
          <p:cNvSpPr txBox="1"/>
          <p:nvPr/>
        </p:nvSpPr>
        <p:spPr>
          <a:xfrm>
            <a:off x="3364992" y="5705856"/>
            <a:ext cx="2743200" cy="182880"/>
          </a:xfrm>
          <a:prstGeom prst="rect">
            <a:avLst/>
          </a:prstGeom>
          <a:noFill/>
          <a:ln/>
        </p:spPr>
        <p:txBody>
          <a:bodyPr wrap="square" lIns="0" tIns="0" rIns="0" bIns="0" rtlCol="0" anchor="t">
            <a:normAutofit/>
          </a:bodyPr>
          <a:lstStyle/>
          <a:p>
            <a:pPr algn="ctr" indent="0" marL="0">
              <a:buNone/>
            </a:pPr>
            <a:r>
              <a:rPr lang="en-US" sz="870" dirty="0">
                <a:solidFill>
                  <a:srgbClr val="93A4B6"/>
                </a:solidFill>
                <a:latin typeface="Microsoft JhengHei" pitchFamily="34" charset="0"/>
                <a:ea typeface="Microsoft JhengHei" pitchFamily="34" charset="-122"/>
                <a:cs typeface="Microsoft JhengHei" pitchFamily="34" charset="-120"/>
              </a:rPr>
              <a:t>到達時間（秒；平均 ± SD 詳見原論文）</a:t>
            </a:r>
            <a:endParaRPr lang="en-US" sz="870" dirty="0"/>
          </a:p>
        </p:txBody>
      </p:sp>
      <p:sp>
        <p:nvSpPr>
          <p:cNvPr id="48" name="Shape 46"/>
          <p:cNvSpPr/>
          <p:nvPr/>
        </p:nvSpPr>
        <p:spPr>
          <a:xfrm>
            <a:off x="8257032" y="1188720"/>
            <a:ext cx="3319272" cy="4983480"/>
          </a:xfrm>
          <a:prstGeom prst="roundRect">
            <a:avLst>
              <a:gd name="adj" fmla="val 2204"/>
            </a:avLst>
          </a:prstGeom>
          <a:solidFill>
            <a:srgbClr val="12263A"/>
          </a:solidFill>
          <a:ln w="12700">
            <a:solidFill>
              <a:srgbClr val="1E3A52"/>
            </a:solidFill>
            <a:prstDash val="solid"/>
          </a:ln>
        </p:spPr>
      </p:sp>
      <p:sp>
        <p:nvSpPr>
          <p:cNvPr id="49" name="Text 47"/>
          <p:cNvSpPr txBox="1"/>
          <p:nvPr/>
        </p:nvSpPr>
        <p:spPr>
          <a:xfrm>
            <a:off x="8540496" y="1499616"/>
            <a:ext cx="2468880" cy="201168"/>
          </a:xfrm>
          <a:prstGeom prst="rect">
            <a:avLst/>
          </a:prstGeom>
          <a:noFill/>
          <a:ln/>
        </p:spPr>
        <p:txBody>
          <a:bodyPr wrap="square" lIns="0" tIns="0" rIns="0" bIns="0" rtlCol="0" anchor="t">
            <a:normAutofit/>
          </a:bodyPr>
          <a:lstStyle/>
          <a:p>
            <a:pPr algn="l" indent="0" marL="0">
              <a:buNone/>
            </a:pPr>
            <a:r>
              <a:rPr lang="en-US" sz="950" b="1" spc="40" kern="0" dirty="0">
                <a:solidFill>
                  <a:srgbClr val="20D4C7"/>
                </a:solidFill>
                <a:latin typeface="Microsoft JhengHei" pitchFamily="34" charset="0"/>
                <a:ea typeface="Microsoft JhengHei" pitchFamily="34" charset="-122"/>
                <a:cs typeface="Microsoft JhengHei" pitchFamily="34" charset="-120"/>
              </a:rPr>
              <a:t>平均提前時間 / 配對效應量</a:t>
            </a:r>
            <a:endParaRPr lang="en-US" sz="950" dirty="0"/>
          </a:p>
        </p:txBody>
      </p:sp>
      <p:sp>
        <p:nvSpPr>
          <p:cNvPr id="50" name="Text 48"/>
          <p:cNvSpPr txBox="1"/>
          <p:nvPr/>
        </p:nvSpPr>
        <p:spPr>
          <a:xfrm>
            <a:off x="8540496" y="1901952"/>
            <a:ext cx="594360" cy="192024"/>
          </a:xfrm>
          <a:prstGeom prst="rect">
            <a:avLst/>
          </a:prstGeom>
          <a:noFill/>
          <a:ln/>
        </p:spPr>
        <p:txBody>
          <a:bodyPr wrap="square" lIns="0" tIns="0" rIns="0" bIns="0" rtlCol="0" anchor="t">
            <a:normAutofit/>
          </a:bodyPr>
          <a:lstStyle/>
          <a:p>
            <a:pPr algn="l" indent="0" marL="0">
              <a:buNone/>
            </a:pPr>
            <a:r>
              <a:rPr lang="en-US" sz="940" b="1" dirty="0">
                <a:solidFill>
                  <a:srgbClr val="93A4B6"/>
                </a:solidFill>
                <a:latin typeface="Microsoft JhengHei" pitchFamily="34" charset="0"/>
                <a:ea typeface="Microsoft JhengHei" pitchFamily="34" charset="-122"/>
                <a:cs typeface="Microsoft JhengHei" pitchFamily="34" charset="-120"/>
              </a:rPr>
              <a:t>指標</a:t>
            </a:r>
            <a:endParaRPr lang="en-US" sz="940" dirty="0"/>
          </a:p>
        </p:txBody>
      </p:sp>
      <p:sp>
        <p:nvSpPr>
          <p:cNvPr id="51" name="Text 49"/>
          <p:cNvSpPr txBox="1"/>
          <p:nvPr/>
        </p:nvSpPr>
        <p:spPr>
          <a:xfrm>
            <a:off x="9308592" y="1901952"/>
            <a:ext cx="502920" cy="192024"/>
          </a:xfrm>
          <a:prstGeom prst="rect">
            <a:avLst/>
          </a:prstGeom>
          <a:noFill/>
          <a:ln/>
        </p:spPr>
        <p:txBody>
          <a:bodyPr wrap="square" lIns="0" tIns="0" rIns="0" bIns="0" rtlCol="0" anchor="t">
            <a:normAutofit/>
          </a:bodyPr>
          <a:lstStyle/>
          <a:p>
            <a:pPr algn="r" indent="0" marL="0">
              <a:buNone/>
            </a:pPr>
            <a:r>
              <a:rPr lang="en-US" sz="940" b="1" dirty="0">
                <a:solidFill>
                  <a:srgbClr val="93A4B6"/>
                </a:solidFill>
                <a:latin typeface="Aptos" pitchFamily="34" charset="0"/>
                <a:ea typeface="Aptos" pitchFamily="34" charset="-122"/>
                <a:cs typeface="Aptos" pitchFamily="34" charset="-120"/>
              </a:rPr>
              <a:t>Δ秒</a:t>
            </a:r>
            <a:endParaRPr lang="en-US" sz="940" dirty="0"/>
          </a:p>
        </p:txBody>
      </p:sp>
      <p:sp>
        <p:nvSpPr>
          <p:cNvPr id="52" name="Text 50"/>
          <p:cNvSpPr txBox="1"/>
          <p:nvPr/>
        </p:nvSpPr>
        <p:spPr>
          <a:xfrm>
            <a:off x="10149840" y="1901952"/>
            <a:ext cx="320040" cy="192024"/>
          </a:xfrm>
          <a:prstGeom prst="rect">
            <a:avLst/>
          </a:prstGeom>
          <a:noFill/>
          <a:ln/>
        </p:spPr>
        <p:txBody>
          <a:bodyPr wrap="square" lIns="0" tIns="0" rIns="0" bIns="0" rtlCol="0" anchor="t">
            <a:normAutofit/>
          </a:bodyPr>
          <a:lstStyle/>
          <a:p>
            <a:pPr algn="r" indent="0" marL="0">
              <a:buNone/>
            </a:pPr>
            <a:r>
              <a:rPr lang="en-US" sz="940" b="1" dirty="0">
                <a:solidFill>
                  <a:srgbClr val="93A4B6"/>
                </a:solidFill>
                <a:latin typeface="Aptos" pitchFamily="34" charset="0"/>
                <a:ea typeface="Aptos" pitchFamily="34" charset="-122"/>
                <a:cs typeface="Aptos" pitchFamily="34" charset="-120"/>
              </a:rPr>
              <a:t>d</a:t>
            </a:r>
            <a:endParaRPr lang="en-US" sz="940" dirty="0"/>
          </a:p>
        </p:txBody>
      </p:sp>
      <p:sp>
        <p:nvSpPr>
          <p:cNvPr id="53" name="Text 51"/>
          <p:cNvSpPr txBox="1"/>
          <p:nvPr/>
        </p:nvSpPr>
        <p:spPr>
          <a:xfrm>
            <a:off x="10835640" y="1901952"/>
            <a:ext cx="228600" cy="192024"/>
          </a:xfrm>
          <a:prstGeom prst="rect">
            <a:avLst/>
          </a:prstGeom>
          <a:noFill/>
          <a:ln/>
        </p:spPr>
        <p:txBody>
          <a:bodyPr wrap="square" lIns="0" tIns="0" rIns="0" bIns="0" rtlCol="0" anchor="t">
            <a:normAutofit/>
          </a:bodyPr>
          <a:lstStyle/>
          <a:p>
            <a:pPr algn="r" indent="0" marL="0">
              <a:buNone/>
            </a:pPr>
            <a:r>
              <a:rPr lang="en-US" sz="940" b="1" dirty="0">
                <a:solidFill>
                  <a:srgbClr val="93A4B6"/>
                </a:solidFill>
                <a:latin typeface="Aptos" pitchFamily="34" charset="0"/>
                <a:ea typeface="Aptos" pitchFamily="34" charset="-122"/>
                <a:cs typeface="Aptos" pitchFamily="34" charset="-120"/>
              </a:rPr>
              <a:t>n</a:t>
            </a:r>
            <a:endParaRPr lang="en-US" sz="940" dirty="0"/>
          </a:p>
        </p:txBody>
      </p:sp>
      <p:sp>
        <p:nvSpPr>
          <p:cNvPr id="54" name="Shape 52"/>
          <p:cNvSpPr/>
          <p:nvPr/>
        </p:nvSpPr>
        <p:spPr>
          <a:xfrm>
            <a:off x="8540496" y="2167128"/>
            <a:ext cx="2532888" cy="0"/>
          </a:xfrm>
          <a:prstGeom prst="line">
            <a:avLst/>
          </a:prstGeom>
          <a:noFill/>
          <a:ln w="12700">
            <a:solidFill>
              <a:srgbClr val="1E3A52"/>
            </a:solidFill>
            <a:prstDash val="solid"/>
          </a:ln>
        </p:spPr>
      </p:sp>
      <p:sp>
        <p:nvSpPr>
          <p:cNvPr id="55" name="Text 53"/>
          <p:cNvSpPr txBox="1"/>
          <p:nvPr/>
        </p:nvSpPr>
        <p:spPr>
          <a:xfrm>
            <a:off x="8540496" y="2377440"/>
            <a:ext cx="640080" cy="210312"/>
          </a:xfrm>
          <a:prstGeom prst="rect">
            <a:avLst/>
          </a:prstGeom>
          <a:noFill/>
          <a:ln/>
        </p:spPr>
        <p:txBody>
          <a:bodyPr wrap="square" lIns="0" tIns="0" rIns="0" bIns="0" rtlCol="0" anchor="t">
            <a:normAutofit/>
          </a:bodyPr>
          <a:lstStyle/>
          <a:p>
            <a:pPr algn="l" indent="0" marL="0">
              <a:buNone/>
            </a:pPr>
            <a:r>
              <a:rPr lang="en-US" sz="1020" b="1" dirty="0">
                <a:solidFill>
                  <a:srgbClr val="D8E2EC"/>
                </a:solidFill>
                <a:latin typeface="Microsoft JhengHei" pitchFamily="34" charset="0"/>
                <a:ea typeface="Microsoft JhengHei" pitchFamily="34" charset="-122"/>
                <a:cs typeface="Microsoft JhengHei" pitchFamily="34" charset="-120"/>
              </a:rPr>
              <a:t>峰值</a:t>
            </a:r>
            <a:endParaRPr lang="en-US" sz="1020" dirty="0"/>
          </a:p>
        </p:txBody>
      </p:sp>
      <p:sp>
        <p:nvSpPr>
          <p:cNvPr id="56" name="Text 54"/>
          <p:cNvSpPr txBox="1"/>
          <p:nvPr/>
        </p:nvSpPr>
        <p:spPr>
          <a:xfrm>
            <a:off x="9180576" y="2377440"/>
            <a:ext cx="640080" cy="210312"/>
          </a:xfrm>
          <a:prstGeom prst="rect">
            <a:avLst/>
          </a:prstGeom>
          <a:noFill/>
          <a:ln/>
        </p:spPr>
        <p:txBody>
          <a:bodyPr wrap="square" lIns="0" tIns="0" rIns="0" bIns="0" rtlCol="0" anchor="t">
            <a:normAutofit/>
          </a:bodyPr>
          <a:lstStyle/>
          <a:p>
            <a:pPr algn="r" indent="0" marL="0">
              <a:buNone/>
            </a:pPr>
            <a:r>
              <a:rPr lang="en-US" sz="1020" b="1" dirty="0">
                <a:solidFill>
                  <a:srgbClr val="FFC09B"/>
                </a:solidFill>
                <a:latin typeface="Aptos" pitchFamily="34" charset="0"/>
                <a:ea typeface="Aptos" pitchFamily="34" charset="-122"/>
                <a:cs typeface="Aptos" pitchFamily="34" charset="-120"/>
              </a:rPr>
              <a:t>150.3</a:t>
            </a:r>
            <a:endParaRPr lang="en-US" sz="1020" dirty="0"/>
          </a:p>
        </p:txBody>
      </p:sp>
      <p:sp>
        <p:nvSpPr>
          <p:cNvPr id="57" name="Text 55"/>
          <p:cNvSpPr txBox="1"/>
          <p:nvPr/>
        </p:nvSpPr>
        <p:spPr>
          <a:xfrm>
            <a:off x="9939528" y="2377440"/>
            <a:ext cx="594360" cy="210312"/>
          </a:xfrm>
          <a:prstGeom prst="rect">
            <a:avLst/>
          </a:prstGeom>
          <a:noFill/>
          <a:ln/>
        </p:spPr>
        <p:txBody>
          <a:bodyPr wrap="square" lIns="0" tIns="0" rIns="0" bIns="0" rtlCol="0" anchor="t">
            <a:normAutofit/>
          </a:bodyPr>
          <a:lstStyle/>
          <a:p>
            <a:pPr algn="r" indent="0" marL="0">
              <a:buNone/>
            </a:pPr>
            <a:r>
              <a:rPr lang="en-US" sz="1020" b="1" dirty="0">
                <a:solidFill>
                  <a:srgbClr val="B7F06A"/>
                </a:solidFill>
                <a:latin typeface="Aptos" pitchFamily="34" charset="0"/>
                <a:ea typeface="Aptos" pitchFamily="34" charset="-122"/>
                <a:cs typeface="Aptos" pitchFamily="34" charset="-120"/>
              </a:rPr>
              <a:t>1.06</a:t>
            </a:r>
            <a:endParaRPr lang="en-US" sz="1020" dirty="0"/>
          </a:p>
        </p:txBody>
      </p:sp>
      <p:sp>
        <p:nvSpPr>
          <p:cNvPr id="58" name="Text 56"/>
          <p:cNvSpPr txBox="1"/>
          <p:nvPr/>
        </p:nvSpPr>
        <p:spPr>
          <a:xfrm>
            <a:off x="10716768" y="2377440"/>
            <a:ext cx="365760" cy="210312"/>
          </a:xfrm>
          <a:prstGeom prst="rect">
            <a:avLst/>
          </a:prstGeom>
          <a:noFill/>
          <a:ln/>
        </p:spPr>
        <p:txBody>
          <a:bodyPr wrap="square" lIns="0" tIns="0" rIns="0" bIns="0" rtlCol="0" anchor="t">
            <a:normAutofit/>
          </a:bodyPr>
          <a:lstStyle/>
          <a:p>
            <a:pPr algn="r" indent="0" marL="0">
              <a:buNone/>
            </a:pPr>
            <a:r>
              <a:rPr lang="en-US" sz="1020" dirty="0">
                <a:solidFill>
                  <a:srgbClr val="93A4B6"/>
                </a:solidFill>
                <a:latin typeface="Aptos" pitchFamily="34" charset="0"/>
                <a:ea typeface="Aptos" pitchFamily="34" charset="-122"/>
                <a:cs typeface="Aptos" pitchFamily="34" charset="-120"/>
              </a:rPr>
              <a:t>17</a:t>
            </a:r>
            <a:endParaRPr lang="en-US" sz="1020" dirty="0"/>
          </a:p>
        </p:txBody>
      </p:sp>
      <p:sp>
        <p:nvSpPr>
          <p:cNvPr id="59" name="Text 57"/>
          <p:cNvSpPr txBox="1"/>
          <p:nvPr/>
        </p:nvSpPr>
        <p:spPr>
          <a:xfrm>
            <a:off x="8540496" y="2907792"/>
            <a:ext cx="640080" cy="210312"/>
          </a:xfrm>
          <a:prstGeom prst="rect">
            <a:avLst/>
          </a:prstGeom>
          <a:noFill/>
          <a:ln/>
        </p:spPr>
        <p:txBody>
          <a:bodyPr wrap="square" lIns="0" tIns="0" rIns="0" bIns="0" rtlCol="0" anchor="t">
            <a:normAutofit/>
          </a:bodyPr>
          <a:lstStyle/>
          <a:p>
            <a:pPr algn="l" indent="0" marL="0">
              <a:buNone/>
            </a:pPr>
            <a:r>
              <a:rPr lang="en-US" sz="1020" b="1" dirty="0">
                <a:solidFill>
                  <a:srgbClr val="D8E2EC"/>
                </a:solidFill>
                <a:latin typeface="Aptos" pitchFamily="34" charset="0"/>
                <a:ea typeface="Aptos" pitchFamily="34" charset="-122"/>
                <a:cs typeface="Aptos" pitchFamily="34" charset="-120"/>
              </a:rPr>
              <a:t>1 μA/cm²</a:t>
            </a:r>
            <a:endParaRPr lang="en-US" sz="1020" dirty="0"/>
          </a:p>
        </p:txBody>
      </p:sp>
      <p:sp>
        <p:nvSpPr>
          <p:cNvPr id="60" name="Text 58"/>
          <p:cNvSpPr txBox="1"/>
          <p:nvPr/>
        </p:nvSpPr>
        <p:spPr>
          <a:xfrm>
            <a:off x="9180576" y="2907792"/>
            <a:ext cx="640080" cy="210312"/>
          </a:xfrm>
          <a:prstGeom prst="rect">
            <a:avLst/>
          </a:prstGeom>
          <a:noFill/>
          <a:ln/>
        </p:spPr>
        <p:txBody>
          <a:bodyPr wrap="square" lIns="0" tIns="0" rIns="0" bIns="0" rtlCol="0" anchor="t">
            <a:normAutofit/>
          </a:bodyPr>
          <a:lstStyle/>
          <a:p>
            <a:pPr algn="r" indent="0" marL="0">
              <a:buNone/>
            </a:pPr>
            <a:r>
              <a:rPr lang="en-US" sz="1020" b="1" dirty="0">
                <a:solidFill>
                  <a:srgbClr val="FFC09B"/>
                </a:solidFill>
                <a:latin typeface="Aptos" pitchFamily="34" charset="0"/>
                <a:ea typeface="Aptos" pitchFamily="34" charset="-122"/>
                <a:cs typeface="Aptos" pitchFamily="34" charset="-120"/>
              </a:rPr>
              <a:t>243.1</a:t>
            </a:r>
            <a:endParaRPr lang="en-US" sz="1020" dirty="0"/>
          </a:p>
        </p:txBody>
      </p:sp>
      <p:sp>
        <p:nvSpPr>
          <p:cNvPr id="61" name="Text 59"/>
          <p:cNvSpPr txBox="1"/>
          <p:nvPr/>
        </p:nvSpPr>
        <p:spPr>
          <a:xfrm>
            <a:off x="9939528" y="2907792"/>
            <a:ext cx="594360" cy="210312"/>
          </a:xfrm>
          <a:prstGeom prst="rect">
            <a:avLst/>
          </a:prstGeom>
          <a:noFill/>
          <a:ln/>
        </p:spPr>
        <p:txBody>
          <a:bodyPr wrap="square" lIns="0" tIns="0" rIns="0" bIns="0" rtlCol="0" anchor="t">
            <a:normAutofit/>
          </a:bodyPr>
          <a:lstStyle/>
          <a:p>
            <a:pPr algn="r" indent="0" marL="0">
              <a:buNone/>
            </a:pPr>
            <a:r>
              <a:rPr lang="en-US" sz="1020" b="1" dirty="0">
                <a:solidFill>
                  <a:srgbClr val="B7F06A"/>
                </a:solidFill>
                <a:latin typeface="Aptos" pitchFamily="34" charset="0"/>
                <a:ea typeface="Aptos" pitchFamily="34" charset="-122"/>
                <a:cs typeface="Aptos" pitchFamily="34" charset="-120"/>
              </a:rPr>
              <a:t>1.74</a:t>
            </a:r>
            <a:endParaRPr lang="en-US" sz="1020" dirty="0"/>
          </a:p>
        </p:txBody>
      </p:sp>
      <p:sp>
        <p:nvSpPr>
          <p:cNvPr id="62" name="Text 60"/>
          <p:cNvSpPr txBox="1"/>
          <p:nvPr/>
        </p:nvSpPr>
        <p:spPr>
          <a:xfrm>
            <a:off x="10716768" y="2907792"/>
            <a:ext cx="365760" cy="210312"/>
          </a:xfrm>
          <a:prstGeom prst="rect">
            <a:avLst/>
          </a:prstGeom>
          <a:noFill/>
          <a:ln/>
        </p:spPr>
        <p:txBody>
          <a:bodyPr wrap="square" lIns="0" tIns="0" rIns="0" bIns="0" rtlCol="0" anchor="t">
            <a:normAutofit/>
          </a:bodyPr>
          <a:lstStyle/>
          <a:p>
            <a:pPr algn="r" indent="0" marL="0">
              <a:buNone/>
            </a:pPr>
            <a:r>
              <a:rPr lang="en-US" sz="1020" dirty="0">
                <a:solidFill>
                  <a:srgbClr val="93A4B6"/>
                </a:solidFill>
                <a:latin typeface="Aptos" pitchFamily="34" charset="0"/>
                <a:ea typeface="Aptos" pitchFamily="34" charset="-122"/>
                <a:cs typeface="Aptos" pitchFamily="34" charset="-120"/>
              </a:rPr>
              <a:t>17</a:t>
            </a:r>
            <a:endParaRPr lang="en-US" sz="1020" dirty="0"/>
          </a:p>
        </p:txBody>
      </p:sp>
      <p:sp>
        <p:nvSpPr>
          <p:cNvPr id="63" name="Text 61"/>
          <p:cNvSpPr txBox="1"/>
          <p:nvPr/>
        </p:nvSpPr>
        <p:spPr>
          <a:xfrm>
            <a:off x="8540496" y="3438144"/>
            <a:ext cx="640080" cy="210312"/>
          </a:xfrm>
          <a:prstGeom prst="rect">
            <a:avLst/>
          </a:prstGeom>
          <a:noFill/>
          <a:ln/>
        </p:spPr>
        <p:txBody>
          <a:bodyPr wrap="square" lIns="0" tIns="0" rIns="0" bIns="0" rtlCol="0" anchor="t">
            <a:normAutofit/>
          </a:bodyPr>
          <a:lstStyle/>
          <a:p>
            <a:pPr algn="l" indent="0" marL="0">
              <a:buNone/>
            </a:pPr>
            <a:r>
              <a:rPr lang="en-US" sz="1020" b="1" dirty="0">
                <a:solidFill>
                  <a:srgbClr val="D8E2EC"/>
                </a:solidFill>
                <a:latin typeface="Aptos" pitchFamily="34" charset="0"/>
                <a:ea typeface="Aptos" pitchFamily="34" charset="-122"/>
                <a:cs typeface="Aptos" pitchFamily="34" charset="-120"/>
              </a:rPr>
              <a:t>2 μA/cm²</a:t>
            </a:r>
            <a:endParaRPr lang="en-US" sz="1020" dirty="0"/>
          </a:p>
        </p:txBody>
      </p:sp>
      <p:sp>
        <p:nvSpPr>
          <p:cNvPr id="64" name="Text 62"/>
          <p:cNvSpPr txBox="1"/>
          <p:nvPr/>
        </p:nvSpPr>
        <p:spPr>
          <a:xfrm>
            <a:off x="9180576" y="3438144"/>
            <a:ext cx="640080" cy="210312"/>
          </a:xfrm>
          <a:prstGeom prst="rect">
            <a:avLst/>
          </a:prstGeom>
          <a:noFill/>
          <a:ln/>
        </p:spPr>
        <p:txBody>
          <a:bodyPr wrap="square" lIns="0" tIns="0" rIns="0" bIns="0" rtlCol="0" anchor="t">
            <a:normAutofit/>
          </a:bodyPr>
          <a:lstStyle/>
          <a:p>
            <a:pPr algn="r" indent="0" marL="0">
              <a:buNone/>
            </a:pPr>
            <a:r>
              <a:rPr lang="en-US" sz="1020" b="1" dirty="0">
                <a:solidFill>
                  <a:srgbClr val="FFC09B"/>
                </a:solidFill>
                <a:latin typeface="Aptos" pitchFamily="34" charset="0"/>
                <a:ea typeface="Aptos" pitchFamily="34" charset="-122"/>
                <a:cs typeface="Aptos" pitchFamily="34" charset="-120"/>
              </a:rPr>
              <a:t>237.5</a:t>
            </a:r>
            <a:endParaRPr lang="en-US" sz="1020" dirty="0"/>
          </a:p>
        </p:txBody>
      </p:sp>
      <p:sp>
        <p:nvSpPr>
          <p:cNvPr id="65" name="Text 63"/>
          <p:cNvSpPr txBox="1"/>
          <p:nvPr/>
        </p:nvSpPr>
        <p:spPr>
          <a:xfrm>
            <a:off x="9939528" y="3438144"/>
            <a:ext cx="594360" cy="210312"/>
          </a:xfrm>
          <a:prstGeom prst="rect">
            <a:avLst/>
          </a:prstGeom>
          <a:noFill/>
          <a:ln/>
        </p:spPr>
        <p:txBody>
          <a:bodyPr wrap="square" lIns="0" tIns="0" rIns="0" bIns="0" rtlCol="0" anchor="t">
            <a:normAutofit/>
          </a:bodyPr>
          <a:lstStyle/>
          <a:p>
            <a:pPr algn="r" indent="0" marL="0">
              <a:buNone/>
            </a:pPr>
            <a:r>
              <a:rPr lang="en-US" sz="1020" b="1" dirty="0">
                <a:solidFill>
                  <a:srgbClr val="B7F06A"/>
                </a:solidFill>
                <a:latin typeface="Aptos" pitchFamily="34" charset="0"/>
                <a:ea typeface="Aptos" pitchFamily="34" charset="-122"/>
                <a:cs typeface="Aptos" pitchFamily="34" charset="-120"/>
              </a:rPr>
              <a:t>1.73</a:t>
            </a:r>
            <a:endParaRPr lang="en-US" sz="1020" dirty="0"/>
          </a:p>
        </p:txBody>
      </p:sp>
      <p:sp>
        <p:nvSpPr>
          <p:cNvPr id="66" name="Text 64"/>
          <p:cNvSpPr txBox="1"/>
          <p:nvPr/>
        </p:nvSpPr>
        <p:spPr>
          <a:xfrm>
            <a:off x="10716768" y="3438144"/>
            <a:ext cx="365760" cy="210312"/>
          </a:xfrm>
          <a:prstGeom prst="rect">
            <a:avLst/>
          </a:prstGeom>
          <a:noFill/>
          <a:ln/>
        </p:spPr>
        <p:txBody>
          <a:bodyPr wrap="square" lIns="0" tIns="0" rIns="0" bIns="0" rtlCol="0" anchor="t">
            <a:normAutofit/>
          </a:bodyPr>
          <a:lstStyle/>
          <a:p>
            <a:pPr algn="r" indent="0" marL="0">
              <a:buNone/>
            </a:pPr>
            <a:r>
              <a:rPr lang="en-US" sz="1020" dirty="0">
                <a:solidFill>
                  <a:srgbClr val="93A4B6"/>
                </a:solidFill>
                <a:latin typeface="Aptos" pitchFamily="34" charset="0"/>
                <a:ea typeface="Aptos" pitchFamily="34" charset="-122"/>
                <a:cs typeface="Aptos" pitchFamily="34" charset="-120"/>
              </a:rPr>
              <a:t>14</a:t>
            </a:r>
            <a:endParaRPr lang="en-US" sz="1020" dirty="0"/>
          </a:p>
        </p:txBody>
      </p:sp>
      <p:sp>
        <p:nvSpPr>
          <p:cNvPr id="67" name="Text 65"/>
          <p:cNvSpPr txBox="1"/>
          <p:nvPr/>
        </p:nvSpPr>
        <p:spPr>
          <a:xfrm>
            <a:off x="8540496" y="3968496"/>
            <a:ext cx="640080" cy="210312"/>
          </a:xfrm>
          <a:prstGeom prst="rect">
            <a:avLst/>
          </a:prstGeom>
          <a:noFill/>
          <a:ln/>
        </p:spPr>
        <p:txBody>
          <a:bodyPr wrap="square" lIns="0" tIns="0" rIns="0" bIns="0" rtlCol="0" anchor="t">
            <a:normAutofit/>
          </a:bodyPr>
          <a:lstStyle/>
          <a:p>
            <a:pPr algn="l" indent="0" marL="0">
              <a:buNone/>
            </a:pPr>
            <a:r>
              <a:rPr lang="en-US" sz="1020" b="1" dirty="0">
                <a:solidFill>
                  <a:srgbClr val="D8E2EC"/>
                </a:solidFill>
                <a:latin typeface="Aptos" pitchFamily="34" charset="0"/>
                <a:ea typeface="Aptos" pitchFamily="34" charset="-122"/>
                <a:cs typeface="Aptos" pitchFamily="34" charset="-120"/>
              </a:rPr>
              <a:t>3 μA/cm²</a:t>
            </a:r>
            <a:endParaRPr lang="en-US" sz="1020" dirty="0"/>
          </a:p>
        </p:txBody>
      </p:sp>
      <p:sp>
        <p:nvSpPr>
          <p:cNvPr id="68" name="Text 66"/>
          <p:cNvSpPr txBox="1"/>
          <p:nvPr/>
        </p:nvSpPr>
        <p:spPr>
          <a:xfrm>
            <a:off x="9180576" y="3968496"/>
            <a:ext cx="640080" cy="210312"/>
          </a:xfrm>
          <a:prstGeom prst="rect">
            <a:avLst/>
          </a:prstGeom>
          <a:noFill/>
          <a:ln/>
        </p:spPr>
        <p:txBody>
          <a:bodyPr wrap="square" lIns="0" tIns="0" rIns="0" bIns="0" rtlCol="0" anchor="t">
            <a:normAutofit/>
          </a:bodyPr>
          <a:lstStyle/>
          <a:p>
            <a:pPr algn="r" indent="0" marL="0">
              <a:buNone/>
            </a:pPr>
            <a:r>
              <a:rPr lang="en-US" sz="1020" b="1" dirty="0">
                <a:solidFill>
                  <a:srgbClr val="FFC09B"/>
                </a:solidFill>
                <a:latin typeface="Aptos" pitchFamily="34" charset="0"/>
                <a:ea typeface="Aptos" pitchFamily="34" charset="-122"/>
                <a:cs typeface="Aptos" pitchFamily="34" charset="-120"/>
              </a:rPr>
              <a:t>267.5</a:t>
            </a:r>
            <a:endParaRPr lang="en-US" sz="1020" dirty="0"/>
          </a:p>
        </p:txBody>
      </p:sp>
      <p:sp>
        <p:nvSpPr>
          <p:cNvPr id="69" name="Text 67"/>
          <p:cNvSpPr txBox="1"/>
          <p:nvPr/>
        </p:nvSpPr>
        <p:spPr>
          <a:xfrm>
            <a:off x="9939528" y="3968496"/>
            <a:ext cx="594360" cy="210312"/>
          </a:xfrm>
          <a:prstGeom prst="rect">
            <a:avLst/>
          </a:prstGeom>
          <a:noFill/>
          <a:ln/>
        </p:spPr>
        <p:txBody>
          <a:bodyPr wrap="square" lIns="0" tIns="0" rIns="0" bIns="0" rtlCol="0" anchor="t">
            <a:normAutofit/>
          </a:bodyPr>
          <a:lstStyle/>
          <a:p>
            <a:pPr algn="r" indent="0" marL="0">
              <a:buNone/>
            </a:pPr>
            <a:r>
              <a:rPr lang="en-US" sz="1020" b="1" dirty="0">
                <a:solidFill>
                  <a:srgbClr val="B7F06A"/>
                </a:solidFill>
                <a:latin typeface="Aptos" pitchFamily="34" charset="0"/>
                <a:ea typeface="Aptos" pitchFamily="34" charset="-122"/>
                <a:cs typeface="Aptos" pitchFamily="34" charset="-120"/>
              </a:rPr>
              <a:t>2.63</a:t>
            </a:r>
            <a:endParaRPr lang="en-US" sz="1020" dirty="0"/>
          </a:p>
        </p:txBody>
      </p:sp>
      <p:sp>
        <p:nvSpPr>
          <p:cNvPr id="70" name="Text 68"/>
          <p:cNvSpPr txBox="1"/>
          <p:nvPr/>
        </p:nvSpPr>
        <p:spPr>
          <a:xfrm>
            <a:off x="10716768" y="3968496"/>
            <a:ext cx="365760" cy="210312"/>
          </a:xfrm>
          <a:prstGeom prst="rect">
            <a:avLst/>
          </a:prstGeom>
          <a:noFill/>
          <a:ln/>
        </p:spPr>
        <p:txBody>
          <a:bodyPr wrap="square" lIns="0" tIns="0" rIns="0" bIns="0" rtlCol="0" anchor="t">
            <a:normAutofit/>
          </a:bodyPr>
          <a:lstStyle/>
          <a:p>
            <a:pPr algn="r" indent="0" marL="0">
              <a:buNone/>
            </a:pPr>
            <a:r>
              <a:rPr lang="en-US" sz="1020" dirty="0">
                <a:solidFill>
                  <a:srgbClr val="93A4B6"/>
                </a:solidFill>
                <a:latin typeface="Aptos" pitchFamily="34" charset="0"/>
                <a:ea typeface="Aptos" pitchFamily="34" charset="-122"/>
                <a:cs typeface="Aptos" pitchFamily="34" charset="-120"/>
              </a:rPr>
              <a:t>13</a:t>
            </a:r>
            <a:endParaRPr lang="en-US" sz="1020" dirty="0"/>
          </a:p>
        </p:txBody>
      </p:sp>
      <p:sp>
        <p:nvSpPr>
          <p:cNvPr id="71" name="Text 69"/>
          <p:cNvSpPr txBox="1"/>
          <p:nvPr/>
        </p:nvSpPr>
        <p:spPr>
          <a:xfrm>
            <a:off x="8540496" y="4498848"/>
            <a:ext cx="640080" cy="210312"/>
          </a:xfrm>
          <a:prstGeom prst="rect">
            <a:avLst/>
          </a:prstGeom>
          <a:noFill/>
          <a:ln/>
        </p:spPr>
        <p:txBody>
          <a:bodyPr wrap="square" lIns="0" tIns="0" rIns="0" bIns="0" rtlCol="0" anchor="t">
            <a:normAutofit/>
          </a:bodyPr>
          <a:lstStyle/>
          <a:p>
            <a:pPr algn="l" indent="0" marL="0">
              <a:buNone/>
            </a:pPr>
            <a:r>
              <a:rPr lang="en-US" sz="1020" b="1" dirty="0">
                <a:solidFill>
                  <a:srgbClr val="D8E2EC"/>
                </a:solidFill>
                <a:latin typeface="Aptos" pitchFamily="34" charset="0"/>
                <a:ea typeface="Aptos" pitchFamily="34" charset="-122"/>
                <a:cs typeface="Aptos" pitchFamily="34" charset="-120"/>
              </a:rPr>
              <a:t>4 μA/cm²</a:t>
            </a:r>
            <a:endParaRPr lang="en-US" sz="1020" dirty="0"/>
          </a:p>
        </p:txBody>
      </p:sp>
      <p:sp>
        <p:nvSpPr>
          <p:cNvPr id="72" name="Text 70"/>
          <p:cNvSpPr txBox="1"/>
          <p:nvPr/>
        </p:nvSpPr>
        <p:spPr>
          <a:xfrm>
            <a:off x="9180576" y="4498848"/>
            <a:ext cx="640080" cy="210312"/>
          </a:xfrm>
          <a:prstGeom prst="rect">
            <a:avLst/>
          </a:prstGeom>
          <a:noFill/>
          <a:ln/>
        </p:spPr>
        <p:txBody>
          <a:bodyPr wrap="square" lIns="0" tIns="0" rIns="0" bIns="0" rtlCol="0" anchor="t">
            <a:normAutofit/>
          </a:bodyPr>
          <a:lstStyle/>
          <a:p>
            <a:pPr algn="r" indent="0" marL="0">
              <a:buNone/>
            </a:pPr>
            <a:r>
              <a:rPr lang="en-US" sz="1020" b="1" dirty="0">
                <a:solidFill>
                  <a:srgbClr val="FFC09B"/>
                </a:solidFill>
                <a:latin typeface="Aptos" pitchFamily="34" charset="0"/>
                <a:ea typeface="Aptos" pitchFamily="34" charset="-122"/>
                <a:cs typeface="Aptos" pitchFamily="34" charset="-120"/>
              </a:rPr>
              <a:t>267.9</a:t>
            </a:r>
            <a:endParaRPr lang="en-US" sz="1020" dirty="0"/>
          </a:p>
        </p:txBody>
      </p:sp>
      <p:sp>
        <p:nvSpPr>
          <p:cNvPr id="73" name="Text 71"/>
          <p:cNvSpPr txBox="1"/>
          <p:nvPr/>
        </p:nvSpPr>
        <p:spPr>
          <a:xfrm>
            <a:off x="9939528" y="4498848"/>
            <a:ext cx="594360" cy="210312"/>
          </a:xfrm>
          <a:prstGeom prst="rect">
            <a:avLst/>
          </a:prstGeom>
          <a:noFill/>
          <a:ln/>
        </p:spPr>
        <p:txBody>
          <a:bodyPr wrap="square" lIns="0" tIns="0" rIns="0" bIns="0" rtlCol="0" anchor="t">
            <a:normAutofit/>
          </a:bodyPr>
          <a:lstStyle/>
          <a:p>
            <a:pPr algn="r" indent="0" marL="0">
              <a:buNone/>
            </a:pPr>
            <a:r>
              <a:rPr lang="en-US" sz="1020" b="1" dirty="0">
                <a:solidFill>
                  <a:srgbClr val="B7F06A"/>
                </a:solidFill>
                <a:latin typeface="Aptos" pitchFamily="34" charset="0"/>
                <a:ea typeface="Aptos" pitchFamily="34" charset="-122"/>
                <a:cs typeface="Aptos" pitchFamily="34" charset="-120"/>
              </a:rPr>
              <a:t>2.51</a:t>
            </a:r>
            <a:endParaRPr lang="en-US" sz="1020" dirty="0"/>
          </a:p>
        </p:txBody>
      </p:sp>
      <p:sp>
        <p:nvSpPr>
          <p:cNvPr id="74" name="Text 72"/>
          <p:cNvSpPr txBox="1"/>
          <p:nvPr/>
        </p:nvSpPr>
        <p:spPr>
          <a:xfrm>
            <a:off x="10716768" y="4498848"/>
            <a:ext cx="365760" cy="210312"/>
          </a:xfrm>
          <a:prstGeom prst="rect">
            <a:avLst/>
          </a:prstGeom>
          <a:noFill/>
          <a:ln/>
        </p:spPr>
        <p:txBody>
          <a:bodyPr wrap="square" lIns="0" tIns="0" rIns="0" bIns="0" rtlCol="0" anchor="t">
            <a:normAutofit/>
          </a:bodyPr>
          <a:lstStyle/>
          <a:p>
            <a:pPr algn="r" indent="0" marL="0">
              <a:buNone/>
            </a:pPr>
            <a:r>
              <a:rPr lang="en-US" sz="1020" dirty="0">
                <a:solidFill>
                  <a:srgbClr val="93A4B6"/>
                </a:solidFill>
                <a:latin typeface="Aptos" pitchFamily="34" charset="0"/>
                <a:ea typeface="Aptos" pitchFamily="34" charset="-122"/>
                <a:cs typeface="Aptos" pitchFamily="34" charset="-120"/>
              </a:rPr>
              <a:t>11</a:t>
            </a:r>
            <a:endParaRPr lang="en-US" sz="1020" dirty="0"/>
          </a:p>
        </p:txBody>
      </p:sp>
      <p:sp>
        <p:nvSpPr>
          <p:cNvPr id="75" name="Shape 73"/>
          <p:cNvSpPr/>
          <p:nvPr/>
        </p:nvSpPr>
        <p:spPr>
          <a:xfrm>
            <a:off x="8540496" y="5175504"/>
            <a:ext cx="2542032" cy="612648"/>
          </a:xfrm>
          <a:prstGeom prst="roundRect">
            <a:avLst>
              <a:gd name="adj" fmla="val 11940"/>
            </a:avLst>
          </a:prstGeom>
          <a:solidFill>
            <a:srgbClr val="102235"/>
          </a:solidFill>
          <a:ln w="12700">
            <a:solidFill>
              <a:srgbClr val="FF9B5E"/>
            </a:solidFill>
            <a:prstDash val="solid"/>
          </a:ln>
        </p:spPr>
      </p:sp>
      <p:sp>
        <p:nvSpPr>
          <p:cNvPr id="76" name="Text 74"/>
          <p:cNvSpPr txBox="1"/>
          <p:nvPr/>
        </p:nvSpPr>
        <p:spPr>
          <a:xfrm>
            <a:off x="8705088" y="5321808"/>
            <a:ext cx="2212848" cy="347472"/>
          </a:xfrm>
          <a:prstGeom prst="rect">
            <a:avLst/>
          </a:prstGeom>
          <a:noFill/>
          <a:ln/>
        </p:spPr>
        <p:txBody>
          <a:bodyPr wrap="square" lIns="0" tIns="0" rIns="0" bIns="0" rtlCol="0" anchor="t">
            <a:normAutofit/>
          </a:bodyPr>
          <a:lstStyle/>
          <a:p>
            <a:pPr algn="ctr" indent="0" marL="0">
              <a:buNone/>
            </a:pPr>
            <a:r>
              <a:rPr lang="en-US" sz="980" b="1" dirty="0">
                <a:solidFill>
                  <a:srgbClr val="FFC09B"/>
                </a:solidFill>
                <a:latin typeface="Microsoft JhengHei" pitchFamily="34" charset="0"/>
                <a:ea typeface="Microsoft JhengHei" pitchFamily="34" charset="-122"/>
                <a:cs typeface="Microsoft JhengHei" pitchFamily="34" charset="-120"/>
              </a:rPr>
              <a:t>但單位與演算法皆為</a:t>
            </a:r>
            <a:endParaRPr lang="en-US" sz="980" dirty="0"/>
          </a:p>
          <a:p>
            <a:pPr algn="ctr" indent="0" marL="0">
              <a:buNone/>
            </a:pPr>
            <a:r>
              <a:rPr lang="en-US" sz="980" b="1" dirty="0">
                <a:solidFill>
                  <a:srgbClr val="FFC09B"/>
                </a:solidFill>
                <a:latin typeface="Microsoft JhengHei" pitchFamily="34" charset="0"/>
                <a:ea typeface="Microsoft JhengHei" pitchFamily="34" charset="-122"/>
                <a:cs typeface="Microsoft JhengHei" pitchFamily="34" charset="-120"/>
              </a:rPr>
              <a:t>特定裝置／流程，不可直接設門檻</a:t>
            </a:r>
            <a:endParaRPr lang="en-US" sz="9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0D4C7"/>
          </a:solidFill>
          <a:ln w="12700">
            <a:solidFill>
              <a:srgbClr val="20D4C7">
                <a:alpha val="0"/>
              </a:srgbClr>
            </a:solidFill>
            <a:prstDash val="solid"/>
          </a:ln>
        </p:spPr>
      </p:sp>
      <p:sp>
        <p:nvSpPr>
          <p:cNvPr id="3" name="Shape 1"/>
          <p:cNvSpPr/>
          <p:nvPr/>
        </p:nvSpPr>
        <p:spPr>
          <a:xfrm>
            <a:off x="10561320" y="-658368"/>
            <a:ext cx="2194560" cy="2194560"/>
          </a:xfrm>
          <a:prstGeom prst="ellipse">
            <a:avLst/>
          </a:prstGeom>
          <a:solidFill>
            <a:srgbClr val="20D4C7">
              <a:alpha val="8000"/>
            </a:srgbClr>
          </a:solidFill>
          <a:ln w="12700">
            <a:solidFill>
              <a:srgbClr val="20D4C7">
                <a:alpha val="0"/>
              </a:srgbClr>
            </a:solidFill>
            <a:prstDash val="solid"/>
          </a:ln>
        </p:spPr>
      </p:sp>
      <p:sp>
        <p:nvSpPr>
          <p:cNvPr id="4" name="Shape 2"/>
          <p:cNvSpPr/>
          <p:nvPr/>
        </p:nvSpPr>
        <p:spPr>
          <a:xfrm>
            <a:off x="502920" y="841248"/>
            <a:ext cx="11155680" cy="0"/>
          </a:xfrm>
          <a:prstGeom prst="line">
            <a:avLst/>
          </a:prstGeom>
          <a:noFill/>
          <a:ln w="12700">
            <a:solidFill>
              <a:srgbClr val="1E3A52"/>
            </a:solidFill>
            <a:prstDash val="solid"/>
          </a:ln>
        </p:spPr>
      </p:sp>
      <p:sp>
        <p:nvSpPr>
          <p:cNvPr id="5" name="Text 3"/>
          <p:cNvSpPr/>
          <p:nvPr/>
        </p:nvSpPr>
        <p:spPr>
          <a:xfrm>
            <a:off x="566928" y="237744"/>
            <a:ext cx="2926080" cy="219456"/>
          </a:xfrm>
          <a:prstGeom prst="rect">
            <a:avLst/>
          </a:prstGeom>
          <a:noFill/>
          <a:ln/>
        </p:spPr>
        <p:txBody>
          <a:bodyPr wrap="square" lIns="0" tIns="0" rIns="0" bIns="0" rtlCol="0" anchor="ctr">
            <a:normAutofit/>
          </a:bodyPr>
          <a:lstStyle/>
          <a:p>
            <a:pPr indent="0" marL="0">
              <a:buNone/>
            </a:pPr>
            <a:r>
              <a:rPr lang="en-US" sz="850" b="1" spc="130" kern="0" dirty="0">
                <a:solidFill>
                  <a:srgbClr val="20D4C7"/>
                </a:solidFill>
                <a:latin typeface="Aptos" pitchFamily="34" charset="0"/>
                <a:ea typeface="Aptos" pitchFamily="34" charset="-122"/>
                <a:cs typeface="Aptos" pitchFamily="34" charset="-120"/>
              </a:rPr>
              <a:t>STUDY 01 · CRITICAL APPRAISAL</a:t>
            </a:r>
            <a:endParaRPr lang="en-US" sz="850" dirty="0"/>
          </a:p>
        </p:txBody>
      </p:sp>
      <p:sp>
        <p:nvSpPr>
          <p:cNvPr id="6" name="Text 4"/>
          <p:cNvSpPr/>
          <p:nvPr/>
        </p:nvSpPr>
        <p:spPr>
          <a:xfrm>
            <a:off x="566928" y="420624"/>
            <a:ext cx="10881360" cy="365760"/>
          </a:xfrm>
          <a:prstGeom prst="rect">
            <a:avLst/>
          </a:prstGeom>
          <a:noFill/>
          <a:ln/>
        </p:spPr>
        <p:txBody>
          <a:bodyPr wrap="square" lIns="0" tIns="0" rIns="0" bIns="0" rtlCol="0" anchor="ctr">
            <a:normAutofit/>
          </a:bodyPr>
          <a:lstStyle/>
          <a:p>
            <a:pPr indent="0" marL="0">
              <a:buNone/>
            </a:pPr>
            <a:r>
              <a:rPr lang="en-US" sz="2300" b="1" dirty="0">
                <a:solidFill>
                  <a:srgbClr val="F5F7FA"/>
                </a:solidFill>
                <a:latin typeface="Microsoft JhengHei" pitchFamily="34" charset="0"/>
                <a:ea typeface="Microsoft JhengHei" pitchFamily="34" charset="-122"/>
                <a:cs typeface="Microsoft JhengHei" pitchFamily="34" charset="-120"/>
              </a:rPr>
              <a:t>研究 1｜它支持什麼，又卡在哪裡？</a:t>
            </a:r>
            <a:endParaRPr lang="en-US" sz="2300" dirty="0"/>
          </a:p>
        </p:txBody>
      </p:sp>
      <p:sp>
        <p:nvSpPr>
          <p:cNvPr id="7" name="Text 5"/>
          <p:cNvSpPr/>
          <p:nvPr/>
        </p:nvSpPr>
        <p:spPr>
          <a:xfrm>
            <a:off x="11109960" y="6519672"/>
            <a:ext cx="502920" cy="164592"/>
          </a:xfrm>
          <a:prstGeom prst="rect">
            <a:avLst/>
          </a:prstGeom>
          <a:noFill/>
          <a:ln/>
        </p:spPr>
        <p:txBody>
          <a:bodyPr wrap="square" lIns="0" tIns="0" rIns="0" bIns="0" rtlCol="0" anchor="ctr"/>
          <a:lstStyle/>
          <a:p>
            <a:pPr algn="r" indent="0" marL="0">
              <a:buNone/>
            </a:pPr>
            <a:r>
              <a:rPr lang="en-US" sz="850" b="1" dirty="0">
                <a:solidFill>
                  <a:srgbClr val="20D4C7"/>
                </a:solidFill>
                <a:latin typeface="Aptos" pitchFamily="34" charset="0"/>
                <a:ea typeface="Aptos" pitchFamily="34" charset="-122"/>
                <a:cs typeface="Aptos" pitchFamily="34" charset="-120"/>
              </a:rPr>
              <a:t>07</a:t>
            </a:r>
            <a:endParaRPr lang="en-US" sz="850" dirty="0"/>
          </a:p>
        </p:txBody>
      </p:sp>
      <p:sp>
        <p:nvSpPr>
          <p:cNvPr id="8" name="Shape 6"/>
          <p:cNvSpPr/>
          <p:nvPr/>
        </p:nvSpPr>
        <p:spPr>
          <a:xfrm>
            <a:off x="621792" y="1225296"/>
            <a:ext cx="5321808" cy="4526280"/>
          </a:xfrm>
          <a:prstGeom prst="roundRect">
            <a:avLst>
              <a:gd name="adj" fmla="val 1616"/>
            </a:avLst>
          </a:prstGeom>
          <a:solidFill>
            <a:srgbClr val="0E1D2E"/>
          </a:solidFill>
          <a:ln w="12700">
            <a:solidFill>
              <a:srgbClr val="B7F06A"/>
            </a:solidFill>
            <a:prstDash val="solid"/>
          </a:ln>
        </p:spPr>
      </p:sp>
      <p:sp>
        <p:nvSpPr>
          <p:cNvPr id="9" name="Text 7"/>
          <p:cNvSpPr txBox="1"/>
          <p:nvPr/>
        </p:nvSpPr>
        <p:spPr>
          <a:xfrm>
            <a:off x="896112" y="1536192"/>
            <a:ext cx="2377440" cy="201168"/>
          </a:xfrm>
          <a:prstGeom prst="rect">
            <a:avLst/>
          </a:prstGeom>
          <a:noFill/>
          <a:ln/>
        </p:spPr>
        <p:txBody>
          <a:bodyPr wrap="square" lIns="0" tIns="0" rIns="0" bIns="0" rtlCol="0" anchor="t">
            <a:normAutofit/>
          </a:bodyPr>
          <a:lstStyle/>
          <a:p>
            <a:pPr algn="l" indent="0" marL="0">
              <a:buNone/>
            </a:pPr>
            <a:r>
              <a:rPr lang="en-US" sz="950" b="1" spc="40" kern="0" dirty="0">
                <a:solidFill>
                  <a:srgbClr val="B7F06A"/>
                </a:solidFill>
                <a:latin typeface="Microsoft JhengHei" pitchFamily="34" charset="0"/>
                <a:ea typeface="Microsoft JhengHei" pitchFamily="34" charset="-122"/>
                <a:cs typeface="Microsoft JhengHei" pitchFamily="34" charset="-120"/>
              </a:rPr>
              <a:t>優點｜為什麼值得注意</a:t>
            </a:r>
            <a:endParaRPr lang="en-US" sz="950" dirty="0"/>
          </a:p>
        </p:txBody>
      </p:sp>
      <p:sp>
        <p:nvSpPr>
          <p:cNvPr id="10" name="Shape 8"/>
          <p:cNvSpPr/>
          <p:nvPr/>
        </p:nvSpPr>
        <p:spPr>
          <a:xfrm>
            <a:off x="932688" y="2011680"/>
            <a:ext cx="128016" cy="128016"/>
          </a:xfrm>
          <a:prstGeom prst="ellipse">
            <a:avLst/>
          </a:prstGeom>
          <a:solidFill>
            <a:srgbClr val="B7F06A"/>
          </a:solidFill>
          <a:ln w="12700">
            <a:solidFill>
              <a:srgbClr val="B7F06A">
                <a:alpha val="0"/>
              </a:srgbClr>
            </a:solidFill>
            <a:prstDash val="solid"/>
          </a:ln>
        </p:spPr>
      </p:sp>
      <p:sp>
        <p:nvSpPr>
          <p:cNvPr id="11" name="Text 9"/>
          <p:cNvSpPr txBox="1"/>
          <p:nvPr/>
        </p:nvSpPr>
        <p:spPr>
          <a:xfrm>
            <a:off x="1143000" y="1975104"/>
            <a:ext cx="4306824"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同一人、同一相對負荷</a:t>
            </a:r>
            <a:endParaRPr lang="en-US" sz="1250" dirty="0"/>
          </a:p>
        </p:txBody>
      </p:sp>
      <p:sp>
        <p:nvSpPr>
          <p:cNvPr id="12" name="Text 10"/>
          <p:cNvSpPr txBox="1"/>
          <p:nvPr/>
        </p:nvSpPr>
        <p:spPr>
          <a:xfrm>
            <a:off x="1143000" y="2240280"/>
            <a:ext cx="4306824" cy="393192"/>
          </a:xfrm>
          <a:prstGeom prst="rect">
            <a:avLst/>
          </a:prstGeom>
          <a:noFill/>
          <a:ln/>
        </p:spPr>
        <p:txBody>
          <a:bodyPr wrap="square" lIns="0" tIns="0" rIns="0" bIns="0" rtlCol="0" anchor="t">
            <a:normAutofit/>
          </a:bodyPr>
          <a:lstStyle/>
          <a:p>
            <a:pPr algn="l" indent="0" marL="0">
              <a:buNone/>
            </a:pPr>
            <a:r>
              <a:rPr lang="en-US" sz="1050" dirty="0">
                <a:solidFill>
                  <a:srgbClr val="93A4B6"/>
                </a:solidFill>
                <a:latin typeface="Microsoft JhengHei" pitchFamily="34" charset="0"/>
                <a:ea typeface="Microsoft JhengHei" pitchFamily="34" charset="-122"/>
                <a:cs typeface="Microsoft JhengHei" pitchFamily="34" charset="-120"/>
              </a:rPr>
              <a:t>降低跨人汗液差異，直接問「疲勞前後是否改變」。</a:t>
            </a:r>
            <a:endParaRPr lang="en-US" sz="1050" dirty="0"/>
          </a:p>
        </p:txBody>
      </p:sp>
      <p:sp>
        <p:nvSpPr>
          <p:cNvPr id="13" name="Shape 11"/>
          <p:cNvSpPr/>
          <p:nvPr/>
        </p:nvSpPr>
        <p:spPr>
          <a:xfrm>
            <a:off x="932688" y="2807208"/>
            <a:ext cx="128016" cy="128016"/>
          </a:xfrm>
          <a:prstGeom prst="ellipse">
            <a:avLst/>
          </a:prstGeom>
          <a:solidFill>
            <a:srgbClr val="20D4C7"/>
          </a:solidFill>
          <a:ln w="12700">
            <a:solidFill>
              <a:srgbClr val="20D4C7">
                <a:alpha val="0"/>
              </a:srgbClr>
            </a:solidFill>
            <a:prstDash val="solid"/>
          </a:ln>
        </p:spPr>
      </p:sp>
      <p:sp>
        <p:nvSpPr>
          <p:cNvPr id="14" name="Text 12"/>
          <p:cNvSpPr txBox="1"/>
          <p:nvPr/>
        </p:nvSpPr>
        <p:spPr>
          <a:xfrm>
            <a:off x="1143000" y="2770632"/>
            <a:ext cx="4306824"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連續 1 Hz + 汗率</a:t>
            </a:r>
            <a:endParaRPr lang="en-US" sz="1250" dirty="0"/>
          </a:p>
        </p:txBody>
      </p:sp>
      <p:sp>
        <p:nvSpPr>
          <p:cNvPr id="15" name="Text 13"/>
          <p:cNvSpPr txBox="1"/>
          <p:nvPr/>
        </p:nvSpPr>
        <p:spPr>
          <a:xfrm>
            <a:off x="1143000" y="3035808"/>
            <a:ext cx="4306824" cy="393192"/>
          </a:xfrm>
          <a:prstGeom prst="rect">
            <a:avLst/>
          </a:prstGeom>
          <a:noFill/>
          <a:ln/>
        </p:spPr>
        <p:txBody>
          <a:bodyPr wrap="square" lIns="0" tIns="0" rIns="0" bIns="0" rtlCol="0" anchor="t">
            <a:normAutofit/>
          </a:bodyPr>
          <a:lstStyle/>
          <a:p>
            <a:pPr algn="l" indent="0" marL="0">
              <a:buNone/>
            </a:pPr>
            <a:r>
              <a:rPr lang="en-US" sz="1050" dirty="0">
                <a:solidFill>
                  <a:srgbClr val="93A4B6"/>
                </a:solidFill>
                <a:latin typeface="Microsoft JhengHei" pitchFamily="34" charset="0"/>
                <a:ea typeface="Microsoft JhengHei" pitchFamily="34" charset="-122"/>
                <a:cs typeface="Microsoft JhengHei" pitchFamily="34" charset="-120"/>
              </a:rPr>
              <a:t>能看時間動態，且主分析不是只盯著瞬間濃度。</a:t>
            </a:r>
            <a:endParaRPr lang="en-US" sz="1050" dirty="0"/>
          </a:p>
        </p:txBody>
      </p:sp>
      <p:sp>
        <p:nvSpPr>
          <p:cNvPr id="16" name="Shape 14"/>
          <p:cNvSpPr/>
          <p:nvPr/>
        </p:nvSpPr>
        <p:spPr>
          <a:xfrm>
            <a:off x="932688" y="3602736"/>
            <a:ext cx="128016" cy="128016"/>
          </a:xfrm>
          <a:prstGeom prst="ellipse">
            <a:avLst/>
          </a:prstGeom>
          <a:solidFill>
            <a:srgbClr val="6BB7FF"/>
          </a:solidFill>
          <a:ln w="12700">
            <a:solidFill>
              <a:srgbClr val="6BB7FF">
                <a:alpha val="0"/>
              </a:srgbClr>
            </a:solidFill>
            <a:prstDash val="solid"/>
          </a:ln>
        </p:spPr>
      </p:sp>
      <p:sp>
        <p:nvSpPr>
          <p:cNvPr id="17" name="Text 15"/>
          <p:cNvSpPr txBox="1"/>
          <p:nvPr/>
        </p:nvSpPr>
        <p:spPr>
          <a:xfrm>
            <a:off x="1143000" y="3566160"/>
            <a:ext cx="4306824"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疲勞操弄有主觀量表確認</a:t>
            </a:r>
            <a:endParaRPr lang="en-US" sz="1250" dirty="0"/>
          </a:p>
        </p:txBody>
      </p:sp>
      <p:sp>
        <p:nvSpPr>
          <p:cNvPr id="18" name="Text 16"/>
          <p:cNvSpPr txBox="1"/>
          <p:nvPr/>
        </p:nvSpPr>
        <p:spPr>
          <a:xfrm>
            <a:off x="1143000" y="3831336"/>
            <a:ext cx="4306824" cy="393192"/>
          </a:xfrm>
          <a:prstGeom prst="rect">
            <a:avLst/>
          </a:prstGeom>
          <a:noFill/>
          <a:ln/>
        </p:spPr>
        <p:txBody>
          <a:bodyPr wrap="square" lIns="0" tIns="0" rIns="0" bIns="0" rtlCol="0" anchor="t">
            <a:normAutofit/>
          </a:bodyPr>
          <a:lstStyle/>
          <a:p>
            <a:pPr algn="l" indent="0" marL="0">
              <a:buNone/>
            </a:pPr>
            <a:r>
              <a:rPr lang="en-US" sz="1050" dirty="0">
                <a:solidFill>
                  <a:srgbClr val="93A4B6"/>
                </a:solidFill>
                <a:latin typeface="Microsoft JhengHei" pitchFamily="34" charset="0"/>
                <a:ea typeface="Microsoft JhengHei" pitchFamily="34" charset="-122"/>
                <a:cs typeface="Microsoft JhengHei" pitchFamily="34" charset="-120"/>
              </a:rPr>
              <a:t>Test 2 各測量時間的疲勞分數均顯著較高。</a:t>
            </a:r>
            <a:endParaRPr lang="en-US" sz="1050" dirty="0"/>
          </a:p>
        </p:txBody>
      </p:sp>
      <p:sp>
        <p:nvSpPr>
          <p:cNvPr id="19" name="Shape 17"/>
          <p:cNvSpPr/>
          <p:nvPr/>
        </p:nvSpPr>
        <p:spPr>
          <a:xfrm>
            <a:off x="932688" y="4398264"/>
            <a:ext cx="128016" cy="128016"/>
          </a:xfrm>
          <a:prstGeom prst="ellipse">
            <a:avLst/>
          </a:prstGeom>
          <a:solidFill>
            <a:srgbClr val="FF9B5E"/>
          </a:solidFill>
          <a:ln w="12700">
            <a:solidFill>
              <a:srgbClr val="FF9B5E">
                <a:alpha val="0"/>
              </a:srgbClr>
            </a:solidFill>
            <a:prstDash val="solid"/>
          </a:ln>
        </p:spPr>
      </p:sp>
      <p:sp>
        <p:nvSpPr>
          <p:cNvPr id="20" name="Text 18"/>
          <p:cNvSpPr txBox="1"/>
          <p:nvPr/>
        </p:nvSpPr>
        <p:spPr>
          <a:xfrm>
            <a:off x="1143000" y="4361688"/>
            <a:ext cx="4306824"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配對效應量大</a:t>
            </a:r>
            <a:endParaRPr lang="en-US" sz="1250" dirty="0"/>
          </a:p>
        </p:txBody>
      </p:sp>
      <p:sp>
        <p:nvSpPr>
          <p:cNvPr id="21" name="Text 19"/>
          <p:cNvSpPr txBox="1"/>
          <p:nvPr/>
        </p:nvSpPr>
        <p:spPr>
          <a:xfrm>
            <a:off x="1143000" y="4626864"/>
            <a:ext cx="4306824" cy="393192"/>
          </a:xfrm>
          <a:prstGeom prst="rect">
            <a:avLst/>
          </a:prstGeom>
          <a:noFill/>
          <a:ln/>
        </p:spPr>
        <p:txBody>
          <a:bodyPr wrap="square" lIns="0" tIns="0" rIns="0" bIns="0" rtlCol="0" anchor="t">
            <a:normAutofit/>
          </a:bodyPr>
          <a:lstStyle/>
          <a:p>
            <a:pPr algn="l" indent="0" marL="0">
              <a:buNone/>
            </a:pPr>
            <a:r>
              <a:rPr lang="en-US" sz="1050" dirty="0">
                <a:solidFill>
                  <a:srgbClr val="93A4B6"/>
                </a:solidFill>
                <a:latin typeface="Microsoft JhengHei" pitchFamily="34" charset="0"/>
                <a:ea typeface="Microsoft JhengHei" pitchFamily="34" charset="-122"/>
                <a:cs typeface="Microsoft JhengHei" pitchFamily="34" charset="-120"/>
              </a:rPr>
              <a:t>時間差 d = 1.06–2.63；結果方向一致。</a:t>
            </a:r>
            <a:endParaRPr lang="en-US" sz="1050" dirty="0"/>
          </a:p>
        </p:txBody>
      </p:sp>
      <p:sp>
        <p:nvSpPr>
          <p:cNvPr id="22" name="Shape 20"/>
          <p:cNvSpPr/>
          <p:nvPr/>
        </p:nvSpPr>
        <p:spPr>
          <a:xfrm>
            <a:off x="6236208" y="1225296"/>
            <a:ext cx="5330952" cy="4526280"/>
          </a:xfrm>
          <a:prstGeom prst="roundRect">
            <a:avLst>
              <a:gd name="adj" fmla="val 1616"/>
            </a:avLst>
          </a:prstGeom>
          <a:solidFill>
            <a:srgbClr val="12263A"/>
          </a:solidFill>
          <a:ln w="12700">
            <a:solidFill>
              <a:srgbClr val="FF9B5E"/>
            </a:solidFill>
            <a:prstDash val="solid"/>
          </a:ln>
        </p:spPr>
      </p:sp>
      <p:sp>
        <p:nvSpPr>
          <p:cNvPr id="23" name="Text 21"/>
          <p:cNvSpPr txBox="1"/>
          <p:nvPr/>
        </p:nvSpPr>
        <p:spPr>
          <a:xfrm>
            <a:off x="6519672" y="1536192"/>
            <a:ext cx="2834640" cy="201168"/>
          </a:xfrm>
          <a:prstGeom prst="rect">
            <a:avLst/>
          </a:prstGeom>
          <a:noFill/>
          <a:ln/>
        </p:spPr>
        <p:txBody>
          <a:bodyPr wrap="square" lIns="0" tIns="0" rIns="0" bIns="0" rtlCol="0" anchor="t">
            <a:normAutofit/>
          </a:bodyPr>
          <a:lstStyle/>
          <a:p>
            <a:pPr algn="l" indent="0" marL="0">
              <a:buNone/>
            </a:pPr>
            <a:r>
              <a:rPr lang="en-US" sz="950" b="1" spc="40" kern="0" dirty="0">
                <a:solidFill>
                  <a:srgbClr val="FF9B5E"/>
                </a:solidFill>
                <a:latin typeface="Microsoft JhengHei" pitchFamily="34" charset="0"/>
                <a:ea typeface="Microsoft JhengHei" pitchFamily="34" charset="-122"/>
                <a:cs typeface="Microsoft JhengHei" pitchFamily="34" charset="-120"/>
              </a:rPr>
              <a:t>限制｜為什麼仍是 preliminary</a:t>
            </a:r>
            <a:endParaRPr lang="en-US" sz="950" dirty="0"/>
          </a:p>
        </p:txBody>
      </p:sp>
      <p:sp>
        <p:nvSpPr>
          <p:cNvPr id="24" name="Shape 22"/>
          <p:cNvSpPr/>
          <p:nvPr/>
        </p:nvSpPr>
        <p:spPr>
          <a:xfrm>
            <a:off x="6547104" y="2011680"/>
            <a:ext cx="128016" cy="128016"/>
          </a:xfrm>
          <a:prstGeom prst="ellipse">
            <a:avLst/>
          </a:prstGeom>
          <a:solidFill>
            <a:srgbClr val="FF9B5E"/>
          </a:solidFill>
          <a:ln w="12700">
            <a:solidFill>
              <a:srgbClr val="FF9B5E">
                <a:alpha val="0"/>
              </a:srgbClr>
            </a:solidFill>
            <a:prstDash val="solid"/>
          </a:ln>
        </p:spPr>
      </p:sp>
      <p:sp>
        <p:nvSpPr>
          <p:cNvPr id="25" name="Text 23"/>
          <p:cNvSpPr txBox="1"/>
          <p:nvPr/>
        </p:nvSpPr>
        <p:spPr>
          <a:xfrm>
            <a:off x="6757416" y="1975104"/>
            <a:ext cx="4325112"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順序固定、無時間對照</a:t>
            </a:r>
            <a:endParaRPr lang="en-US" sz="1250" dirty="0"/>
          </a:p>
        </p:txBody>
      </p:sp>
      <p:sp>
        <p:nvSpPr>
          <p:cNvPr id="26" name="Text 24"/>
          <p:cNvSpPr txBox="1"/>
          <p:nvPr/>
        </p:nvSpPr>
        <p:spPr>
          <a:xfrm>
            <a:off x="6757416" y="2240280"/>
            <a:ext cx="4325112" cy="502920"/>
          </a:xfrm>
          <a:prstGeom prst="rect">
            <a:avLst/>
          </a:prstGeom>
          <a:noFill/>
          <a:ln/>
        </p:spPr>
        <p:txBody>
          <a:bodyPr wrap="square" lIns="0" tIns="0" rIns="0" bIns="0" rtlCol="0" anchor="t">
            <a:normAutofit/>
          </a:bodyPr>
          <a:lstStyle/>
          <a:p>
            <a:pPr algn="l" indent="0" marL="0">
              <a:buNone/>
            </a:pPr>
            <a:r>
              <a:rPr lang="en-US" sz="1030" dirty="0">
                <a:solidFill>
                  <a:srgbClr val="93A4B6"/>
                </a:solidFill>
                <a:latin typeface="Microsoft JhengHei" pitchFamily="34" charset="0"/>
                <a:ea typeface="Microsoft JhengHei" pitchFamily="34" charset="-122"/>
                <a:cs typeface="Microsoft JhengHei" pitchFamily="34" charset="-120"/>
              </a:rPr>
              <a:t>Test 1 永遠在前、Test 2 永遠在後；無法完全拆開疲勞、時間與晶片更換效應。</a:t>
            </a:r>
            <a:endParaRPr lang="en-US" sz="1030" dirty="0"/>
          </a:p>
        </p:txBody>
      </p:sp>
      <p:sp>
        <p:nvSpPr>
          <p:cNvPr id="27" name="Shape 25"/>
          <p:cNvSpPr/>
          <p:nvPr/>
        </p:nvSpPr>
        <p:spPr>
          <a:xfrm>
            <a:off x="6547104" y="2907792"/>
            <a:ext cx="128016" cy="128016"/>
          </a:xfrm>
          <a:prstGeom prst="ellipse">
            <a:avLst/>
          </a:prstGeom>
          <a:solidFill>
            <a:srgbClr val="FF6577"/>
          </a:solidFill>
          <a:ln w="12700">
            <a:solidFill>
              <a:srgbClr val="FF6577">
                <a:alpha val="0"/>
              </a:srgbClr>
            </a:solidFill>
            <a:prstDash val="solid"/>
          </a:ln>
        </p:spPr>
      </p:sp>
      <p:sp>
        <p:nvSpPr>
          <p:cNvPr id="28" name="Text 26"/>
          <p:cNvSpPr txBox="1"/>
          <p:nvPr/>
        </p:nvSpPr>
        <p:spPr>
          <a:xfrm>
            <a:off x="6757416" y="2871216"/>
            <a:ext cx="4325112"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3 人因太疲勞未完成而排除</a:t>
            </a:r>
            <a:endParaRPr lang="en-US" sz="1250" dirty="0"/>
          </a:p>
        </p:txBody>
      </p:sp>
      <p:sp>
        <p:nvSpPr>
          <p:cNvPr id="29" name="Text 27"/>
          <p:cNvSpPr txBox="1"/>
          <p:nvPr/>
        </p:nvSpPr>
        <p:spPr>
          <a:xfrm>
            <a:off x="6757416" y="3136392"/>
            <a:ext cx="4325112" cy="438912"/>
          </a:xfrm>
          <a:prstGeom prst="rect">
            <a:avLst/>
          </a:prstGeom>
          <a:noFill/>
          <a:ln/>
        </p:spPr>
        <p:txBody>
          <a:bodyPr wrap="square" lIns="0" tIns="0" rIns="0" bIns="0" rtlCol="0" anchor="t">
            <a:normAutofit/>
          </a:bodyPr>
          <a:lstStyle/>
          <a:p>
            <a:pPr algn="l" indent="0" marL="0">
              <a:buNone/>
            </a:pPr>
            <a:r>
              <a:rPr lang="en-US" sz="1030" dirty="0">
                <a:solidFill>
                  <a:srgbClr val="93A4B6"/>
                </a:solidFill>
                <a:latin typeface="Microsoft JhengHei" pitchFamily="34" charset="0"/>
                <a:ea typeface="Microsoft JhengHei" pitchFamily="34" charset="-122"/>
                <a:cs typeface="Microsoft JhengHei" pitchFamily="34" charset="-120"/>
              </a:rPr>
              <a:t>可能造成「能完成第二次測試者」的存活者偏差。</a:t>
            </a:r>
            <a:endParaRPr lang="en-US" sz="1030" dirty="0"/>
          </a:p>
        </p:txBody>
      </p:sp>
      <p:sp>
        <p:nvSpPr>
          <p:cNvPr id="30" name="Shape 28"/>
          <p:cNvSpPr/>
          <p:nvPr/>
        </p:nvSpPr>
        <p:spPr>
          <a:xfrm>
            <a:off x="6547104" y="3730752"/>
            <a:ext cx="128016" cy="128016"/>
          </a:xfrm>
          <a:prstGeom prst="ellipse">
            <a:avLst/>
          </a:prstGeom>
          <a:solidFill>
            <a:srgbClr val="FFD166"/>
          </a:solidFill>
          <a:ln w="12700">
            <a:solidFill>
              <a:srgbClr val="FFD166">
                <a:alpha val="0"/>
              </a:srgbClr>
            </a:solidFill>
            <a:prstDash val="solid"/>
          </a:ln>
        </p:spPr>
      </p:sp>
      <p:sp>
        <p:nvSpPr>
          <p:cNvPr id="31" name="Text 29"/>
          <p:cNvSpPr txBox="1"/>
          <p:nvPr/>
        </p:nvSpPr>
        <p:spPr>
          <a:xfrm>
            <a:off x="6757416" y="3694176"/>
            <a:ext cx="4325112"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族群與負荷很窄</a:t>
            </a:r>
            <a:endParaRPr lang="en-US" sz="1250" dirty="0"/>
          </a:p>
        </p:txBody>
      </p:sp>
      <p:sp>
        <p:nvSpPr>
          <p:cNvPr id="32" name="Text 30"/>
          <p:cNvSpPr txBox="1"/>
          <p:nvPr/>
        </p:nvSpPr>
        <p:spPr>
          <a:xfrm>
            <a:off x="6757416" y="3959352"/>
            <a:ext cx="4325112" cy="457200"/>
          </a:xfrm>
          <a:prstGeom prst="rect">
            <a:avLst/>
          </a:prstGeom>
          <a:noFill/>
          <a:ln/>
        </p:spPr>
        <p:txBody>
          <a:bodyPr wrap="square" lIns="0" tIns="0" rIns="0" bIns="0" rtlCol="0" anchor="t">
            <a:normAutofit/>
          </a:bodyPr>
          <a:lstStyle/>
          <a:p>
            <a:pPr algn="l" indent="0" marL="0">
              <a:buNone/>
            </a:pPr>
            <a:r>
              <a:rPr lang="en-US" sz="1030" dirty="0">
                <a:solidFill>
                  <a:srgbClr val="93A4B6"/>
                </a:solidFill>
                <a:latin typeface="Microsoft JhengHei" pitchFamily="34" charset="0"/>
                <a:ea typeface="Microsoft JhengHei" pitchFamily="34" charset="-122"/>
                <a:cs typeface="Microsoft JhengHei" pitchFamily="34" charset="-120"/>
              </a:rPr>
              <a:t>僅年輕男性、單一 25% PP；外推女性、不同年齡與運動型態有限。</a:t>
            </a:r>
            <a:endParaRPr lang="en-US" sz="1030" dirty="0"/>
          </a:p>
        </p:txBody>
      </p:sp>
      <p:sp>
        <p:nvSpPr>
          <p:cNvPr id="33" name="Shape 31"/>
          <p:cNvSpPr/>
          <p:nvPr/>
        </p:nvSpPr>
        <p:spPr>
          <a:xfrm>
            <a:off x="6547104" y="4562856"/>
            <a:ext cx="128016" cy="128016"/>
          </a:xfrm>
          <a:prstGeom prst="ellipse">
            <a:avLst/>
          </a:prstGeom>
          <a:solidFill>
            <a:srgbClr val="6BB7FF"/>
          </a:solidFill>
          <a:ln w="12700">
            <a:solidFill>
              <a:srgbClr val="6BB7FF">
                <a:alpha val="0"/>
              </a:srgbClr>
            </a:solidFill>
            <a:prstDash val="solid"/>
          </a:ln>
        </p:spPr>
      </p:sp>
      <p:sp>
        <p:nvSpPr>
          <p:cNvPr id="34" name="Text 32"/>
          <p:cNvSpPr txBox="1"/>
          <p:nvPr/>
        </p:nvSpPr>
        <p:spPr>
          <a:xfrm>
            <a:off x="6757416" y="4526280"/>
            <a:ext cx="4325112"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沒有完整疲勞生物標記</a:t>
            </a:r>
            <a:endParaRPr lang="en-US" sz="1250" dirty="0"/>
          </a:p>
        </p:txBody>
      </p:sp>
      <p:sp>
        <p:nvSpPr>
          <p:cNvPr id="35" name="Text 33"/>
          <p:cNvSpPr txBox="1"/>
          <p:nvPr/>
        </p:nvSpPr>
        <p:spPr>
          <a:xfrm>
            <a:off x="6757416" y="4791456"/>
            <a:ext cx="4325112" cy="411480"/>
          </a:xfrm>
          <a:prstGeom prst="rect">
            <a:avLst/>
          </a:prstGeom>
          <a:noFill/>
          <a:ln/>
        </p:spPr>
        <p:txBody>
          <a:bodyPr wrap="square" lIns="0" tIns="0" rIns="0" bIns="0" rtlCol="0" anchor="t">
            <a:normAutofit/>
          </a:bodyPr>
          <a:lstStyle/>
          <a:p>
            <a:pPr algn="l" indent="0" marL="0">
              <a:buNone/>
            </a:pPr>
            <a:r>
              <a:rPr lang="en-US" sz="1030" dirty="0">
                <a:solidFill>
                  <a:srgbClr val="93A4B6"/>
                </a:solidFill>
                <a:latin typeface="Microsoft JhengHei" pitchFamily="34" charset="0"/>
                <a:ea typeface="Microsoft JhengHei" pitchFamily="34" charset="-122"/>
                <a:cs typeface="Microsoft JhengHei" pitchFamily="34" charset="-120"/>
              </a:rPr>
              <a:t>機制仍不清楚；主結果還混合了汗率。</a:t>
            </a:r>
            <a:endParaRPr lang="en-US" sz="1030" dirty="0"/>
          </a:p>
        </p:txBody>
      </p:sp>
      <p:sp>
        <p:nvSpPr>
          <p:cNvPr id="36" name="Shape 34"/>
          <p:cNvSpPr/>
          <p:nvPr/>
        </p:nvSpPr>
        <p:spPr>
          <a:xfrm>
            <a:off x="1252728" y="5925312"/>
            <a:ext cx="9665208" cy="347472"/>
          </a:xfrm>
          <a:prstGeom prst="roundRect">
            <a:avLst>
              <a:gd name="adj" fmla="val 21053"/>
            </a:avLst>
          </a:prstGeom>
          <a:solidFill>
            <a:srgbClr val="102235"/>
          </a:solidFill>
          <a:ln w="12700">
            <a:solidFill>
              <a:srgbClr val="20D4C7"/>
            </a:solidFill>
            <a:prstDash val="solid"/>
          </a:ln>
        </p:spPr>
      </p:sp>
      <p:sp>
        <p:nvSpPr>
          <p:cNvPr id="37" name="Text 35"/>
          <p:cNvSpPr/>
          <p:nvPr/>
        </p:nvSpPr>
        <p:spPr>
          <a:xfrm>
            <a:off x="1508760" y="6007608"/>
            <a:ext cx="9144000" cy="173736"/>
          </a:xfrm>
          <a:prstGeom prst="rect">
            <a:avLst/>
          </a:prstGeom>
          <a:noFill/>
          <a:ln/>
        </p:spPr>
        <p:txBody>
          <a:bodyPr wrap="square" lIns="0" tIns="0" rIns="0" bIns="0" rtlCol="0" anchor="t">
            <a:normAutofit/>
          </a:bodyPr>
          <a:lstStyle/>
          <a:p>
            <a:pPr algn="ctr" indent="0" marL="0">
              <a:buNone/>
            </a:pPr>
            <a:r>
              <a:rPr lang="en-US" sz="1150" b="1" dirty="0">
                <a:solidFill>
                  <a:srgbClr val="78EAE0"/>
                </a:solidFill>
                <a:latin typeface="Microsoft JhengHei" pitchFamily="34" charset="0"/>
                <a:ea typeface="Microsoft JhengHei" pitchFamily="34" charset="-122"/>
                <a:cs typeface="Microsoft JhengHei" pitchFamily="34" charset="-120"/>
              </a:rPr>
              <a:t>判讀：</a:t>
            </a:r>
            <a:pPr algn="ctr" indent="0" marL="0">
              <a:buNone/>
            </a:pPr>
            <a:r>
              <a:rPr lang="en-US" sz="1150" b="1" dirty="0">
                <a:solidFill>
                  <a:srgbClr val="F5F7FA"/>
                </a:solidFill>
                <a:latin typeface="Microsoft JhengHei" pitchFamily="34" charset="0"/>
                <a:ea typeface="Microsoft JhengHei" pitchFamily="34" charset="-122"/>
                <a:cs typeface="Microsoft JhengHei" pitchFamily="34" charset="-120"/>
              </a:rPr>
              <a:t>可把「反應提早」當候選特徵；</a:t>
            </a:r>
            <a:pPr algn="ctr" indent="0" marL="0">
              <a:buNone/>
            </a:pPr>
            <a:r>
              <a:rPr lang="en-US" sz="1150" b="1" dirty="0">
                <a:solidFill>
                  <a:srgbClr val="FFC09B"/>
                </a:solidFill>
                <a:latin typeface="Microsoft JhengHei" pitchFamily="34" charset="0"/>
                <a:ea typeface="Microsoft JhengHei" pitchFamily="34" charset="-122"/>
                <a:cs typeface="Microsoft JhengHei" pitchFamily="34" charset="-120"/>
              </a:rPr>
              <a:t>不可把任一 μA 或 mmol/L 當通用疲勞分數。</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0D4C7"/>
          </a:solidFill>
          <a:ln w="12700">
            <a:solidFill>
              <a:srgbClr val="20D4C7">
                <a:alpha val="0"/>
              </a:srgbClr>
            </a:solidFill>
            <a:prstDash val="solid"/>
          </a:ln>
        </p:spPr>
      </p:sp>
      <p:sp>
        <p:nvSpPr>
          <p:cNvPr id="3" name="Shape 1"/>
          <p:cNvSpPr/>
          <p:nvPr/>
        </p:nvSpPr>
        <p:spPr>
          <a:xfrm>
            <a:off x="10561320" y="-658368"/>
            <a:ext cx="2194560" cy="2194560"/>
          </a:xfrm>
          <a:prstGeom prst="ellipse">
            <a:avLst/>
          </a:prstGeom>
          <a:solidFill>
            <a:srgbClr val="20D4C7">
              <a:alpha val="8000"/>
            </a:srgbClr>
          </a:solidFill>
          <a:ln w="12700">
            <a:solidFill>
              <a:srgbClr val="20D4C7">
                <a:alpha val="0"/>
              </a:srgbClr>
            </a:solidFill>
            <a:prstDash val="solid"/>
          </a:ln>
        </p:spPr>
      </p:sp>
      <p:sp>
        <p:nvSpPr>
          <p:cNvPr id="4" name="Shape 2"/>
          <p:cNvSpPr/>
          <p:nvPr/>
        </p:nvSpPr>
        <p:spPr>
          <a:xfrm>
            <a:off x="502920" y="841248"/>
            <a:ext cx="11155680" cy="0"/>
          </a:xfrm>
          <a:prstGeom prst="line">
            <a:avLst/>
          </a:prstGeom>
          <a:noFill/>
          <a:ln w="12700">
            <a:solidFill>
              <a:srgbClr val="1E3A52"/>
            </a:solidFill>
            <a:prstDash val="solid"/>
          </a:ln>
        </p:spPr>
      </p:sp>
      <p:sp>
        <p:nvSpPr>
          <p:cNvPr id="5" name="Text 3"/>
          <p:cNvSpPr/>
          <p:nvPr/>
        </p:nvSpPr>
        <p:spPr>
          <a:xfrm>
            <a:off x="566928" y="237744"/>
            <a:ext cx="2926080" cy="219456"/>
          </a:xfrm>
          <a:prstGeom prst="rect">
            <a:avLst/>
          </a:prstGeom>
          <a:noFill/>
          <a:ln/>
        </p:spPr>
        <p:txBody>
          <a:bodyPr wrap="square" lIns="0" tIns="0" rIns="0" bIns="0" rtlCol="0" anchor="ctr">
            <a:normAutofit/>
          </a:bodyPr>
          <a:lstStyle/>
          <a:p>
            <a:pPr indent="0" marL="0">
              <a:buNone/>
            </a:pPr>
            <a:r>
              <a:rPr lang="en-US" sz="850" b="1" spc="130" kern="0" dirty="0">
                <a:solidFill>
                  <a:srgbClr val="20D4C7"/>
                </a:solidFill>
                <a:latin typeface="Aptos" pitchFamily="34" charset="0"/>
                <a:ea typeface="Aptos" pitchFamily="34" charset="-122"/>
                <a:cs typeface="Aptos" pitchFamily="34" charset="-120"/>
              </a:rPr>
              <a:t>STUDY 02 · DESIGN</a:t>
            </a:r>
            <a:endParaRPr lang="en-US" sz="850" dirty="0"/>
          </a:p>
        </p:txBody>
      </p:sp>
      <p:sp>
        <p:nvSpPr>
          <p:cNvPr id="6" name="Text 4"/>
          <p:cNvSpPr/>
          <p:nvPr/>
        </p:nvSpPr>
        <p:spPr>
          <a:xfrm>
            <a:off x="566928" y="420624"/>
            <a:ext cx="10881360" cy="365760"/>
          </a:xfrm>
          <a:prstGeom prst="rect">
            <a:avLst/>
          </a:prstGeom>
          <a:noFill/>
          <a:ln/>
        </p:spPr>
        <p:txBody>
          <a:bodyPr wrap="square" lIns="0" tIns="0" rIns="0" bIns="0" rtlCol="0" anchor="ctr">
            <a:normAutofit/>
          </a:bodyPr>
          <a:lstStyle/>
          <a:p>
            <a:pPr indent="0" marL="0">
              <a:buNone/>
            </a:pPr>
            <a:r>
              <a:rPr lang="en-US" sz="2300" b="1" dirty="0">
                <a:solidFill>
                  <a:srgbClr val="F5F7FA"/>
                </a:solidFill>
                <a:latin typeface="Microsoft JhengHei" pitchFamily="34" charset="0"/>
                <a:ea typeface="Microsoft JhengHei" pitchFamily="34" charset="-122"/>
                <a:cs typeface="Microsoft JhengHei" pitchFamily="34" charset="-120"/>
              </a:rPr>
              <a:t>研究 2｜把實驗室訊號帶到足球比賽後 48 小時</a:t>
            </a:r>
            <a:endParaRPr lang="en-US" sz="2300" dirty="0"/>
          </a:p>
        </p:txBody>
      </p:sp>
      <p:sp>
        <p:nvSpPr>
          <p:cNvPr id="7" name="Text 5"/>
          <p:cNvSpPr/>
          <p:nvPr/>
        </p:nvSpPr>
        <p:spPr>
          <a:xfrm>
            <a:off x="11109960" y="6519672"/>
            <a:ext cx="502920" cy="164592"/>
          </a:xfrm>
          <a:prstGeom prst="rect">
            <a:avLst/>
          </a:prstGeom>
          <a:noFill/>
          <a:ln/>
        </p:spPr>
        <p:txBody>
          <a:bodyPr wrap="square" lIns="0" tIns="0" rIns="0" bIns="0" rtlCol="0" anchor="ctr"/>
          <a:lstStyle/>
          <a:p>
            <a:pPr algn="r" indent="0" marL="0">
              <a:buNone/>
            </a:pPr>
            <a:r>
              <a:rPr lang="en-US" sz="850" b="1" dirty="0">
                <a:solidFill>
                  <a:srgbClr val="20D4C7"/>
                </a:solidFill>
                <a:latin typeface="Aptos" pitchFamily="34" charset="0"/>
                <a:ea typeface="Aptos" pitchFamily="34" charset="-122"/>
                <a:cs typeface="Aptos" pitchFamily="34" charset="-120"/>
              </a:rPr>
              <a:t>08</a:t>
            </a:r>
            <a:endParaRPr lang="en-US" sz="850" dirty="0"/>
          </a:p>
        </p:txBody>
      </p:sp>
      <p:sp>
        <p:nvSpPr>
          <p:cNvPr id="8" name="Text 6"/>
          <p:cNvSpPr/>
          <p:nvPr/>
        </p:nvSpPr>
        <p:spPr>
          <a:xfrm>
            <a:off x="566928" y="6492240"/>
            <a:ext cx="9966960" cy="182880"/>
          </a:xfrm>
          <a:prstGeom prst="rect">
            <a:avLst/>
          </a:prstGeom>
          <a:noFill/>
          <a:ln/>
        </p:spPr>
        <p:txBody>
          <a:bodyPr wrap="square" lIns="0" tIns="0" rIns="0" bIns="0" rtlCol="0" anchor="ctr">
            <a:normAutofit/>
          </a:bodyPr>
          <a:lstStyle/>
          <a:p>
            <a:pPr indent="0" marL="0">
              <a:buNone/>
            </a:pPr>
            <a:r>
              <a:rPr lang="en-US" sz="730" dirty="0">
                <a:solidFill>
                  <a:srgbClr val="93A4B6"/>
                </a:solidFill>
                <a:latin typeface="Microsoft JhengHei" pitchFamily="34" charset="0"/>
                <a:ea typeface="Microsoft JhengHei" pitchFamily="34" charset="-122"/>
                <a:cs typeface="Microsoft JhengHei" pitchFamily="34" charset="-120"/>
              </a:rPr>
              <a:t>Takemoto et al., Fatigue: Biomedicine, Health &amp; Behavior 14(1), 27–41 · online 2025-09-07 / issue 2026</a:t>
            </a:r>
            <a:endParaRPr lang="en-US" sz="730" dirty="0"/>
          </a:p>
        </p:txBody>
      </p:sp>
      <p:sp>
        <p:nvSpPr>
          <p:cNvPr id="9" name="Shape 7"/>
          <p:cNvSpPr/>
          <p:nvPr/>
        </p:nvSpPr>
        <p:spPr>
          <a:xfrm>
            <a:off x="658368" y="1078992"/>
            <a:ext cx="2212848" cy="310896"/>
          </a:xfrm>
          <a:prstGeom prst="roundRect">
            <a:avLst/>
          </a:prstGeom>
          <a:solidFill>
            <a:srgbClr val="6BB7FF"/>
          </a:solidFill>
          <a:ln w="12700">
            <a:solidFill>
              <a:srgbClr val="6BB7FF">
                <a:alpha val="0"/>
              </a:srgbClr>
            </a:solidFill>
            <a:prstDash val="solid"/>
          </a:ln>
        </p:spPr>
      </p:sp>
      <p:sp>
        <p:nvSpPr>
          <p:cNvPr id="10" name="Text 8"/>
          <p:cNvSpPr txBox="1"/>
          <p:nvPr/>
        </p:nvSpPr>
        <p:spPr>
          <a:xfrm>
            <a:off x="731520" y="1147572"/>
            <a:ext cx="2066544" cy="210312"/>
          </a:xfrm>
          <a:prstGeom prst="rect">
            <a:avLst/>
          </a:prstGeom>
          <a:noFill/>
          <a:ln/>
        </p:spPr>
        <p:txBody>
          <a:bodyPr wrap="square" lIns="0" tIns="0" rIns="0" bIns="0" rtlCol="0" anchor="ctr">
            <a:normAutofit/>
          </a:bodyPr>
          <a:lstStyle/>
          <a:p>
            <a:pPr algn="ctr" indent="0" marL="0">
              <a:buNone/>
            </a:pPr>
            <a:r>
              <a:rPr lang="en-US" sz="940" b="1" dirty="0">
                <a:solidFill>
                  <a:srgbClr val="07111F"/>
                </a:solidFill>
                <a:latin typeface="Microsoft JhengHei" pitchFamily="34" charset="0"/>
                <a:ea typeface="Microsoft JhengHei" pitchFamily="34" charset="-122"/>
                <a:cs typeface="Microsoft JhengHei" pitchFamily="34" charset="-120"/>
              </a:rPr>
              <a:t>n = 18 · 男性大學足球員</a:t>
            </a:r>
            <a:endParaRPr lang="en-US" sz="940" dirty="0"/>
          </a:p>
        </p:txBody>
      </p:sp>
      <p:sp>
        <p:nvSpPr>
          <p:cNvPr id="11" name="Shape 9"/>
          <p:cNvSpPr/>
          <p:nvPr/>
        </p:nvSpPr>
        <p:spPr>
          <a:xfrm>
            <a:off x="3017520" y="1078992"/>
            <a:ext cx="2011680" cy="310896"/>
          </a:xfrm>
          <a:prstGeom prst="roundRect">
            <a:avLst/>
          </a:prstGeom>
          <a:solidFill>
            <a:srgbClr val="12263A"/>
          </a:solidFill>
          <a:ln w="12700">
            <a:solidFill>
              <a:srgbClr val="12263A">
                <a:alpha val="0"/>
              </a:srgbClr>
            </a:solidFill>
            <a:prstDash val="solid"/>
          </a:ln>
        </p:spPr>
      </p:sp>
      <p:sp>
        <p:nvSpPr>
          <p:cNvPr id="12" name="Text 10"/>
          <p:cNvSpPr txBox="1"/>
          <p:nvPr/>
        </p:nvSpPr>
        <p:spPr>
          <a:xfrm>
            <a:off x="3090672" y="1147572"/>
            <a:ext cx="1865376" cy="210312"/>
          </a:xfrm>
          <a:prstGeom prst="rect">
            <a:avLst/>
          </a:prstGeom>
          <a:noFill/>
          <a:ln/>
        </p:spPr>
        <p:txBody>
          <a:bodyPr wrap="square" lIns="0" tIns="0" rIns="0" bIns="0" rtlCol="0" anchor="ctr">
            <a:normAutofit/>
          </a:bodyPr>
          <a:lstStyle/>
          <a:p>
            <a:pPr algn="ctr" indent="0" marL="0">
              <a:buNone/>
            </a:pPr>
            <a:r>
              <a:rPr lang="en-US" sz="940" b="1" dirty="0">
                <a:solidFill>
                  <a:srgbClr val="9DD0FF"/>
                </a:solidFill>
                <a:latin typeface="Microsoft JhengHei" pitchFamily="34" charset="0"/>
                <a:ea typeface="Microsoft JhengHei" pitchFamily="34" charset="-122"/>
                <a:cs typeface="Microsoft JhengHei" pitchFamily="34" charset="-120"/>
              </a:rPr>
              <a:t>平均 21 歲（19–23）</a:t>
            </a:r>
            <a:endParaRPr lang="en-US" sz="940" dirty="0"/>
          </a:p>
        </p:txBody>
      </p:sp>
      <p:sp>
        <p:nvSpPr>
          <p:cNvPr id="13" name="Shape 11"/>
          <p:cNvSpPr/>
          <p:nvPr/>
        </p:nvSpPr>
        <p:spPr>
          <a:xfrm>
            <a:off x="5175504" y="1078992"/>
            <a:ext cx="1975104" cy="310896"/>
          </a:xfrm>
          <a:prstGeom prst="roundRect">
            <a:avLst/>
          </a:prstGeom>
          <a:solidFill>
            <a:srgbClr val="12263A"/>
          </a:solidFill>
          <a:ln w="12700">
            <a:solidFill>
              <a:srgbClr val="12263A">
                <a:alpha val="0"/>
              </a:srgbClr>
            </a:solidFill>
            <a:prstDash val="solid"/>
          </a:ln>
        </p:spPr>
      </p:sp>
      <p:sp>
        <p:nvSpPr>
          <p:cNvPr id="14" name="Text 12"/>
          <p:cNvSpPr txBox="1"/>
          <p:nvPr/>
        </p:nvSpPr>
        <p:spPr>
          <a:xfrm>
            <a:off x="5248656" y="1147572"/>
            <a:ext cx="1828800" cy="210312"/>
          </a:xfrm>
          <a:prstGeom prst="rect">
            <a:avLst/>
          </a:prstGeom>
          <a:noFill/>
          <a:ln/>
        </p:spPr>
        <p:txBody>
          <a:bodyPr wrap="square" lIns="0" tIns="0" rIns="0" bIns="0" rtlCol="0" anchor="ctr">
            <a:normAutofit/>
          </a:bodyPr>
          <a:lstStyle/>
          <a:p>
            <a:pPr algn="ctr" indent="0" marL="0">
              <a:buNone/>
            </a:pPr>
            <a:r>
              <a:rPr lang="en-US" sz="940" b="1" dirty="0">
                <a:solidFill>
                  <a:srgbClr val="78EAE0"/>
                </a:solidFill>
                <a:latin typeface="Microsoft JhengHei" pitchFamily="34" charset="0"/>
                <a:ea typeface="Microsoft JhengHei" pitchFamily="34" charset="-122"/>
                <a:cs typeface="Microsoft JhengHei" pitchFamily="34" charset="-120"/>
              </a:rPr>
              <a:t>10 Hz GNSS + 1 Hz sLA</a:t>
            </a:r>
            <a:endParaRPr lang="en-US" sz="940" dirty="0"/>
          </a:p>
        </p:txBody>
      </p:sp>
      <p:sp>
        <p:nvSpPr>
          <p:cNvPr id="15" name="Shape 13"/>
          <p:cNvSpPr/>
          <p:nvPr/>
        </p:nvSpPr>
        <p:spPr>
          <a:xfrm>
            <a:off x="621792" y="1856232"/>
            <a:ext cx="2121408" cy="1170432"/>
          </a:xfrm>
          <a:prstGeom prst="roundRect">
            <a:avLst>
              <a:gd name="adj" fmla="val 6250"/>
            </a:avLst>
          </a:prstGeom>
          <a:solidFill>
            <a:srgbClr val="12263A"/>
          </a:solidFill>
          <a:ln w="15240">
            <a:solidFill>
              <a:srgbClr val="6BB7FF"/>
            </a:solidFill>
            <a:prstDash val="solid"/>
          </a:ln>
        </p:spPr>
      </p:sp>
      <p:sp>
        <p:nvSpPr>
          <p:cNvPr id="16" name="Shape 14"/>
          <p:cNvSpPr/>
          <p:nvPr/>
        </p:nvSpPr>
        <p:spPr>
          <a:xfrm>
            <a:off x="740664" y="1984248"/>
            <a:ext cx="320040" cy="320040"/>
          </a:xfrm>
          <a:prstGeom prst="ellipse">
            <a:avLst/>
          </a:prstGeom>
          <a:solidFill>
            <a:srgbClr val="6BB7FF"/>
          </a:solidFill>
          <a:ln w="12700">
            <a:solidFill>
              <a:srgbClr val="6BB7FF">
                <a:alpha val="0"/>
              </a:srgbClr>
            </a:solidFill>
            <a:prstDash val="solid"/>
          </a:ln>
        </p:spPr>
      </p:sp>
      <p:sp>
        <p:nvSpPr>
          <p:cNvPr id="17" name="Text 15"/>
          <p:cNvSpPr txBox="1"/>
          <p:nvPr/>
        </p:nvSpPr>
        <p:spPr>
          <a:xfrm>
            <a:off x="740664" y="2052828"/>
            <a:ext cx="320040" cy="146304"/>
          </a:xfrm>
          <a:prstGeom prst="rect">
            <a:avLst/>
          </a:prstGeom>
          <a:noFill/>
          <a:ln/>
        </p:spPr>
        <p:txBody>
          <a:bodyPr wrap="square" lIns="0" tIns="0" rIns="0" bIns="0" rtlCol="0" anchor="t">
            <a:normAutofit/>
          </a:bodyPr>
          <a:lstStyle/>
          <a:p>
            <a:pPr algn="ctr" indent="0" marL="0">
              <a:buNone/>
            </a:pPr>
            <a:r>
              <a:rPr lang="en-US" sz="900" b="1" dirty="0">
                <a:solidFill>
                  <a:srgbClr val="07111F"/>
                </a:solidFill>
                <a:latin typeface="Aptos" pitchFamily="34" charset="0"/>
                <a:ea typeface="Aptos" pitchFamily="34" charset="-122"/>
                <a:cs typeface="Aptos" pitchFamily="34" charset="-120"/>
              </a:rPr>
              <a:t>1</a:t>
            </a:r>
            <a:endParaRPr lang="en-US" sz="900" dirty="0"/>
          </a:p>
        </p:txBody>
      </p:sp>
      <p:sp>
        <p:nvSpPr>
          <p:cNvPr id="18" name="Text 16"/>
          <p:cNvSpPr txBox="1"/>
          <p:nvPr/>
        </p:nvSpPr>
        <p:spPr>
          <a:xfrm>
            <a:off x="1133856" y="2002536"/>
            <a:ext cx="1481328" cy="265176"/>
          </a:xfrm>
          <a:prstGeom prst="rect">
            <a:avLst/>
          </a:prstGeom>
          <a:noFill/>
          <a:ln/>
        </p:spPr>
        <p:txBody>
          <a:bodyPr wrap="square" lIns="0" tIns="0" rIns="0" bIns="0" rtlCol="0" anchor="t">
            <a:normAutofit/>
          </a:bodyPr>
          <a:lstStyle/>
          <a:p>
            <a:pPr algn="l" indent="0" marL="0">
              <a:buNone/>
            </a:pPr>
            <a:r>
              <a:rPr lang="en-US" sz="1200" b="1" dirty="0">
                <a:solidFill>
                  <a:srgbClr val="F5F7FA"/>
                </a:solidFill>
                <a:latin typeface="Microsoft JhengHei" pitchFamily="34" charset="0"/>
                <a:ea typeface="Microsoft JhengHei" pitchFamily="34" charset="-122"/>
                <a:cs typeface="Microsoft JhengHei" pitchFamily="34" charset="-120"/>
              </a:rPr>
              <a:t>Test 1｜賽前</a:t>
            </a:r>
            <a:endParaRPr lang="en-US" sz="1200" dirty="0"/>
          </a:p>
        </p:txBody>
      </p:sp>
      <p:sp>
        <p:nvSpPr>
          <p:cNvPr id="19" name="Text 17"/>
          <p:cNvSpPr txBox="1"/>
          <p:nvPr/>
        </p:nvSpPr>
        <p:spPr>
          <a:xfrm>
            <a:off x="786384" y="2368296"/>
            <a:ext cx="1792224" cy="493776"/>
          </a:xfrm>
          <a:prstGeom prst="rect">
            <a:avLst/>
          </a:prstGeom>
          <a:noFill/>
          <a:ln/>
        </p:spPr>
        <p:txBody>
          <a:bodyPr wrap="square" lIns="0" tIns="0" rIns="0" bIns="0" rtlCol="0" anchor="t">
            <a:normAutofit/>
          </a:bodyPr>
          <a:lstStyle/>
          <a:p>
            <a:pPr algn="l" indent="0" marL="0">
              <a:buNone/>
            </a:pPr>
            <a:r>
              <a:rPr lang="en-US" sz="950" dirty="0">
                <a:solidFill>
                  <a:srgbClr val="93A4B6"/>
                </a:solidFill>
                <a:latin typeface="Microsoft JhengHei" pitchFamily="34" charset="0"/>
                <a:ea typeface="Microsoft JhengHei" pitchFamily="34" charset="-122"/>
                <a:cs typeface="Microsoft JhengHei" pitchFamily="34" charset="-120"/>
              </a:rPr>
              <a:t>漸增腳踏車測試</a:t>
            </a:r>
            <a:endParaRPr lang="en-US" sz="950" dirty="0"/>
          </a:p>
          <a:p>
            <a:pPr algn="l" indent="0" marL="0">
              <a:buNone/>
            </a:pPr>
            <a:r>
              <a:rPr lang="en-US" sz="950" dirty="0">
                <a:solidFill>
                  <a:srgbClr val="93A4B6"/>
                </a:solidFill>
                <a:latin typeface="Microsoft JhengHei" pitchFamily="34" charset="0"/>
                <a:ea typeface="Microsoft JhengHei" pitchFamily="34" charset="-122"/>
                <a:cs typeface="Microsoft JhengHei" pitchFamily="34" charset="-120"/>
              </a:rPr>
              <a:t>取得 VT 與 sLT</a:t>
            </a:r>
            <a:endParaRPr lang="en-US" sz="950" dirty="0"/>
          </a:p>
        </p:txBody>
      </p:sp>
      <p:sp>
        <p:nvSpPr>
          <p:cNvPr id="20" name="Shape 18"/>
          <p:cNvSpPr/>
          <p:nvPr/>
        </p:nvSpPr>
        <p:spPr>
          <a:xfrm>
            <a:off x="2834640" y="2249424"/>
            <a:ext cx="365760" cy="384048"/>
          </a:xfrm>
          <a:prstGeom prst="chevron">
            <a:avLst/>
          </a:prstGeom>
          <a:solidFill>
            <a:srgbClr val="27435A"/>
          </a:solidFill>
          <a:ln w="12700">
            <a:solidFill>
              <a:srgbClr val="27435A">
                <a:alpha val="0"/>
              </a:srgbClr>
            </a:solidFill>
            <a:prstDash val="solid"/>
          </a:ln>
        </p:spPr>
      </p:sp>
      <p:sp>
        <p:nvSpPr>
          <p:cNvPr id="21" name="Shape 19"/>
          <p:cNvSpPr/>
          <p:nvPr/>
        </p:nvSpPr>
        <p:spPr>
          <a:xfrm>
            <a:off x="3282696" y="1856232"/>
            <a:ext cx="2121408" cy="1170432"/>
          </a:xfrm>
          <a:prstGeom prst="roundRect">
            <a:avLst>
              <a:gd name="adj" fmla="val 6250"/>
            </a:avLst>
          </a:prstGeom>
          <a:solidFill>
            <a:srgbClr val="12263A"/>
          </a:solidFill>
          <a:ln w="15240">
            <a:solidFill>
              <a:srgbClr val="20D4C7"/>
            </a:solidFill>
            <a:prstDash val="solid"/>
          </a:ln>
        </p:spPr>
      </p:sp>
      <p:sp>
        <p:nvSpPr>
          <p:cNvPr id="22" name="Shape 20"/>
          <p:cNvSpPr/>
          <p:nvPr/>
        </p:nvSpPr>
        <p:spPr>
          <a:xfrm>
            <a:off x="3401568" y="1984248"/>
            <a:ext cx="320040" cy="320040"/>
          </a:xfrm>
          <a:prstGeom prst="ellipse">
            <a:avLst/>
          </a:prstGeom>
          <a:solidFill>
            <a:srgbClr val="20D4C7"/>
          </a:solidFill>
          <a:ln w="12700">
            <a:solidFill>
              <a:srgbClr val="20D4C7">
                <a:alpha val="0"/>
              </a:srgbClr>
            </a:solidFill>
            <a:prstDash val="solid"/>
          </a:ln>
        </p:spPr>
      </p:sp>
      <p:sp>
        <p:nvSpPr>
          <p:cNvPr id="23" name="Text 21"/>
          <p:cNvSpPr txBox="1"/>
          <p:nvPr/>
        </p:nvSpPr>
        <p:spPr>
          <a:xfrm>
            <a:off x="3401568" y="2052828"/>
            <a:ext cx="320040" cy="146304"/>
          </a:xfrm>
          <a:prstGeom prst="rect">
            <a:avLst/>
          </a:prstGeom>
          <a:noFill/>
          <a:ln/>
        </p:spPr>
        <p:txBody>
          <a:bodyPr wrap="square" lIns="0" tIns="0" rIns="0" bIns="0" rtlCol="0" anchor="t">
            <a:normAutofit/>
          </a:bodyPr>
          <a:lstStyle/>
          <a:p>
            <a:pPr algn="ctr" indent="0" marL="0">
              <a:buNone/>
            </a:pPr>
            <a:r>
              <a:rPr lang="en-US" sz="900" b="1" dirty="0">
                <a:solidFill>
                  <a:srgbClr val="07111F"/>
                </a:solidFill>
                <a:latin typeface="Aptos" pitchFamily="34" charset="0"/>
                <a:ea typeface="Aptos" pitchFamily="34" charset="-122"/>
                <a:cs typeface="Aptos" pitchFamily="34" charset="-120"/>
              </a:rPr>
              <a:t>2</a:t>
            </a:r>
            <a:endParaRPr lang="en-US" sz="900" dirty="0"/>
          </a:p>
        </p:txBody>
      </p:sp>
      <p:sp>
        <p:nvSpPr>
          <p:cNvPr id="24" name="Text 22"/>
          <p:cNvSpPr txBox="1"/>
          <p:nvPr/>
        </p:nvSpPr>
        <p:spPr>
          <a:xfrm>
            <a:off x="3794760" y="2002536"/>
            <a:ext cx="1481328" cy="265176"/>
          </a:xfrm>
          <a:prstGeom prst="rect">
            <a:avLst/>
          </a:prstGeom>
          <a:noFill/>
          <a:ln/>
        </p:spPr>
        <p:txBody>
          <a:bodyPr wrap="square" lIns="0" tIns="0" rIns="0" bIns="0" rtlCol="0" anchor="t">
            <a:normAutofit/>
          </a:bodyPr>
          <a:lstStyle/>
          <a:p>
            <a:pPr algn="l" indent="0" marL="0">
              <a:buNone/>
            </a:pPr>
            <a:r>
              <a:rPr lang="en-US" sz="1200" b="1" dirty="0">
                <a:solidFill>
                  <a:srgbClr val="F5F7FA"/>
                </a:solidFill>
                <a:latin typeface="Microsoft JhengHei" pitchFamily="34" charset="0"/>
                <a:ea typeface="Microsoft JhengHei" pitchFamily="34" charset="-122"/>
                <a:cs typeface="Microsoft JhengHei" pitchFamily="34" charset="-120"/>
              </a:rPr>
              <a:t>Test 2｜賽前重測</a:t>
            </a:r>
            <a:endParaRPr lang="en-US" sz="1200" dirty="0"/>
          </a:p>
        </p:txBody>
      </p:sp>
      <p:sp>
        <p:nvSpPr>
          <p:cNvPr id="25" name="Text 23"/>
          <p:cNvSpPr txBox="1"/>
          <p:nvPr/>
        </p:nvSpPr>
        <p:spPr>
          <a:xfrm>
            <a:off x="3447288" y="2368296"/>
            <a:ext cx="1792224" cy="493776"/>
          </a:xfrm>
          <a:prstGeom prst="rect">
            <a:avLst/>
          </a:prstGeom>
          <a:noFill/>
          <a:ln/>
        </p:spPr>
        <p:txBody>
          <a:bodyPr wrap="square" lIns="0" tIns="0" rIns="0" bIns="0" rtlCol="0" anchor="t">
            <a:normAutofit/>
          </a:bodyPr>
          <a:lstStyle/>
          <a:p>
            <a:pPr algn="l" indent="0" marL="0">
              <a:buNone/>
            </a:pPr>
            <a:r>
              <a:rPr lang="en-US" sz="950" dirty="0">
                <a:solidFill>
                  <a:srgbClr val="93A4B6"/>
                </a:solidFill>
                <a:latin typeface="Microsoft JhengHei" pitchFamily="34" charset="0"/>
                <a:ea typeface="Microsoft JhengHei" pitchFamily="34" charset="-122"/>
                <a:cs typeface="Microsoft JhengHei" pitchFamily="34" charset="-120"/>
              </a:rPr>
              <a:t>估計 ICC、SEM、MDC₉₅</a:t>
            </a:r>
            <a:endParaRPr lang="en-US" sz="950" dirty="0"/>
          </a:p>
          <a:p>
            <a:pPr algn="l" indent="0" marL="0">
              <a:buNone/>
            </a:pPr>
            <a:r>
              <a:rPr lang="en-US" sz="950" dirty="0">
                <a:solidFill>
                  <a:srgbClr val="93A4B6"/>
                </a:solidFill>
                <a:latin typeface="Microsoft JhengHei" pitchFamily="34" charset="0"/>
                <a:ea typeface="Microsoft JhengHei" pitchFamily="34" charset="-122"/>
                <a:cs typeface="Microsoft JhengHei" pitchFamily="34" charset="-120"/>
              </a:rPr>
              <a:t>建立量測誤差</a:t>
            </a:r>
            <a:endParaRPr lang="en-US" sz="950" dirty="0"/>
          </a:p>
        </p:txBody>
      </p:sp>
      <p:sp>
        <p:nvSpPr>
          <p:cNvPr id="26" name="Shape 24"/>
          <p:cNvSpPr/>
          <p:nvPr/>
        </p:nvSpPr>
        <p:spPr>
          <a:xfrm>
            <a:off x="5495544" y="2249424"/>
            <a:ext cx="365760" cy="384048"/>
          </a:xfrm>
          <a:prstGeom prst="chevron">
            <a:avLst/>
          </a:prstGeom>
          <a:solidFill>
            <a:srgbClr val="27435A"/>
          </a:solidFill>
          <a:ln w="12700">
            <a:solidFill>
              <a:srgbClr val="27435A">
                <a:alpha val="0"/>
              </a:srgbClr>
            </a:solidFill>
            <a:prstDash val="solid"/>
          </a:ln>
        </p:spPr>
      </p:sp>
      <p:sp>
        <p:nvSpPr>
          <p:cNvPr id="27" name="Shape 25"/>
          <p:cNvSpPr/>
          <p:nvPr/>
        </p:nvSpPr>
        <p:spPr>
          <a:xfrm>
            <a:off x="5943600" y="1856232"/>
            <a:ext cx="1993392" cy="1170432"/>
          </a:xfrm>
          <a:prstGeom prst="roundRect">
            <a:avLst>
              <a:gd name="adj" fmla="val 6250"/>
            </a:avLst>
          </a:prstGeom>
          <a:solidFill>
            <a:srgbClr val="12263A"/>
          </a:solidFill>
          <a:ln w="15240">
            <a:solidFill>
              <a:srgbClr val="FF9B5E"/>
            </a:solidFill>
            <a:prstDash val="solid"/>
          </a:ln>
        </p:spPr>
      </p:sp>
      <p:sp>
        <p:nvSpPr>
          <p:cNvPr id="28" name="Shape 26"/>
          <p:cNvSpPr/>
          <p:nvPr/>
        </p:nvSpPr>
        <p:spPr>
          <a:xfrm>
            <a:off x="6062472" y="1984248"/>
            <a:ext cx="320040" cy="320040"/>
          </a:xfrm>
          <a:prstGeom prst="ellipse">
            <a:avLst/>
          </a:prstGeom>
          <a:solidFill>
            <a:srgbClr val="FF9B5E"/>
          </a:solidFill>
          <a:ln w="12700">
            <a:solidFill>
              <a:srgbClr val="FF9B5E">
                <a:alpha val="0"/>
              </a:srgbClr>
            </a:solidFill>
            <a:prstDash val="solid"/>
          </a:ln>
        </p:spPr>
      </p:sp>
      <p:sp>
        <p:nvSpPr>
          <p:cNvPr id="29" name="Text 27"/>
          <p:cNvSpPr txBox="1"/>
          <p:nvPr/>
        </p:nvSpPr>
        <p:spPr>
          <a:xfrm>
            <a:off x="6062472" y="2052828"/>
            <a:ext cx="320040" cy="146304"/>
          </a:xfrm>
          <a:prstGeom prst="rect">
            <a:avLst/>
          </a:prstGeom>
          <a:noFill/>
          <a:ln/>
        </p:spPr>
        <p:txBody>
          <a:bodyPr wrap="square" lIns="0" tIns="0" rIns="0" bIns="0" rtlCol="0" anchor="t">
            <a:normAutofit/>
          </a:bodyPr>
          <a:lstStyle/>
          <a:p>
            <a:pPr algn="ctr" indent="0" marL="0">
              <a:buNone/>
            </a:pPr>
            <a:r>
              <a:rPr lang="en-US" sz="900" b="1" dirty="0">
                <a:solidFill>
                  <a:srgbClr val="07111F"/>
                </a:solidFill>
                <a:latin typeface="Aptos" pitchFamily="34" charset="0"/>
                <a:ea typeface="Aptos" pitchFamily="34" charset="-122"/>
                <a:cs typeface="Aptos" pitchFamily="34" charset="-120"/>
              </a:rPr>
              <a:t>M</a:t>
            </a:r>
            <a:endParaRPr lang="en-US" sz="900" dirty="0"/>
          </a:p>
        </p:txBody>
      </p:sp>
      <p:sp>
        <p:nvSpPr>
          <p:cNvPr id="30" name="Text 28"/>
          <p:cNvSpPr txBox="1"/>
          <p:nvPr/>
        </p:nvSpPr>
        <p:spPr>
          <a:xfrm>
            <a:off x="6455664" y="2002536"/>
            <a:ext cx="1353312" cy="265176"/>
          </a:xfrm>
          <a:prstGeom prst="rect">
            <a:avLst/>
          </a:prstGeom>
          <a:noFill/>
          <a:ln/>
        </p:spPr>
        <p:txBody>
          <a:bodyPr wrap="square" lIns="0" tIns="0" rIns="0" bIns="0" rtlCol="0" anchor="t">
            <a:normAutofit/>
          </a:bodyPr>
          <a:lstStyle/>
          <a:p>
            <a:pPr algn="l" indent="0" marL="0">
              <a:buNone/>
            </a:pPr>
            <a:r>
              <a:rPr lang="en-US" sz="1200" b="1" dirty="0">
                <a:solidFill>
                  <a:srgbClr val="F5F7FA"/>
                </a:solidFill>
                <a:latin typeface="Microsoft JhengHei" pitchFamily="34" charset="0"/>
                <a:ea typeface="Microsoft JhengHei" pitchFamily="34" charset="-122"/>
                <a:cs typeface="Microsoft JhengHei" pitchFamily="34" charset="-120"/>
              </a:rPr>
              <a:t>足球比賽</a:t>
            </a:r>
            <a:endParaRPr lang="en-US" sz="1200" dirty="0"/>
          </a:p>
        </p:txBody>
      </p:sp>
      <p:sp>
        <p:nvSpPr>
          <p:cNvPr id="31" name="Text 29"/>
          <p:cNvSpPr txBox="1"/>
          <p:nvPr/>
        </p:nvSpPr>
        <p:spPr>
          <a:xfrm>
            <a:off x="6108192" y="2368296"/>
            <a:ext cx="1664208" cy="493776"/>
          </a:xfrm>
          <a:prstGeom prst="rect">
            <a:avLst/>
          </a:prstGeom>
          <a:noFill/>
          <a:ln/>
        </p:spPr>
        <p:txBody>
          <a:bodyPr wrap="square" lIns="0" tIns="0" rIns="0" bIns="0" rtlCol="0" anchor="t">
            <a:normAutofit/>
          </a:bodyPr>
          <a:lstStyle/>
          <a:p>
            <a:pPr algn="l" indent="0" marL="0">
              <a:buNone/>
            </a:pPr>
            <a:r>
              <a:rPr lang="en-US" sz="950" dirty="0">
                <a:solidFill>
                  <a:srgbClr val="93A4B6"/>
                </a:solidFill>
                <a:latin typeface="Microsoft JhengHei" pitchFamily="34" charset="0"/>
                <a:ea typeface="Microsoft JhengHei" pitchFamily="34" charset="-122"/>
                <a:cs typeface="Microsoft JhengHei" pitchFamily="34" charset="-120"/>
              </a:rPr>
              <a:t>GNSS 量化比賽負荷</a:t>
            </a:r>
            <a:endParaRPr lang="en-US" sz="950" dirty="0"/>
          </a:p>
          <a:p>
            <a:pPr algn="l" indent="0" marL="0">
              <a:buNone/>
            </a:pPr>
            <a:r>
              <a:rPr lang="en-US" sz="950" dirty="0">
                <a:solidFill>
                  <a:srgbClr val="93A4B6"/>
                </a:solidFill>
                <a:latin typeface="Microsoft JhengHei" pitchFamily="34" charset="0"/>
                <a:ea typeface="Microsoft JhengHei" pitchFamily="34" charset="-122"/>
                <a:cs typeface="Microsoft JhengHei" pitchFamily="34" charset="-120"/>
              </a:rPr>
              <a:t>重點：高速度距離 HSD</a:t>
            </a:r>
            <a:endParaRPr lang="en-US" sz="950" dirty="0"/>
          </a:p>
        </p:txBody>
      </p:sp>
      <p:sp>
        <p:nvSpPr>
          <p:cNvPr id="32" name="Shape 30"/>
          <p:cNvSpPr/>
          <p:nvPr/>
        </p:nvSpPr>
        <p:spPr>
          <a:xfrm>
            <a:off x="8028432" y="2249424"/>
            <a:ext cx="365760" cy="384048"/>
          </a:xfrm>
          <a:prstGeom prst="chevron">
            <a:avLst/>
          </a:prstGeom>
          <a:solidFill>
            <a:srgbClr val="27435A"/>
          </a:solidFill>
          <a:ln w="12700">
            <a:solidFill>
              <a:srgbClr val="27435A">
                <a:alpha val="0"/>
              </a:srgbClr>
            </a:solidFill>
            <a:prstDash val="solid"/>
          </a:ln>
        </p:spPr>
      </p:sp>
      <p:sp>
        <p:nvSpPr>
          <p:cNvPr id="33" name="Shape 31"/>
          <p:cNvSpPr/>
          <p:nvPr/>
        </p:nvSpPr>
        <p:spPr>
          <a:xfrm>
            <a:off x="8476488" y="1856232"/>
            <a:ext cx="1051560" cy="1170432"/>
          </a:xfrm>
          <a:prstGeom prst="roundRect">
            <a:avLst>
              <a:gd name="adj" fmla="val 6957"/>
            </a:avLst>
          </a:prstGeom>
          <a:solidFill>
            <a:srgbClr val="12263A"/>
          </a:solidFill>
          <a:ln w="15240">
            <a:solidFill>
              <a:srgbClr val="FFD166"/>
            </a:solidFill>
            <a:prstDash val="solid"/>
          </a:ln>
        </p:spPr>
      </p:sp>
      <p:sp>
        <p:nvSpPr>
          <p:cNvPr id="34" name="Shape 32"/>
          <p:cNvSpPr/>
          <p:nvPr/>
        </p:nvSpPr>
        <p:spPr>
          <a:xfrm>
            <a:off x="8595360" y="1984248"/>
            <a:ext cx="320040" cy="320040"/>
          </a:xfrm>
          <a:prstGeom prst="ellipse">
            <a:avLst/>
          </a:prstGeom>
          <a:solidFill>
            <a:srgbClr val="FFD166"/>
          </a:solidFill>
          <a:ln w="12700">
            <a:solidFill>
              <a:srgbClr val="FFD166">
                <a:alpha val="0"/>
              </a:srgbClr>
            </a:solidFill>
            <a:prstDash val="solid"/>
          </a:ln>
        </p:spPr>
      </p:sp>
      <p:sp>
        <p:nvSpPr>
          <p:cNvPr id="35" name="Text 33"/>
          <p:cNvSpPr txBox="1"/>
          <p:nvPr/>
        </p:nvSpPr>
        <p:spPr>
          <a:xfrm>
            <a:off x="8595360" y="2052828"/>
            <a:ext cx="320040" cy="146304"/>
          </a:xfrm>
          <a:prstGeom prst="rect">
            <a:avLst/>
          </a:prstGeom>
          <a:noFill/>
          <a:ln/>
        </p:spPr>
        <p:txBody>
          <a:bodyPr wrap="square" lIns="0" tIns="0" rIns="0" bIns="0" rtlCol="0" anchor="t">
            <a:normAutofit/>
          </a:bodyPr>
          <a:lstStyle/>
          <a:p>
            <a:pPr algn="ctr" indent="0" marL="0">
              <a:buNone/>
            </a:pPr>
            <a:r>
              <a:rPr lang="en-US" sz="900" b="1" dirty="0">
                <a:solidFill>
                  <a:srgbClr val="07111F"/>
                </a:solidFill>
                <a:latin typeface="Aptos" pitchFamily="34" charset="0"/>
                <a:ea typeface="Aptos" pitchFamily="34" charset="-122"/>
                <a:cs typeface="Aptos" pitchFamily="34" charset="-120"/>
              </a:rPr>
              <a:t>48</a:t>
            </a:r>
            <a:endParaRPr lang="en-US" sz="900" dirty="0"/>
          </a:p>
        </p:txBody>
      </p:sp>
      <p:sp>
        <p:nvSpPr>
          <p:cNvPr id="36" name="Text 34"/>
          <p:cNvSpPr txBox="1"/>
          <p:nvPr/>
        </p:nvSpPr>
        <p:spPr>
          <a:xfrm>
            <a:off x="8988552" y="2002536"/>
            <a:ext cx="411480" cy="265176"/>
          </a:xfrm>
          <a:prstGeom prst="rect">
            <a:avLst/>
          </a:prstGeom>
          <a:noFill/>
          <a:ln/>
        </p:spPr>
        <p:txBody>
          <a:bodyPr wrap="square" lIns="0" tIns="0" rIns="0" bIns="0" rtlCol="0" anchor="t">
            <a:normAutofit/>
          </a:bodyPr>
          <a:lstStyle/>
          <a:p>
            <a:pPr algn="l" indent="0" marL="0">
              <a:buNone/>
            </a:pPr>
            <a:r>
              <a:rPr lang="en-US" sz="1200" b="1" dirty="0">
                <a:solidFill>
                  <a:srgbClr val="F5F7FA"/>
                </a:solidFill>
                <a:latin typeface="Microsoft JhengHei" pitchFamily="34" charset="0"/>
                <a:ea typeface="Microsoft JhengHei" pitchFamily="34" charset="-122"/>
                <a:cs typeface="Microsoft JhengHei" pitchFamily="34" charset="-120"/>
              </a:rPr>
              <a:t>+48 h</a:t>
            </a:r>
            <a:endParaRPr lang="en-US" sz="1200" dirty="0"/>
          </a:p>
        </p:txBody>
      </p:sp>
      <p:sp>
        <p:nvSpPr>
          <p:cNvPr id="37" name="Text 35"/>
          <p:cNvSpPr txBox="1"/>
          <p:nvPr/>
        </p:nvSpPr>
        <p:spPr>
          <a:xfrm>
            <a:off x="8641080" y="2368296"/>
            <a:ext cx="722376" cy="493776"/>
          </a:xfrm>
          <a:prstGeom prst="rect">
            <a:avLst/>
          </a:prstGeom>
          <a:noFill/>
          <a:ln/>
        </p:spPr>
        <p:txBody>
          <a:bodyPr wrap="square" lIns="0" tIns="0" rIns="0" bIns="0" rtlCol="0" anchor="t">
            <a:normAutofit/>
          </a:bodyPr>
          <a:lstStyle/>
          <a:p>
            <a:pPr algn="l" indent="0" marL="0">
              <a:buNone/>
            </a:pPr>
            <a:r>
              <a:rPr lang="en-US" sz="950" dirty="0">
                <a:solidFill>
                  <a:srgbClr val="93A4B6"/>
                </a:solidFill>
                <a:latin typeface="Microsoft JhengHei" pitchFamily="34" charset="0"/>
                <a:ea typeface="Microsoft JhengHei" pitchFamily="34" charset="-122"/>
                <a:cs typeface="Microsoft JhengHei" pitchFamily="34" charset="-120"/>
              </a:rPr>
              <a:t>殘餘</a:t>
            </a:r>
            <a:endParaRPr lang="en-US" sz="950" dirty="0"/>
          </a:p>
          <a:p>
            <a:pPr algn="l" indent="0" marL="0">
              <a:buNone/>
            </a:pPr>
            <a:r>
              <a:rPr lang="en-US" sz="950" dirty="0">
                <a:solidFill>
                  <a:srgbClr val="93A4B6"/>
                </a:solidFill>
                <a:latin typeface="Microsoft JhengHei" pitchFamily="34" charset="0"/>
                <a:ea typeface="Microsoft JhengHei" pitchFamily="34" charset="-122"/>
                <a:cs typeface="Microsoft JhengHei" pitchFamily="34" charset="-120"/>
              </a:rPr>
              <a:t>疲勞窗口</a:t>
            </a:r>
            <a:endParaRPr lang="en-US" sz="950" dirty="0"/>
          </a:p>
        </p:txBody>
      </p:sp>
      <p:sp>
        <p:nvSpPr>
          <p:cNvPr id="38" name="Shape 36"/>
          <p:cNvSpPr/>
          <p:nvPr/>
        </p:nvSpPr>
        <p:spPr>
          <a:xfrm>
            <a:off x="9619488" y="2249424"/>
            <a:ext cx="365760" cy="384048"/>
          </a:xfrm>
          <a:prstGeom prst="chevron">
            <a:avLst/>
          </a:prstGeom>
          <a:solidFill>
            <a:srgbClr val="27435A"/>
          </a:solidFill>
          <a:ln w="12700">
            <a:solidFill>
              <a:srgbClr val="27435A">
                <a:alpha val="0"/>
              </a:srgbClr>
            </a:solidFill>
            <a:prstDash val="solid"/>
          </a:ln>
        </p:spPr>
      </p:sp>
      <p:sp>
        <p:nvSpPr>
          <p:cNvPr id="39" name="Shape 37"/>
          <p:cNvSpPr/>
          <p:nvPr/>
        </p:nvSpPr>
        <p:spPr>
          <a:xfrm>
            <a:off x="10067544" y="1856232"/>
            <a:ext cx="1508760" cy="1170432"/>
          </a:xfrm>
          <a:prstGeom prst="roundRect">
            <a:avLst>
              <a:gd name="adj" fmla="val 6250"/>
            </a:avLst>
          </a:prstGeom>
          <a:solidFill>
            <a:srgbClr val="12263A"/>
          </a:solidFill>
          <a:ln w="15240">
            <a:solidFill>
              <a:srgbClr val="B7F06A"/>
            </a:solidFill>
            <a:prstDash val="solid"/>
          </a:ln>
        </p:spPr>
      </p:sp>
      <p:sp>
        <p:nvSpPr>
          <p:cNvPr id="40" name="Shape 38"/>
          <p:cNvSpPr/>
          <p:nvPr/>
        </p:nvSpPr>
        <p:spPr>
          <a:xfrm>
            <a:off x="10186416" y="1984248"/>
            <a:ext cx="320040" cy="320040"/>
          </a:xfrm>
          <a:prstGeom prst="ellipse">
            <a:avLst/>
          </a:prstGeom>
          <a:solidFill>
            <a:srgbClr val="B7F06A"/>
          </a:solidFill>
          <a:ln w="12700">
            <a:solidFill>
              <a:srgbClr val="B7F06A">
                <a:alpha val="0"/>
              </a:srgbClr>
            </a:solidFill>
            <a:prstDash val="solid"/>
          </a:ln>
        </p:spPr>
      </p:sp>
      <p:sp>
        <p:nvSpPr>
          <p:cNvPr id="41" name="Text 39"/>
          <p:cNvSpPr txBox="1"/>
          <p:nvPr/>
        </p:nvSpPr>
        <p:spPr>
          <a:xfrm>
            <a:off x="10186416" y="2052828"/>
            <a:ext cx="320040" cy="146304"/>
          </a:xfrm>
          <a:prstGeom prst="rect">
            <a:avLst/>
          </a:prstGeom>
          <a:noFill/>
          <a:ln/>
        </p:spPr>
        <p:txBody>
          <a:bodyPr wrap="square" lIns="0" tIns="0" rIns="0" bIns="0" rtlCol="0" anchor="t">
            <a:normAutofit/>
          </a:bodyPr>
          <a:lstStyle/>
          <a:p>
            <a:pPr algn="ctr" indent="0" marL="0">
              <a:buNone/>
            </a:pPr>
            <a:r>
              <a:rPr lang="en-US" sz="900" b="1" dirty="0">
                <a:solidFill>
                  <a:srgbClr val="07111F"/>
                </a:solidFill>
                <a:latin typeface="Aptos" pitchFamily="34" charset="0"/>
                <a:ea typeface="Aptos" pitchFamily="34" charset="-122"/>
                <a:cs typeface="Aptos" pitchFamily="34" charset="-120"/>
              </a:rPr>
              <a:t>3</a:t>
            </a:r>
            <a:endParaRPr lang="en-US" sz="900" dirty="0"/>
          </a:p>
        </p:txBody>
      </p:sp>
      <p:sp>
        <p:nvSpPr>
          <p:cNvPr id="42" name="Text 40"/>
          <p:cNvSpPr txBox="1"/>
          <p:nvPr/>
        </p:nvSpPr>
        <p:spPr>
          <a:xfrm>
            <a:off x="10579608" y="2002536"/>
            <a:ext cx="868680" cy="265176"/>
          </a:xfrm>
          <a:prstGeom prst="rect">
            <a:avLst/>
          </a:prstGeom>
          <a:noFill/>
          <a:ln/>
        </p:spPr>
        <p:txBody>
          <a:bodyPr wrap="square" lIns="0" tIns="0" rIns="0" bIns="0" rtlCol="0" anchor="t">
            <a:normAutofit/>
          </a:bodyPr>
          <a:lstStyle/>
          <a:p>
            <a:pPr algn="l" indent="0" marL="0">
              <a:buNone/>
            </a:pPr>
            <a:r>
              <a:rPr lang="en-US" sz="1200" b="1" dirty="0">
                <a:solidFill>
                  <a:srgbClr val="F5F7FA"/>
                </a:solidFill>
                <a:latin typeface="Microsoft JhengHei" pitchFamily="34" charset="0"/>
                <a:ea typeface="Microsoft JhengHei" pitchFamily="34" charset="-122"/>
                <a:cs typeface="Microsoft JhengHei" pitchFamily="34" charset="-120"/>
              </a:rPr>
              <a:t>Test 3｜賽後</a:t>
            </a:r>
            <a:endParaRPr lang="en-US" sz="1200" dirty="0"/>
          </a:p>
        </p:txBody>
      </p:sp>
      <p:sp>
        <p:nvSpPr>
          <p:cNvPr id="43" name="Text 41"/>
          <p:cNvSpPr txBox="1"/>
          <p:nvPr/>
        </p:nvSpPr>
        <p:spPr>
          <a:xfrm>
            <a:off x="10232136" y="2368296"/>
            <a:ext cx="1179576" cy="493776"/>
          </a:xfrm>
          <a:prstGeom prst="rect">
            <a:avLst/>
          </a:prstGeom>
          <a:noFill/>
          <a:ln/>
        </p:spPr>
        <p:txBody>
          <a:bodyPr wrap="square" lIns="0" tIns="0" rIns="0" bIns="0" rtlCol="0" anchor="t">
            <a:normAutofit/>
          </a:bodyPr>
          <a:lstStyle/>
          <a:p>
            <a:pPr algn="l" indent="0" marL="0">
              <a:buNone/>
            </a:pPr>
            <a:r>
              <a:rPr lang="en-US" sz="950" dirty="0">
                <a:solidFill>
                  <a:srgbClr val="93A4B6"/>
                </a:solidFill>
                <a:latin typeface="Microsoft JhengHei" pitchFamily="34" charset="0"/>
                <a:ea typeface="Microsoft JhengHei" pitchFamily="34" charset="-122"/>
                <a:cs typeface="Microsoft JhengHei" pitchFamily="34" charset="-120"/>
              </a:rPr>
              <a:t>重做 VT 與 sLT</a:t>
            </a:r>
            <a:endParaRPr lang="en-US" sz="950" dirty="0"/>
          </a:p>
          <a:p>
            <a:pPr algn="l" indent="0" marL="0">
              <a:buNone/>
            </a:pPr>
            <a:r>
              <a:rPr lang="en-US" sz="950" dirty="0">
                <a:solidFill>
                  <a:srgbClr val="93A4B6"/>
                </a:solidFill>
                <a:latin typeface="Microsoft JhengHei" pitchFamily="34" charset="0"/>
                <a:ea typeface="Microsoft JhengHei" pitchFamily="34" charset="-122"/>
                <a:cs typeface="Microsoft JhengHei" pitchFamily="34" charset="-120"/>
              </a:rPr>
              <a:t>算賽前→賽後變化</a:t>
            </a:r>
            <a:endParaRPr lang="en-US" sz="950" dirty="0"/>
          </a:p>
        </p:txBody>
      </p:sp>
      <p:sp>
        <p:nvSpPr>
          <p:cNvPr id="44" name="Shape 42"/>
          <p:cNvSpPr/>
          <p:nvPr/>
        </p:nvSpPr>
        <p:spPr>
          <a:xfrm>
            <a:off x="640080" y="3502152"/>
            <a:ext cx="5605272" cy="2350008"/>
          </a:xfrm>
          <a:prstGeom prst="roundRect">
            <a:avLst>
              <a:gd name="adj" fmla="val 3113"/>
            </a:avLst>
          </a:prstGeom>
          <a:solidFill>
            <a:srgbClr val="0E1D2E"/>
          </a:solidFill>
          <a:ln w="12700">
            <a:solidFill>
              <a:srgbClr val="1E3A52"/>
            </a:solidFill>
            <a:prstDash val="solid"/>
          </a:ln>
        </p:spPr>
      </p:sp>
      <p:sp>
        <p:nvSpPr>
          <p:cNvPr id="45" name="Text 43"/>
          <p:cNvSpPr txBox="1"/>
          <p:nvPr/>
        </p:nvSpPr>
        <p:spPr>
          <a:xfrm>
            <a:off x="914400" y="3785616"/>
            <a:ext cx="1554480" cy="201168"/>
          </a:xfrm>
          <a:prstGeom prst="rect">
            <a:avLst/>
          </a:prstGeom>
          <a:noFill/>
          <a:ln/>
        </p:spPr>
        <p:txBody>
          <a:bodyPr wrap="square" lIns="0" tIns="0" rIns="0" bIns="0" rtlCol="0" anchor="t">
            <a:normAutofit/>
          </a:bodyPr>
          <a:lstStyle/>
          <a:p>
            <a:pPr algn="l" indent="0" marL="0">
              <a:buNone/>
            </a:pPr>
            <a:r>
              <a:rPr lang="en-US" sz="950" b="1" spc="40" kern="0" dirty="0">
                <a:solidFill>
                  <a:srgbClr val="20D4C7"/>
                </a:solidFill>
                <a:latin typeface="Microsoft JhengHei" pitchFamily="34" charset="0"/>
                <a:ea typeface="Microsoft JhengHei" pitchFamily="34" charset="-122"/>
                <a:cs typeface="Microsoft JhengHei" pitchFamily="34" charset="-120"/>
              </a:rPr>
              <a:t>測試怎麼做</a:t>
            </a:r>
            <a:endParaRPr lang="en-US" sz="950" dirty="0"/>
          </a:p>
        </p:txBody>
      </p:sp>
      <p:sp>
        <p:nvSpPr>
          <p:cNvPr id="46" name="Shape 44"/>
          <p:cNvSpPr/>
          <p:nvPr/>
        </p:nvSpPr>
        <p:spPr>
          <a:xfrm>
            <a:off x="932688" y="4197096"/>
            <a:ext cx="128016" cy="128016"/>
          </a:xfrm>
          <a:prstGeom prst="ellipse">
            <a:avLst/>
          </a:prstGeom>
          <a:solidFill>
            <a:srgbClr val="20D4C7"/>
          </a:solidFill>
          <a:ln w="12700">
            <a:solidFill>
              <a:srgbClr val="20D4C7">
                <a:alpha val="0"/>
              </a:srgbClr>
            </a:solidFill>
            <a:prstDash val="solid"/>
          </a:ln>
        </p:spPr>
      </p:sp>
      <p:sp>
        <p:nvSpPr>
          <p:cNvPr id="47" name="Text 45"/>
          <p:cNvSpPr txBox="1"/>
          <p:nvPr/>
        </p:nvSpPr>
        <p:spPr>
          <a:xfrm>
            <a:off x="1143000" y="4160520"/>
            <a:ext cx="4544568"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漸增腳踏車負荷</a:t>
            </a:r>
            <a:endParaRPr lang="en-US" sz="1250" dirty="0"/>
          </a:p>
        </p:txBody>
      </p:sp>
      <p:sp>
        <p:nvSpPr>
          <p:cNvPr id="48" name="Text 46"/>
          <p:cNvSpPr txBox="1"/>
          <p:nvPr/>
        </p:nvSpPr>
        <p:spPr>
          <a:xfrm>
            <a:off x="1143000" y="4425696"/>
            <a:ext cx="4544568" cy="411480"/>
          </a:xfrm>
          <a:prstGeom prst="rect">
            <a:avLst/>
          </a:prstGeom>
          <a:noFill/>
          <a:ln/>
        </p:spPr>
        <p:txBody>
          <a:bodyPr wrap="square" lIns="0" tIns="0" rIns="0" bIns="0" rtlCol="0" anchor="t">
            <a:normAutofit/>
          </a:bodyPr>
          <a:lstStyle/>
          <a:p>
            <a:pPr algn="l" indent="0" marL="0">
              <a:buNone/>
            </a:pPr>
            <a:r>
              <a:rPr lang="en-US" sz="1030" dirty="0">
                <a:solidFill>
                  <a:srgbClr val="93A4B6"/>
                </a:solidFill>
                <a:latin typeface="Microsoft JhengHei" pitchFamily="34" charset="0"/>
                <a:ea typeface="Microsoft JhengHei" pitchFamily="34" charset="-122"/>
                <a:cs typeface="Microsoft JhengHei" pitchFamily="34" charset="-120"/>
              </a:rPr>
              <a:t>測到即時推定 VT 後再持續 2 分鐘，避免做到完全力竭。</a:t>
            </a:r>
            <a:endParaRPr lang="en-US" sz="1030" dirty="0"/>
          </a:p>
        </p:txBody>
      </p:sp>
      <p:sp>
        <p:nvSpPr>
          <p:cNvPr id="49" name="Shape 47"/>
          <p:cNvSpPr/>
          <p:nvPr/>
        </p:nvSpPr>
        <p:spPr>
          <a:xfrm>
            <a:off x="932688" y="4956048"/>
            <a:ext cx="128016" cy="128016"/>
          </a:xfrm>
          <a:prstGeom prst="ellipse">
            <a:avLst/>
          </a:prstGeom>
          <a:solidFill>
            <a:srgbClr val="6BB7FF"/>
          </a:solidFill>
          <a:ln w="12700">
            <a:solidFill>
              <a:srgbClr val="6BB7FF">
                <a:alpha val="0"/>
              </a:srgbClr>
            </a:solidFill>
            <a:prstDash val="solid"/>
          </a:ln>
        </p:spPr>
      </p:sp>
      <p:sp>
        <p:nvSpPr>
          <p:cNvPr id="50" name="Text 48"/>
          <p:cNvSpPr txBox="1"/>
          <p:nvPr/>
        </p:nvSpPr>
        <p:spPr>
          <a:xfrm>
            <a:off x="1143000" y="4919472"/>
            <a:ext cx="4544568"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上臂汗乳酸 1 Hz</a:t>
            </a:r>
            <a:endParaRPr lang="en-US" sz="1250" dirty="0"/>
          </a:p>
        </p:txBody>
      </p:sp>
      <p:sp>
        <p:nvSpPr>
          <p:cNvPr id="51" name="Text 49"/>
          <p:cNvSpPr txBox="1"/>
          <p:nvPr/>
        </p:nvSpPr>
        <p:spPr>
          <a:xfrm>
            <a:off x="1143000" y="5184648"/>
            <a:ext cx="4544568" cy="411480"/>
          </a:xfrm>
          <a:prstGeom prst="rect">
            <a:avLst/>
          </a:prstGeom>
          <a:noFill/>
          <a:ln/>
        </p:spPr>
        <p:txBody>
          <a:bodyPr wrap="square" lIns="0" tIns="0" rIns="0" bIns="0" rtlCol="0" anchor="t">
            <a:normAutofit/>
          </a:bodyPr>
          <a:lstStyle/>
          <a:p>
            <a:pPr algn="l" indent="0" marL="0">
              <a:buNone/>
            </a:pPr>
            <a:r>
              <a:rPr lang="en-US" sz="1030" dirty="0">
                <a:solidFill>
                  <a:srgbClr val="93A4B6"/>
                </a:solidFill>
                <a:latin typeface="Microsoft JhengHei" pitchFamily="34" charset="0"/>
                <a:ea typeface="Microsoft JhengHei" pitchFamily="34" charset="-122"/>
                <a:cs typeface="Microsoft JhengHei" pitchFamily="34" charset="-120"/>
              </a:rPr>
              <a:t>sLT = 由穩定低值轉為第一個持續上升的時間／功率點。</a:t>
            </a:r>
            <a:endParaRPr lang="en-US" sz="1030" dirty="0"/>
          </a:p>
        </p:txBody>
      </p:sp>
      <p:sp>
        <p:nvSpPr>
          <p:cNvPr id="52" name="Shape 50"/>
          <p:cNvSpPr/>
          <p:nvPr/>
        </p:nvSpPr>
        <p:spPr>
          <a:xfrm>
            <a:off x="6483096" y="3502152"/>
            <a:ext cx="5084064" cy="2350008"/>
          </a:xfrm>
          <a:prstGeom prst="roundRect">
            <a:avLst>
              <a:gd name="adj" fmla="val 3113"/>
            </a:avLst>
          </a:prstGeom>
          <a:solidFill>
            <a:srgbClr val="12263A"/>
          </a:solidFill>
          <a:ln w="12700">
            <a:solidFill>
              <a:srgbClr val="1E3A52"/>
            </a:solidFill>
            <a:prstDash val="solid"/>
          </a:ln>
        </p:spPr>
      </p:sp>
      <p:sp>
        <p:nvSpPr>
          <p:cNvPr id="53" name="Text 51"/>
          <p:cNvSpPr txBox="1"/>
          <p:nvPr/>
        </p:nvSpPr>
        <p:spPr>
          <a:xfrm>
            <a:off x="6766560" y="3785616"/>
            <a:ext cx="1828800" cy="201168"/>
          </a:xfrm>
          <a:prstGeom prst="rect">
            <a:avLst/>
          </a:prstGeom>
          <a:noFill/>
          <a:ln/>
        </p:spPr>
        <p:txBody>
          <a:bodyPr wrap="square" lIns="0" tIns="0" rIns="0" bIns="0" rtlCol="0" anchor="t">
            <a:normAutofit/>
          </a:bodyPr>
          <a:lstStyle/>
          <a:p>
            <a:pPr algn="l" indent="0" marL="0">
              <a:buNone/>
            </a:pPr>
            <a:r>
              <a:rPr lang="en-US" sz="950" b="1" spc="40" kern="0" dirty="0">
                <a:solidFill>
                  <a:srgbClr val="FF9B5E"/>
                </a:solidFill>
                <a:latin typeface="Microsoft JhengHei" pitchFamily="34" charset="0"/>
                <a:ea typeface="Microsoft JhengHei" pitchFamily="34" charset="-122"/>
                <a:cs typeface="Microsoft JhengHei" pitchFamily="34" charset="-120"/>
              </a:rPr>
              <a:t>比賽負荷概況</a:t>
            </a:r>
            <a:endParaRPr lang="en-US" sz="950" dirty="0"/>
          </a:p>
        </p:txBody>
      </p:sp>
      <p:sp>
        <p:nvSpPr>
          <p:cNvPr id="54" name="Shape 52"/>
          <p:cNvSpPr/>
          <p:nvPr/>
        </p:nvSpPr>
        <p:spPr>
          <a:xfrm>
            <a:off x="6766560" y="4133088"/>
            <a:ext cx="1399032" cy="1298448"/>
          </a:xfrm>
          <a:prstGeom prst="roundRect">
            <a:avLst>
              <a:gd name="adj" fmla="val 5634"/>
            </a:avLst>
          </a:prstGeom>
          <a:solidFill>
            <a:srgbClr val="0E1D2E"/>
          </a:solidFill>
          <a:ln w="12700">
            <a:solidFill>
              <a:srgbClr val="1E3A52"/>
            </a:solidFill>
            <a:prstDash val="solid"/>
          </a:ln>
        </p:spPr>
      </p:sp>
      <p:sp>
        <p:nvSpPr>
          <p:cNvPr id="55" name="Text 53"/>
          <p:cNvSpPr txBox="1"/>
          <p:nvPr/>
        </p:nvSpPr>
        <p:spPr>
          <a:xfrm>
            <a:off x="6931152" y="4288536"/>
            <a:ext cx="1069848" cy="393192"/>
          </a:xfrm>
          <a:prstGeom prst="rect">
            <a:avLst/>
          </a:prstGeom>
          <a:noFill/>
          <a:ln/>
        </p:spPr>
        <p:txBody>
          <a:bodyPr wrap="square" lIns="0" tIns="0" rIns="0" bIns="0" rtlCol="0" anchor="t">
            <a:normAutofit/>
          </a:bodyPr>
          <a:lstStyle/>
          <a:p>
            <a:pPr algn="l" indent="0" marL="0">
              <a:buNone/>
            </a:pPr>
            <a:r>
              <a:rPr lang="en-US" sz="2400" b="1" dirty="0">
                <a:solidFill>
                  <a:srgbClr val="FF9B5E"/>
                </a:solidFill>
                <a:latin typeface="Aptos" pitchFamily="34" charset="0"/>
                <a:ea typeface="Aptos" pitchFamily="34" charset="-122"/>
                <a:cs typeface="Aptos" pitchFamily="34" charset="-120"/>
              </a:rPr>
              <a:t>66.1</a:t>
            </a:r>
            <a:endParaRPr lang="en-US" sz="2400" dirty="0"/>
          </a:p>
        </p:txBody>
      </p:sp>
      <p:sp>
        <p:nvSpPr>
          <p:cNvPr id="56" name="Text 54"/>
          <p:cNvSpPr txBox="1"/>
          <p:nvPr/>
        </p:nvSpPr>
        <p:spPr>
          <a:xfrm>
            <a:off x="6931152" y="4700016"/>
            <a:ext cx="1069848" cy="182880"/>
          </a:xfrm>
          <a:prstGeom prst="rect">
            <a:avLst/>
          </a:prstGeom>
          <a:noFill/>
          <a:ln/>
        </p:spPr>
        <p:txBody>
          <a:bodyPr wrap="square" lIns="0" tIns="0" rIns="0" bIns="0" rtlCol="0" anchor="t">
            <a:normAutofit/>
          </a:bodyPr>
          <a:lstStyle/>
          <a:p>
            <a:pPr algn="l" indent="0" marL="0">
              <a:buNone/>
            </a:pPr>
            <a:r>
              <a:rPr lang="en-US" sz="900" dirty="0">
                <a:solidFill>
                  <a:srgbClr val="93A4B6"/>
                </a:solidFill>
                <a:latin typeface="Microsoft JhengHei" pitchFamily="34" charset="0"/>
                <a:ea typeface="Microsoft JhengHei" pitchFamily="34" charset="-122"/>
                <a:cs typeface="Microsoft JhengHei" pitchFamily="34" charset="-120"/>
              </a:rPr>
              <a:t>± 11.0 min</a:t>
            </a:r>
            <a:endParaRPr lang="en-US" sz="900" dirty="0"/>
          </a:p>
        </p:txBody>
      </p:sp>
      <p:sp>
        <p:nvSpPr>
          <p:cNvPr id="57" name="Text 55"/>
          <p:cNvSpPr txBox="1"/>
          <p:nvPr/>
        </p:nvSpPr>
        <p:spPr>
          <a:xfrm>
            <a:off x="6931152" y="5102352"/>
            <a:ext cx="1069848" cy="182880"/>
          </a:xfrm>
          <a:prstGeom prst="rect">
            <a:avLst/>
          </a:prstGeom>
          <a:noFill/>
          <a:ln/>
        </p:spPr>
        <p:txBody>
          <a:bodyPr wrap="square" lIns="0" tIns="0" rIns="0" bIns="0" rtlCol="0" anchor="t">
            <a:normAutofit/>
          </a:bodyPr>
          <a:lstStyle/>
          <a:p>
            <a:pPr algn="l" indent="0" marL="0">
              <a:buNone/>
            </a:pPr>
            <a:r>
              <a:rPr lang="en-US" sz="980" b="1" dirty="0">
                <a:solidFill>
                  <a:srgbClr val="D8E2EC"/>
                </a:solidFill>
                <a:latin typeface="Microsoft JhengHei" pitchFamily="34" charset="0"/>
                <a:ea typeface="Microsoft JhengHei" pitchFamily="34" charset="-122"/>
                <a:cs typeface="Microsoft JhengHei" pitchFamily="34" charset="-120"/>
              </a:rPr>
              <a:t>上場時間</a:t>
            </a:r>
            <a:endParaRPr lang="en-US" sz="980" dirty="0"/>
          </a:p>
        </p:txBody>
      </p:sp>
      <p:sp>
        <p:nvSpPr>
          <p:cNvPr id="58" name="Shape 56"/>
          <p:cNvSpPr/>
          <p:nvPr/>
        </p:nvSpPr>
        <p:spPr>
          <a:xfrm>
            <a:off x="8321040" y="4133088"/>
            <a:ext cx="1399032" cy="1298448"/>
          </a:xfrm>
          <a:prstGeom prst="roundRect">
            <a:avLst>
              <a:gd name="adj" fmla="val 5634"/>
            </a:avLst>
          </a:prstGeom>
          <a:solidFill>
            <a:srgbClr val="0E1D2E"/>
          </a:solidFill>
          <a:ln w="12700">
            <a:solidFill>
              <a:srgbClr val="1E3A52"/>
            </a:solidFill>
            <a:prstDash val="solid"/>
          </a:ln>
        </p:spPr>
      </p:sp>
      <p:sp>
        <p:nvSpPr>
          <p:cNvPr id="59" name="Text 57"/>
          <p:cNvSpPr txBox="1"/>
          <p:nvPr/>
        </p:nvSpPr>
        <p:spPr>
          <a:xfrm>
            <a:off x="8485632" y="4288536"/>
            <a:ext cx="1069848" cy="393192"/>
          </a:xfrm>
          <a:prstGeom prst="rect">
            <a:avLst/>
          </a:prstGeom>
          <a:noFill/>
          <a:ln/>
        </p:spPr>
        <p:txBody>
          <a:bodyPr wrap="square" lIns="0" tIns="0" rIns="0" bIns="0" rtlCol="0" anchor="t">
            <a:normAutofit/>
          </a:bodyPr>
          <a:lstStyle/>
          <a:p>
            <a:pPr algn="l" indent="0" marL="0">
              <a:buNone/>
            </a:pPr>
            <a:r>
              <a:rPr lang="en-US" sz="2400" b="1" dirty="0">
                <a:solidFill>
                  <a:srgbClr val="6BB7FF"/>
                </a:solidFill>
                <a:latin typeface="Aptos" pitchFamily="34" charset="0"/>
                <a:ea typeface="Aptos" pitchFamily="34" charset="-122"/>
                <a:cs typeface="Aptos" pitchFamily="34" charset="-120"/>
              </a:rPr>
              <a:t>7.04</a:t>
            </a:r>
            <a:endParaRPr lang="en-US" sz="2400" dirty="0"/>
          </a:p>
        </p:txBody>
      </p:sp>
      <p:sp>
        <p:nvSpPr>
          <p:cNvPr id="60" name="Text 58"/>
          <p:cNvSpPr txBox="1"/>
          <p:nvPr/>
        </p:nvSpPr>
        <p:spPr>
          <a:xfrm>
            <a:off x="8485632" y="4700016"/>
            <a:ext cx="1069848" cy="182880"/>
          </a:xfrm>
          <a:prstGeom prst="rect">
            <a:avLst/>
          </a:prstGeom>
          <a:noFill/>
          <a:ln/>
        </p:spPr>
        <p:txBody>
          <a:bodyPr wrap="square" lIns="0" tIns="0" rIns="0" bIns="0" rtlCol="0" anchor="t">
            <a:normAutofit/>
          </a:bodyPr>
          <a:lstStyle/>
          <a:p>
            <a:pPr algn="l" indent="0" marL="0">
              <a:buNone/>
            </a:pPr>
            <a:r>
              <a:rPr lang="en-US" sz="900" dirty="0">
                <a:solidFill>
                  <a:srgbClr val="93A4B6"/>
                </a:solidFill>
                <a:latin typeface="Microsoft JhengHei" pitchFamily="34" charset="0"/>
                <a:ea typeface="Microsoft JhengHei" pitchFamily="34" charset="-122"/>
                <a:cs typeface="Microsoft JhengHei" pitchFamily="34" charset="-120"/>
              </a:rPr>
              <a:t>± 1.66 km</a:t>
            </a:r>
            <a:endParaRPr lang="en-US" sz="900" dirty="0"/>
          </a:p>
        </p:txBody>
      </p:sp>
      <p:sp>
        <p:nvSpPr>
          <p:cNvPr id="61" name="Text 59"/>
          <p:cNvSpPr txBox="1"/>
          <p:nvPr/>
        </p:nvSpPr>
        <p:spPr>
          <a:xfrm>
            <a:off x="8485632" y="5102352"/>
            <a:ext cx="1069848" cy="182880"/>
          </a:xfrm>
          <a:prstGeom prst="rect">
            <a:avLst/>
          </a:prstGeom>
          <a:noFill/>
          <a:ln/>
        </p:spPr>
        <p:txBody>
          <a:bodyPr wrap="square" lIns="0" tIns="0" rIns="0" bIns="0" rtlCol="0" anchor="t">
            <a:normAutofit/>
          </a:bodyPr>
          <a:lstStyle/>
          <a:p>
            <a:pPr algn="l" indent="0" marL="0">
              <a:buNone/>
            </a:pPr>
            <a:r>
              <a:rPr lang="en-US" sz="980" b="1" dirty="0">
                <a:solidFill>
                  <a:srgbClr val="D8E2EC"/>
                </a:solidFill>
                <a:latin typeface="Microsoft JhengHei" pitchFamily="34" charset="0"/>
                <a:ea typeface="Microsoft JhengHei" pitchFamily="34" charset="-122"/>
                <a:cs typeface="Microsoft JhengHei" pitchFamily="34" charset="-120"/>
              </a:rPr>
              <a:t>總距離</a:t>
            </a:r>
            <a:endParaRPr lang="en-US" sz="980" dirty="0"/>
          </a:p>
        </p:txBody>
      </p:sp>
      <p:sp>
        <p:nvSpPr>
          <p:cNvPr id="62" name="Shape 60"/>
          <p:cNvSpPr/>
          <p:nvPr/>
        </p:nvSpPr>
        <p:spPr>
          <a:xfrm>
            <a:off x="9875520" y="4133088"/>
            <a:ext cx="1399032" cy="1298448"/>
          </a:xfrm>
          <a:prstGeom prst="roundRect">
            <a:avLst>
              <a:gd name="adj" fmla="val 5634"/>
            </a:avLst>
          </a:prstGeom>
          <a:solidFill>
            <a:srgbClr val="0E1D2E"/>
          </a:solidFill>
          <a:ln w="12700">
            <a:solidFill>
              <a:srgbClr val="1E3A52"/>
            </a:solidFill>
            <a:prstDash val="solid"/>
          </a:ln>
        </p:spPr>
      </p:sp>
      <p:sp>
        <p:nvSpPr>
          <p:cNvPr id="63" name="Text 61"/>
          <p:cNvSpPr txBox="1"/>
          <p:nvPr/>
        </p:nvSpPr>
        <p:spPr>
          <a:xfrm>
            <a:off x="10040112" y="4288536"/>
            <a:ext cx="1069848" cy="393192"/>
          </a:xfrm>
          <a:prstGeom prst="rect">
            <a:avLst/>
          </a:prstGeom>
          <a:noFill/>
          <a:ln/>
        </p:spPr>
        <p:txBody>
          <a:bodyPr wrap="square" lIns="0" tIns="0" rIns="0" bIns="0" rtlCol="0" anchor="t">
            <a:normAutofit/>
          </a:bodyPr>
          <a:lstStyle/>
          <a:p>
            <a:pPr algn="l" indent="0" marL="0">
              <a:buNone/>
            </a:pPr>
            <a:r>
              <a:rPr lang="en-US" sz="2400" b="1" dirty="0">
                <a:solidFill>
                  <a:srgbClr val="20D4C7"/>
                </a:solidFill>
                <a:latin typeface="Aptos" pitchFamily="34" charset="0"/>
                <a:ea typeface="Aptos" pitchFamily="34" charset="-122"/>
                <a:cs typeface="Aptos" pitchFamily="34" charset="-120"/>
              </a:rPr>
              <a:t>311.5</a:t>
            </a:r>
            <a:endParaRPr lang="en-US" sz="2400" dirty="0"/>
          </a:p>
        </p:txBody>
      </p:sp>
      <p:sp>
        <p:nvSpPr>
          <p:cNvPr id="64" name="Text 62"/>
          <p:cNvSpPr txBox="1"/>
          <p:nvPr/>
        </p:nvSpPr>
        <p:spPr>
          <a:xfrm>
            <a:off x="10040112" y="4700016"/>
            <a:ext cx="1069848" cy="182880"/>
          </a:xfrm>
          <a:prstGeom prst="rect">
            <a:avLst/>
          </a:prstGeom>
          <a:noFill/>
          <a:ln/>
        </p:spPr>
        <p:txBody>
          <a:bodyPr wrap="square" lIns="0" tIns="0" rIns="0" bIns="0" rtlCol="0" anchor="t">
            <a:normAutofit/>
          </a:bodyPr>
          <a:lstStyle/>
          <a:p>
            <a:pPr algn="l" indent="0" marL="0">
              <a:buNone/>
            </a:pPr>
            <a:r>
              <a:rPr lang="en-US" sz="900" dirty="0">
                <a:solidFill>
                  <a:srgbClr val="93A4B6"/>
                </a:solidFill>
                <a:latin typeface="Microsoft JhengHei" pitchFamily="34" charset="0"/>
                <a:ea typeface="Microsoft JhengHei" pitchFamily="34" charset="-122"/>
                <a:cs typeface="Microsoft JhengHei" pitchFamily="34" charset="-120"/>
              </a:rPr>
              <a:t>± 213.6 m</a:t>
            </a:r>
            <a:endParaRPr lang="en-US" sz="900" dirty="0"/>
          </a:p>
        </p:txBody>
      </p:sp>
      <p:sp>
        <p:nvSpPr>
          <p:cNvPr id="65" name="Text 63"/>
          <p:cNvSpPr txBox="1"/>
          <p:nvPr/>
        </p:nvSpPr>
        <p:spPr>
          <a:xfrm>
            <a:off x="10040112" y="5102352"/>
            <a:ext cx="1069848" cy="182880"/>
          </a:xfrm>
          <a:prstGeom prst="rect">
            <a:avLst/>
          </a:prstGeom>
          <a:noFill/>
          <a:ln/>
        </p:spPr>
        <p:txBody>
          <a:bodyPr wrap="square" lIns="0" tIns="0" rIns="0" bIns="0" rtlCol="0" anchor="t">
            <a:normAutofit/>
          </a:bodyPr>
          <a:lstStyle/>
          <a:p>
            <a:pPr algn="l" indent="0" marL="0">
              <a:buNone/>
            </a:pPr>
            <a:r>
              <a:rPr lang="en-US" sz="980" b="1" dirty="0">
                <a:solidFill>
                  <a:srgbClr val="D8E2EC"/>
                </a:solidFill>
                <a:latin typeface="Microsoft JhengHei" pitchFamily="34" charset="0"/>
                <a:ea typeface="Microsoft JhengHei" pitchFamily="34" charset="-122"/>
                <a:cs typeface="Microsoft JhengHei" pitchFamily="34" charset="-120"/>
              </a:rPr>
              <a:t>高速度距離</a:t>
            </a:r>
            <a:endParaRPr lang="en-US" sz="980" dirty="0"/>
          </a:p>
        </p:txBody>
      </p:sp>
      <p:sp>
        <p:nvSpPr>
          <p:cNvPr id="66" name="Text 64"/>
          <p:cNvSpPr txBox="1"/>
          <p:nvPr/>
        </p:nvSpPr>
        <p:spPr>
          <a:xfrm>
            <a:off x="6784848" y="5568696"/>
            <a:ext cx="4462272" cy="182880"/>
          </a:xfrm>
          <a:prstGeom prst="rect">
            <a:avLst/>
          </a:prstGeom>
          <a:noFill/>
          <a:ln/>
        </p:spPr>
        <p:txBody>
          <a:bodyPr wrap="square" lIns="0" tIns="0" rIns="0" bIns="0" rtlCol="0" anchor="t">
            <a:normAutofit/>
          </a:bodyPr>
          <a:lstStyle/>
          <a:p>
            <a:pPr algn="ctr" indent="0" marL="0">
              <a:buNone/>
            </a:pPr>
            <a:r>
              <a:rPr lang="en-US" sz="780" dirty="0">
                <a:solidFill>
                  <a:srgbClr val="93A4B6"/>
                </a:solidFill>
                <a:latin typeface="Microsoft JhengHei" pitchFamily="34" charset="0"/>
                <a:ea typeface="Microsoft JhengHei" pitchFamily="34" charset="-122"/>
                <a:cs typeface="Microsoft JhengHei" pitchFamily="34" charset="-120"/>
              </a:rPr>
              <a:t>HSD 依研究預設的 19.8 km/h 速度切點計算；不應外推為 LA-01 的疲勞門檻。</a:t>
            </a:r>
            <a:endParaRPr lang="en-US" sz="7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0D4C7"/>
          </a:solidFill>
          <a:ln w="12700">
            <a:solidFill>
              <a:srgbClr val="20D4C7">
                <a:alpha val="0"/>
              </a:srgbClr>
            </a:solidFill>
            <a:prstDash val="solid"/>
          </a:ln>
        </p:spPr>
      </p:sp>
      <p:sp>
        <p:nvSpPr>
          <p:cNvPr id="3" name="Shape 1"/>
          <p:cNvSpPr/>
          <p:nvPr/>
        </p:nvSpPr>
        <p:spPr>
          <a:xfrm>
            <a:off x="10561320" y="-658368"/>
            <a:ext cx="2194560" cy="2194560"/>
          </a:xfrm>
          <a:prstGeom prst="ellipse">
            <a:avLst/>
          </a:prstGeom>
          <a:solidFill>
            <a:srgbClr val="20D4C7">
              <a:alpha val="8000"/>
            </a:srgbClr>
          </a:solidFill>
          <a:ln w="12700">
            <a:solidFill>
              <a:srgbClr val="20D4C7">
                <a:alpha val="0"/>
              </a:srgbClr>
            </a:solidFill>
            <a:prstDash val="solid"/>
          </a:ln>
        </p:spPr>
      </p:sp>
      <p:sp>
        <p:nvSpPr>
          <p:cNvPr id="4" name="Shape 2"/>
          <p:cNvSpPr/>
          <p:nvPr/>
        </p:nvSpPr>
        <p:spPr>
          <a:xfrm>
            <a:off x="502920" y="841248"/>
            <a:ext cx="11155680" cy="0"/>
          </a:xfrm>
          <a:prstGeom prst="line">
            <a:avLst/>
          </a:prstGeom>
          <a:noFill/>
          <a:ln w="12700">
            <a:solidFill>
              <a:srgbClr val="1E3A52"/>
            </a:solidFill>
            <a:prstDash val="solid"/>
          </a:ln>
        </p:spPr>
      </p:sp>
      <p:sp>
        <p:nvSpPr>
          <p:cNvPr id="5" name="Text 3"/>
          <p:cNvSpPr/>
          <p:nvPr/>
        </p:nvSpPr>
        <p:spPr>
          <a:xfrm>
            <a:off x="566928" y="237744"/>
            <a:ext cx="2926080" cy="219456"/>
          </a:xfrm>
          <a:prstGeom prst="rect">
            <a:avLst/>
          </a:prstGeom>
          <a:noFill/>
          <a:ln/>
        </p:spPr>
        <p:txBody>
          <a:bodyPr wrap="square" lIns="0" tIns="0" rIns="0" bIns="0" rtlCol="0" anchor="ctr">
            <a:normAutofit/>
          </a:bodyPr>
          <a:lstStyle/>
          <a:p>
            <a:pPr indent="0" marL="0">
              <a:buNone/>
            </a:pPr>
            <a:r>
              <a:rPr lang="en-US" sz="850" b="1" spc="130" kern="0" dirty="0">
                <a:solidFill>
                  <a:srgbClr val="20D4C7"/>
                </a:solidFill>
                <a:latin typeface="Aptos" pitchFamily="34" charset="0"/>
                <a:ea typeface="Aptos" pitchFamily="34" charset="-122"/>
                <a:cs typeface="Aptos" pitchFamily="34" charset="-120"/>
              </a:rPr>
              <a:t>STUDY 02 · MAIN RESULTS</a:t>
            </a:r>
            <a:endParaRPr lang="en-US" sz="850" dirty="0"/>
          </a:p>
        </p:txBody>
      </p:sp>
      <p:sp>
        <p:nvSpPr>
          <p:cNvPr id="6" name="Text 4"/>
          <p:cNvSpPr/>
          <p:nvPr/>
        </p:nvSpPr>
        <p:spPr>
          <a:xfrm>
            <a:off x="566928" y="420624"/>
            <a:ext cx="10881360" cy="365760"/>
          </a:xfrm>
          <a:prstGeom prst="rect">
            <a:avLst/>
          </a:prstGeom>
          <a:noFill/>
          <a:ln/>
        </p:spPr>
        <p:txBody>
          <a:bodyPr wrap="square" lIns="0" tIns="0" rIns="0" bIns="0" rtlCol="0" anchor="ctr">
            <a:normAutofit/>
          </a:bodyPr>
          <a:lstStyle/>
          <a:p>
            <a:pPr indent="0" marL="0">
              <a:buNone/>
            </a:pPr>
            <a:r>
              <a:rPr lang="en-US" sz="2300" b="1" dirty="0">
                <a:solidFill>
                  <a:srgbClr val="F5F7FA"/>
                </a:solidFill>
                <a:latin typeface="Microsoft JhengHei" pitchFamily="34" charset="0"/>
                <a:ea typeface="Microsoft JhengHei" pitchFamily="34" charset="-122"/>
                <a:cs typeface="Microsoft JhengHei" pitchFamily="34" charset="-120"/>
              </a:rPr>
              <a:t>研究 2｜sLT 可重測；變化與高速度跑動量呈中度相關</a:t>
            </a:r>
            <a:endParaRPr lang="en-US" sz="2300" dirty="0"/>
          </a:p>
        </p:txBody>
      </p:sp>
      <p:sp>
        <p:nvSpPr>
          <p:cNvPr id="7" name="Text 5"/>
          <p:cNvSpPr/>
          <p:nvPr/>
        </p:nvSpPr>
        <p:spPr>
          <a:xfrm>
            <a:off x="11109960" y="6519672"/>
            <a:ext cx="502920" cy="164592"/>
          </a:xfrm>
          <a:prstGeom prst="rect">
            <a:avLst/>
          </a:prstGeom>
          <a:noFill/>
          <a:ln/>
        </p:spPr>
        <p:txBody>
          <a:bodyPr wrap="square" lIns="0" tIns="0" rIns="0" bIns="0" rtlCol="0" anchor="ctr"/>
          <a:lstStyle/>
          <a:p>
            <a:pPr algn="r" indent="0" marL="0">
              <a:buNone/>
            </a:pPr>
            <a:r>
              <a:rPr lang="en-US" sz="850" b="1" dirty="0">
                <a:solidFill>
                  <a:srgbClr val="20D4C7"/>
                </a:solidFill>
                <a:latin typeface="Aptos" pitchFamily="34" charset="0"/>
                <a:ea typeface="Aptos" pitchFamily="34" charset="-122"/>
                <a:cs typeface="Aptos" pitchFamily="34" charset="-120"/>
              </a:rPr>
              <a:t>09</a:t>
            </a:r>
            <a:endParaRPr lang="en-US" sz="850" dirty="0"/>
          </a:p>
        </p:txBody>
      </p:sp>
      <p:sp>
        <p:nvSpPr>
          <p:cNvPr id="8" name="Text 6"/>
          <p:cNvSpPr/>
          <p:nvPr/>
        </p:nvSpPr>
        <p:spPr>
          <a:xfrm>
            <a:off x="566928" y="6492240"/>
            <a:ext cx="9966960" cy="182880"/>
          </a:xfrm>
          <a:prstGeom prst="rect">
            <a:avLst/>
          </a:prstGeom>
          <a:noFill/>
          <a:ln/>
        </p:spPr>
        <p:txBody>
          <a:bodyPr wrap="square" lIns="0" tIns="0" rIns="0" bIns="0" rtlCol="0" anchor="ctr">
            <a:normAutofit/>
          </a:bodyPr>
          <a:lstStyle/>
          <a:p>
            <a:pPr indent="0" marL="0">
              <a:buNone/>
            </a:pPr>
            <a:r>
              <a:rPr lang="en-US" sz="730" dirty="0">
                <a:solidFill>
                  <a:srgbClr val="93A4B6"/>
                </a:solidFill>
                <a:latin typeface="Microsoft JhengHei" pitchFamily="34" charset="0"/>
                <a:ea typeface="Microsoft JhengHei" pitchFamily="34" charset="-122"/>
                <a:cs typeface="Microsoft JhengHei" pitchFamily="34" charset="-120"/>
              </a:rPr>
              <a:t>Study 2 · Table 1 / Figure 4 · Spearman rank correlation</a:t>
            </a:r>
            <a:endParaRPr lang="en-US" sz="730" dirty="0"/>
          </a:p>
        </p:txBody>
      </p:sp>
      <p:sp>
        <p:nvSpPr>
          <p:cNvPr id="9" name="Shape 7"/>
          <p:cNvSpPr/>
          <p:nvPr/>
        </p:nvSpPr>
        <p:spPr>
          <a:xfrm>
            <a:off x="640080" y="1133856"/>
            <a:ext cx="2157984" cy="1078992"/>
          </a:xfrm>
          <a:prstGeom prst="roundRect">
            <a:avLst>
              <a:gd name="adj" fmla="val 6780"/>
            </a:avLst>
          </a:prstGeom>
          <a:solidFill>
            <a:srgbClr val="0E1D2E"/>
          </a:solidFill>
          <a:ln w="12700">
            <a:solidFill>
              <a:srgbClr val="1E3A52"/>
            </a:solidFill>
            <a:prstDash val="solid"/>
          </a:ln>
        </p:spPr>
      </p:sp>
      <p:sp>
        <p:nvSpPr>
          <p:cNvPr id="10" name="Text 8"/>
          <p:cNvSpPr txBox="1"/>
          <p:nvPr/>
        </p:nvSpPr>
        <p:spPr>
          <a:xfrm>
            <a:off x="804672" y="1289304"/>
            <a:ext cx="1828800" cy="393192"/>
          </a:xfrm>
          <a:prstGeom prst="rect">
            <a:avLst/>
          </a:prstGeom>
          <a:noFill/>
          <a:ln/>
        </p:spPr>
        <p:txBody>
          <a:bodyPr wrap="square" lIns="0" tIns="0" rIns="0" bIns="0" rtlCol="0" anchor="t">
            <a:normAutofit/>
          </a:bodyPr>
          <a:lstStyle/>
          <a:p>
            <a:pPr algn="l" indent="0" marL="0">
              <a:buNone/>
            </a:pPr>
            <a:r>
              <a:rPr lang="en-US" sz="2400" b="1" dirty="0">
                <a:solidFill>
                  <a:srgbClr val="6BB7FF"/>
                </a:solidFill>
                <a:latin typeface="Aptos" pitchFamily="34" charset="0"/>
                <a:ea typeface="Aptos" pitchFamily="34" charset="-122"/>
                <a:cs typeface="Aptos" pitchFamily="34" charset="-120"/>
              </a:rPr>
              <a:t>0.719</a:t>
            </a:r>
            <a:endParaRPr lang="en-US" sz="2400" dirty="0"/>
          </a:p>
        </p:txBody>
      </p:sp>
      <p:sp>
        <p:nvSpPr>
          <p:cNvPr id="11" name="Text 9"/>
          <p:cNvSpPr txBox="1"/>
          <p:nvPr/>
        </p:nvSpPr>
        <p:spPr>
          <a:xfrm>
            <a:off x="804672" y="1700784"/>
            <a:ext cx="1828800" cy="182880"/>
          </a:xfrm>
          <a:prstGeom prst="rect">
            <a:avLst/>
          </a:prstGeom>
          <a:noFill/>
          <a:ln/>
        </p:spPr>
        <p:txBody>
          <a:bodyPr wrap="square" lIns="0" tIns="0" rIns="0" bIns="0" rtlCol="0" anchor="t">
            <a:normAutofit/>
          </a:bodyPr>
          <a:lstStyle/>
          <a:p>
            <a:pPr algn="l" indent="0" marL="0">
              <a:buNone/>
            </a:pPr>
            <a:r>
              <a:rPr lang="en-US" sz="900" dirty="0">
                <a:solidFill>
                  <a:srgbClr val="93A4B6"/>
                </a:solidFill>
                <a:latin typeface="Microsoft JhengHei" pitchFamily="34" charset="0"/>
                <a:ea typeface="Microsoft JhengHei" pitchFamily="34" charset="-122"/>
                <a:cs typeface="Microsoft JhengHei" pitchFamily="34" charset="-120"/>
              </a:rPr>
              <a:t>95% CI 0.401–0.884</a:t>
            </a:r>
            <a:endParaRPr lang="en-US" sz="900" dirty="0"/>
          </a:p>
        </p:txBody>
      </p:sp>
      <p:sp>
        <p:nvSpPr>
          <p:cNvPr id="12" name="Text 10"/>
          <p:cNvSpPr txBox="1"/>
          <p:nvPr/>
        </p:nvSpPr>
        <p:spPr>
          <a:xfrm>
            <a:off x="804672" y="1883664"/>
            <a:ext cx="1828800" cy="182880"/>
          </a:xfrm>
          <a:prstGeom prst="rect">
            <a:avLst/>
          </a:prstGeom>
          <a:noFill/>
          <a:ln/>
        </p:spPr>
        <p:txBody>
          <a:bodyPr wrap="square" lIns="0" tIns="0" rIns="0" bIns="0" rtlCol="0" anchor="t">
            <a:normAutofit/>
          </a:bodyPr>
          <a:lstStyle/>
          <a:p>
            <a:pPr algn="l" indent="0" marL="0">
              <a:buNone/>
            </a:pPr>
            <a:r>
              <a:rPr lang="en-US" sz="980" b="1" dirty="0">
                <a:solidFill>
                  <a:srgbClr val="D8E2EC"/>
                </a:solidFill>
                <a:latin typeface="Microsoft JhengHei" pitchFamily="34" charset="0"/>
                <a:ea typeface="Microsoft JhengHei" pitchFamily="34" charset="-122"/>
                <a:cs typeface="Microsoft JhengHei" pitchFamily="34" charset="-120"/>
              </a:rPr>
              <a:t>VT test–retest ICC</a:t>
            </a:r>
            <a:endParaRPr lang="en-US" sz="980" dirty="0"/>
          </a:p>
        </p:txBody>
      </p:sp>
      <p:sp>
        <p:nvSpPr>
          <p:cNvPr id="13" name="Shape 11"/>
          <p:cNvSpPr/>
          <p:nvPr/>
        </p:nvSpPr>
        <p:spPr>
          <a:xfrm>
            <a:off x="2953512" y="1133856"/>
            <a:ext cx="2157984" cy="1078992"/>
          </a:xfrm>
          <a:prstGeom prst="roundRect">
            <a:avLst>
              <a:gd name="adj" fmla="val 6780"/>
            </a:avLst>
          </a:prstGeom>
          <a:solidFill>
            <a:srgbClr val="0E1D2E"/>
          </a:solidFill>
          <a:ln w="12700">
            <a:solidFill>
              <a:srgbClr val="1E3A52"/>
            </a:solidFill>
            <a:prstDash val="solid"/>
          </a:ln>
        </p:spPr>
      </p:sp>
      <p:sp>
        <p:nvSpPr>
          <p:cNvPr id="14" name="Text 12"/>
          <p:cNvSpPr txBox="1"/>
          <p:nvPr/>
        </p:nvSpPr>
        <p:spPr>
          <a:xfrm>
            <a:off x="3118104" y="1289304"/>
            <a:ext cx="1828800" cy="393192"/>
          </a:xfrm>
          <a:prstGeom prst="rect">
            <a:avLst/>
          </a:prstGeom>
          <a:noFill/>
          <a:ln/>
        </p:spPr>
        <p:txBody>
          <a:bodyPr wrap="square" lIns="0" tIns="0" rIns="0" bIns="0" rtlCol="0" anchor="t">
            <a:normAutofit/>
          </a:bodyPr>
          <a:lstStyle/>
          <a:p>
            <a:pPr algn="l" indent="0" marL="0">
              <a:buNone/>
            </a:pPr>
            <a:r>
              <a:rPr lang="en-US" sz="2400" b="1" dirty="0">
                <a:solidFill>
                  <a:srgbClr val="20D4C7"/>
                </a:solidFill>
                <a:latin typeface="Aptos" pitchFamily="34" charset="0"/>
                <a:ea typeface="Aptos" pitchFamily="34" charset="-122"/>
                <a:cs typeface="Aptos" pitchFamily="34" charset="-120"/>
              </a:rPr>
              <a:t>0.777</a:t>
            </a:r>
            <a:endParaRPr lang="en-US" sz="2400" dirty="0"/>
          </a:p>
        </p:txBody>
      </p:sp>
      <p:sp>
        <p:nvSpPr>
          <p:cNvPr id="15" name="Text 13"/>
          <p:cNvSpPr txBox="1"/>
          <p:nvPr/>
        </p:nvSpPr>
        <p:spPr>
          <a:xfrm>
            <a:off x="3118104" y="1700784"/>
            <a:ext cx="1828800" cy="182880"/>
          </a:xfrm>
          <a:prstGeom prst="rect">
            <a:avLst/>
          </a:prstGeom>
          <a:noFill/>
          <a:ln/>
        </p:spPr>
        <p:txBody>
          <a:bodyPr wrap="square" lIns="0" tIns="0" rIns="0" bIns="0" rtlCol="0" anchor="t">
            <a:normAutofit/>
          </a:bodyPr>
          <a:lstStyle/>
          <a:p>
            <a:pPr algn="l" indent="0" marL="0">
              <a:buNone/>
            </a:pPr>
            <a:r>
              <a:rPr lang="en-US" sz="900" dirty="0">
                <a:solidFill>
                  <a:srgbClr val="93A4B6"/>
                </a:solidFill>
                <a:latin typeface="Microsoft JhengHei" pitchFamily="34" charset="0"/>
                <a:ea typeface="Microsoft JhengHei" pitchFamily="34" charset="-122"/>
                <a:cs typeface="Microsoft JhengHei" pitchFamily="34" charset="-120"/>
              </a:rPr>
              <a:t>95% CI 0.506–0.910</a:t>
            </a:r>
            <a:endParaRPr lang="en-US" sz="900" dirty="0"/>
          </a:p>
        </p:txBody>
      </p:sp>
      <p:sp>
        <p:nvSpPr>
          <p:cNvPr id="16" name="Text 14"/>
          <p:cNvSpPr txBox="1"/>
          <p:nvPr/>
        </p:nvSpPr>
        <p:spPr>
          <a:xfrm>
            <a:off x="3118104" y="1883664"/>
            <a:ext cx="1828800" cy="182880"/>
          </a:xfrm>
          <a:prstGeom prst="rect">
            <a:avLst/>
          </a:prstGeom>
          <a:noFill/>
          <a:ln/>
        </p:spPr>
        <p:txBody>
          <a:bodyPr wrap="square" lIns="0" tIns="0" rIns="0" bIns="0" rtlCol="0" anchor="t">
            <a:normAutofit/>
          </a:bodyPr>
          <a:lstStyle/>
          <a:p>
            <a:pPr algn="l" indent="0" marL="0">
              <a:buNone/>
            </a:pPr>
            <a:r>
              <a:rPr lang="en-US" sz="980" b="1" dirty="0">
                <a:solidFill>
                  <a:srgbClr val="D8E2EC"/>
                </a:solidFill>
                <a:latin typeface="Microsoft JhengHei" pitchFamily="34" charset="0"/>
                <a:ea typeface="Microsoft JhengHei" pitchFamily="34" charset="-122"/>
                <a:cs typeface="Microsoft JhengHei" pitchFamily="34" charset="-120"/>
              </a:rPr>
              <a:t>sLT test–retest ICC</a:t>
            </a:r>
            <a:endParaRPr lang="en-US" sz="980" dirty="0"/>
          </a:p>
        </p:txBody>
      </p:sp>
      <p:sp>
        <p:nvSpPr>
          <p:cNvPr id="17" name="Shape 15"/>
          <p:cNvSpPr/>
          <p:nvPr/>
        </p:nvSpPr>
        <p:spPr>
          <a:xfrm>
            <a:off x="5266944" y="1133856"/>
            <a:ext cx="2157984" cy="1078992"/>
          </a:xfrm>
          <a:prstGeom prst="roundRect">
            <a:avLst>
              <a:gd name="adj" fmla="val 6780"/>
            </a:avLst>
          </a:prstGeom>
          <a:solidFill>
            <a:srgbClr val="0E1D2E"/>
          </a:solidFill>
          <a:ln w="12700">
            <a:solidFill>
              <a:srgbClr val="1E3A52"/>
            </a:solidFill>
            <a:prstDash val="solid"/>
          </a:ln>
        </p:spPr>
      </p:sp>
      <p:sp>
        <p:nvSpPr>
          <p:cNvPr id="18" name="Text 16"/>
          <p:cNvSpPr txBox="1"/>
          <p:nvPr/>
        </p:nvSpPr>
        <p:spPr>
          <a:xfrm>
            <a:off x="5431536" y="1289304"/>
            <a:ext cx="1828800" cy="393192"/>
          </a:xfrm>
          <a:prstGeom prst="rect">
            <a:avLst/>
          </a:prstGeom>
          <a:noFill/>
          <a:ln/>
        </p:spPr>
        <p:txBody>
          <a:bodyPr wrap="square" lIns="0" tIns="0" rIns="0" bIns="0" rtlCol="0" anchor="t">
            <a:normAutofit/>
          </a:bodyPr>
          <a:lstStyle/>
          <a:p>
            <a:pPr algn="l" indent="0" marL="0">
              <a:buNone/>
            </a:pPr>
            <a:r>
              <a:rPr lang="en-US" sz="2400" b="1" dirty="0">
                <a:solidFill>
                  <a:srgbClr val="B7F06A"/>
                </a:solidFill>
                <a:latin typeface="Aptos" pitchFamily="34" charset="0"/>
                <a:ea typeface="Aptos" pitchFamily="34" charset="-122"/>
                <a:cs typeface="Aptos" pitchFamily="34" charset="-120"/>
              </a:rPr>
              <a:t>25 s</a:t>
            </a:r>
            <a:endParaRPr lang="en-US" sz="2400" dirty="0"/>
          </a:p>
        </p:txBody>
      </p:sp>
      <p:sp>
        <p:nvSpPr>
          <p:cNvPr id="19" name="Text 17"/>
          <p:cNvSpPr txBox="1"/>
          <p:nvPr/>
        </p:nvSpPr>
        <p:spPr>
          <a:xfrm>
            <a:off x="5431536" y="1700784"/>
            <a:ext cx="1828800" cy="182880"/>
          </a:xfrm>
          <a:prstGeom prst="rect">
            <a:avLst/>
          </a:prstGeom>
          <a:noFill/>
          <a:ln/>
        </p:spPr>
        <p:txBody>
          <a:bodyPr wrap="square" lIns="0" tIns="0" rIns="0" bIns="0" rtlCol="0" anchor="t">
            <a:normAutofit/>
          </a:bodyPr>
          <a:lstStyle/>
          <a:p>
            <a:pPr algn="l" indent="0" marL="0">
              <a:buNone/>
            </a:pPr>
            <a:r>
              <a:rPr lang="en-US" sz="900" dirty="0">
                <a:solidFill>
                  <a:srgbClr val="93A4B6"/>
                </a:solidFill>
                <a:latin typeface="Microsoft JhengHei" pitchFamily="34" charset="0"/>
                <a:ea typeface="Microsoft JhengHei" pitchFamily="34" charset="-122"/>
                <a:cs typeface="Microsoft JhengHei" pitchFamily="34" charset="-120"/>
              </a:rPr>
              <a:t>特定測試／裝置</a:t>
            </a:r>
            <a:endParaRPr lang="en-US" sz="900" dirty="0"/>
          </a:p>
        </p:txBody>
      </p:sp>
      <p:sp>
        <p:nvSpPr>
          <p:cNvPr id="20" name="Text 18"/>
          <p:cNvSpPr txBox="1"/>
          <p:nvPr/>
        </p:nvSpPr>
        <p:spPr>
          <a:xfrm>
            <a:off x="5431536" y="1883664"/>
            <a:ext cx="1828800" cy="182880"/>
          </a:xfrm>
          <a:prstGeom prst="rect">
            <a:avLst/>
          </a:prstGeom>
          <a:noFill/>
          <a:ln/>
        </p:spPr>
        <p:txBody>
          <a:bodyPr wrap="square" lIns="0" tIns="0" rIns="0" bIns="0" rtlCol="0" anchor="t">
            <a:normAutofit/>
          </a:bodyPr>
          <a:lstStyle/>
          <a:p>
            <a:pPr algn="l" indent="0" marL="0">
              <a:buNone/>
            </a:pPr>
            <a:r>
              <a:rPr lang="en-US" sz="980" b="1" dirty="0">
                <a:solidFill>
                  <a:srgbClr val="D8E2EC"/>
                </a:solidFill>
                <a:latin typeface="Microsoft JhengHei" pitchFamily="34" charset="0"/>
                <a:ea typeface="Microsoft JhengHei" pitchFamily="34" charset="-122"/>
                <a:cs typeface="Microsoft JhengHei" pitchFamily="34" charset="-120"/>
              </a:rPr>
              <a:t>sLT MDC₉₅（時間）</a:t>
            </a:r>
            <a:endParaRPr lang="en-US" sz="980" dirty="0"/>
          </a:p>
        </p:txBody>
      </p:sp>
      <p:sp>
        <p:nvSpPr>
          <p:cNvPr id="21" name="Shape 19"/>
          <p:cNvSpPr/>
          <p:nvPr/>
        </p:nvSpPr>
        <p:spPr>
          <a:xfrm>
            <a:off x="7580376" y="1133856"/>
            <a:ext cx="2157984" cy="1078992"/>
          </a:xfrm>
          <a:prstGeom prst="roundRect">
            <a:avLst>
              <a:gd name="adj" fmla="val 6780"/>
            </a:avLst>
          </a:prstGeom>
          <a:solidFill>
            <a:srgbClr val="0E1D2E"/>
          </a:solidFill>
          <a:ln w="12700">
            <a:solidFill>
              <a:srgbClr val="1E3A52"/>
            </a:solidFill>
            <a:prstDash val="solid"/>
          </a:ln>
        </p:spPr>
      </p:sp>
      <p:sp>
        <p:nvSpPr>
          <p:cNvPr id="22" name="Text 20"/>
          <p:cNvSpPr txBox="1"/>
          <p:nvPr/>
        </p:nvSpPr>
        <p:spPr>
          <a:xfrm>
            <a:off x="7744968" y="1289304"/>
            <a:ext cx="1828800" cy="393192"/>
          </a:xfrm>
          <a:prstGeom prst="rect">
            <a:avLst/>
          </a:prstGeom>
          <a:noFill/>
          <a:ln/>
        </p:spPr>
        <p:txBody>
          <a:bodyPr wrap="square" lIns="0" tIns="0" rIns="0" bIns="0" rtlCol="0" anchor="t">
            <a:normAutofit/>
          </a:bodyPr>
          <a:lstStyle/>
          <a:p>
            <a:pPr algn="l" indent="0" marL="0">
              <a:buNone/>
            </a:pPr>
            <a:r>
              <a:rPr lang="en-US" sz="2400" b="1" dirty="0">
                <a:solidFill>
                  <a:srgbClr val="B7F06A"/>
                </a:solidFill>
                <a:latin typeface="Aptos" pitchFamily="34" charset="0"/>
                <a:ea typeface="Aptos" pitchFamily="34" charset="-122"/>
                <a:cs typeface="Aptos" pitchFamily="34" charset="-120"/>
              </a:rPr>
              <a:t>10.5 W</a:t>
            </a:r>
            <a:endParaRPr lang="en-US" sz="2400" dirty="0"/>
          </a:p>
        </p:txBody>
      </p:sp>
      <p:sp>
        <p:nvSpPr>
          <p:cNvPr id="23" name="Text 21"/>
          <p:cNvSpPr txBox="1"/>
          <p:nvPr/>
        </p:nvSpPr>
        <p:spPr>
          <a:xfrm>
            <a:off x="7744968" y="1700784"/>
            <a:ext cx="1828800" cy="182880"/>
          </a:xfrm>
          <a:prstGeom prst="rect">
            <a:avLst/>
          </a:prstGeom>
          <a:noFill/>
          <a:ln/>
        </p:spPr>
        <p:txBody>
          <a:bodyPr wrap="square" lIns="0" tIns="0" rIns="0" bIns="0" rtlCol="0" anchor="t">
            <a:normAutofit/>
          </a:bodyPr>
          <a:lstStyle/>
          <a:p>
            <a:pPr algn="l" indent="0" marL="0">
              <a:buNone/>
            </a:pPr>
            <a:r>
              <a:rPr lang="en-US" sz="900" dirty="0">
                <a:solidFill>
                  <a:srgbClr val="93A4B6"/>
                </a:solidFill>
                <a:latin typeface="Microsoft JhengHei" pitchFamily="34" charset="0"/>
                <a:ea typeface="Microsoft JhengHei" pitchFamily="34" charset="-122"/>
                <a:cs typeface="Microsoft JhengHei" pitchFamily="34" charset="-120"/>
              </a:rPr>
              <a:t>特定測試／裝置</a:t>
            </a:r>
            <a:endParaRPr lang="en-US" sz="900" dirty="0"/>
          </a:p>
        </p:txBody>
      </p:sp>
      <p:sp>
        <p:nvSpPr>
          <p:cNvPr id="24" name="Text 22"/>
          <p:cNvSpPr txBox="1"/>
          <p:nvPr/>
        </p:nvSpPr>
        <p:spPr>
          <a:xfrm>
            <a:off x="7744968" y="1883664"/>
            <a:ext cx="1828800" cy="182880"/>
          </a:xfrm>
          <a:prstGeom prst="rect">
            <a:avLst/>
          </a:prstGeom>
          <a:noFill/>
          <a:ln/>
        </p:spPr>
        <p:txBody>
          <a:bodyPr wrap="square" lIns="0" tIns="0" rIns="0" bIns="0" rtlCol="0" anchor="t">
            <a:normAutofit/>
          </a:bodyPr>
          <a:lstStyle/>
          <a:p>
            <a:pPr algn="l" indent="0" marL="0">
              <a:buNone/>
            </a:pPr>
            <a:r>
              <a:rPr lang="en-US" sz="980" b="1" dirty="0">
                <a:solidFill>
                  <a:srgbClr val="D8E2EC"/>
                </a:solidFill>
                <a:latin typeface="Microsoft JhengHei" pitchFamily="34" charset="0"/>
                <a:ea typeface="Microsoft JhengHei" pitchFamily="34" charset="-122"/>
                <a:cs typeface="Microsoft JhengHei" pitchFamily="34" charset="-120"/>
              </a:rPr>
              <a:t>sLT MDC₉₅（功率）</a:t>
            </a:r>
            <a:endParaRPr lang="en-US" sz="980" dirty="0"/>
          </a:p>
        </p:txBody>
      </p:sp>
      <p:sp>
        <p:nvSpPr>
          <p:cNvPr id="25" name="Shape 23"/>
          <p:cNvSpPr/>
          <p:nvPr/>
        </p:nvSpPr>
        <p:spPr>
          <a:xfrm>
            <a:off x="9893808" y="1133856"/>
            <a:ext cx="1673352" cy="1078992"/>
          </a:xfrm>
          <a:prstGeom prst="roundRect">
            <a:avLst>
              <a:gd name="adj" fmla="val 6780"/>
            </a:avLst>
          </a:prstGeom>
          <a:solidFill>
            <a:srgbClr val="12263A"/>
          </a:solidFill>
          <a:ln w="12700">
            <a:solidFill>
              <a:srgbClr val="FF9B5E"/>
            </a:solidFill>
            <a:prstDash val="solid"/>
          </a:ln>
        </p:spPr>
      </p:sp>
      <p:sp>
        <p:nvSpPr>
          <p:cNvPr id="26" name="Text 24"/>
          <p:cNvSpPr txBox="1"/>
          <p:nvPr/>
        </p:nvSpPr>
        <p:spPr>
          <a:xfrm>
            <a:off x="10131552" y="1344168"/>
            <a:ext cx="1188720" cy="292608"/>
          </a:xfrm>
          <a:prstGeom prst="rect">
            <a:avLst/>
          </a:prstGeom>
          <a:noFill/>
          <a:ln/>
        </p:spPr>
        <p:txBody>
          <a:bodyPr wrap="square" lIns="0" tIns="0" rIns="0" bIns="0" rtlCol="0" anchor="t">
            <a:normAutofit/>
          </a:bodyPr>
          <a:lstStyle/>
          <a:p>
            <a:pPr algn="ctr" indent="0" marL="0">
              <a:buNone/>
            </a:pPr>
            <a:r>
              <a:rPr lang="en-US" sz="1800" b="1" dirty="0">
                <a:solidFill>
                  <a:srgbClr val="FFC09B"/>
                </a:solidFill>
                <a:latin typeface="Aptos" pitchFamily="34" charset="0"/>
                <a:ea typeface="Aptos" pitchFamily="34" charset="-122"/>
                <a:cs typeface="Aptos" pitchFamily="34" charset="-120"/>
              </a:rPr>
              <a:t>↑ HSD</a:t>
            </a:r>
            <a:endParaRPr lang="en-US" sz="1800" dirty="0"/>
          </a:p>
        </p:txBody>
      </p:sp>
      <p:sp>
        <p:nvSpPr>
          <p:cNvPr id="27" name="Text 25"/>
          <p:cNvSpPr txBox="1"/>
          <p:nvPr/>
        </p:nvSpPr>
        <p:spPr>
          <a:xfrm>
            <a:off x="10049256" y="1746504"/>
            <a:ext cx="1344168" cy="182880"/>
          </a:xfrm>
          <a:prstGeom prst="rect">
            <a:avLst/>
          </a:prstGeom>
          <a:noFill/>
          <a:ln/>
        </p:spPr>
        <p:txBody>
          <a:bodyPr wrap="square" lIns="0" tIns="0" rIns="0" bIns="0" rtlCol="0" anchor="t">
            <a:normAutofit/>
          </a:bodyPr>
          <a:lstStyle/>
          <a:p>
            <a:pPr algn="ctr" indent="0" marL="0">
              <a:buNone/>
            </a:pPr>
            <a:r>
              <a:rPr lang="en-US" sz="870" b="1" dirty="0">
                <a:solidFill>
                  <a:srgbClr val="D8E2EC"/>
                </a:solidFill>
                <a:latin typeface="Microsoft JhengHei" pitchFamily="34" charset="0"/>
                <a:ea typeface="Microsoft JhengHei" pitchFamily="34" charset="-122"/>
                <a:cs typeface="Microsoft JhengHei" pitchFamily="34" charset="-120"/>
              </a:rPr>
              <a:t>→ sLT 更早／更低</a:t>
            </a:r>
            <a:endParaRPr lang="en-US" sz="870" dirty="0"/>
          </a:p>
        </p:txBody>
      </p:sp>
      <p:sp>
        <p:nvSpPr>
          <p:cNvPr id="28" name="Shape 26"/>
          <p:cNvSpPr/>
          <p:nvPr/>
        </p:nvSpPr>
        <p:spPr>
          <a:xfrm>
            <a:off x="640080" y="2468880"/>
            <a:ext cx="5422392" cy="3621024"/>
          </a:xfrm>
          <a:prstGeom prst="roundRect">
            <a:avLst>
              <a:gd name="adj" fmla="val 2020"/>
            </a:avLst>
          </a:prstGeom>
          <a:solidFill>
            <a:srgbClr val="0E1D2E"/>
          </a:solidFill>
          <a:ln w="12700">
            <a:solidFill>
              <a:srgbClr val="1E3A52"/>
            </a:solidFill>
            <a:prstDash val="solid"/>
          </a:ln>
        </p:spPr>
      </p:sp>
      <p:sp>
        <p:nvSpPr>
          <p:cNvPr id="29" name="Shape 27"/>
          <p:cNvSpPr/>
          <p:nvPr/>
        </p:nvSpPr>
        <p:spPr>
          <a:xfrm>
            <a:off x="6236208" y="2468880"/>
            <a:ext cx="5330952" cy="3621024"/>
          </a:xfrm>
          <a:prstGeom prst="roundRect">
            <a:avLst>
              <a:gd name="adj" fmla="val 2020"/>
            </a:avLst>
          </a:prstGeom>
          <a:solidFill>
            <a:srgbClr val="12263A"/>
          </a:solidFill>
          <a:ln w="12700">
            <a:solidFill>
              <a:srgbClr val="1E3A52"/>
            </a:solidFill>
            <a:prstDash val="solid"/>
          </a:ln>
        </p:spPr>
      </p:sp>
      <p:sp>
        <p:nvSpPr>
          <p:cNvPr id="30" name="Text 28"/>
          <p:cNvSpPr txBox="1"/>
          <p:nvPr/>
        </p:nvSpPr>
        <p:spPr>
          <a:xfrm>
            <a:off x="932688" y="2761488"/>
            <a:ext cx="3566160" cy="201168"/>
          </a:xfrm>
          <a:prstGeom prst="rect">
            <a:avLst/>
          </a:prstGeom>
          <a:noFill/>
          <a:ln/>
        </p:spPr>
        <p:txBody>
          <a:bodyPr wrap="square" lIns="0" tIns="0" rIns="0" bIns="0" rtlCol="0" anchor="t">
            <a:normAutofit/>
          </a:bodyPr>
          <a:lstStyle/>
          <a:p>
            <a:pPr algn="l" indent="0" marL="0">
              <a:buNone/>
            </a:pPr>
            <a:r>
              <a:rPr lang="en-US" sz="950" b="1" spc="40" kern="0" dirty="0">
                <a:solidFill>
                  <a:srgbClr val="20D4C7"/>
                </a:solidFill>
                <a:latin typeface="Microsoft JhengHei" pitchFamily="34" charset="0"/>
                <a:ea typeface="Microsoft JhengHei" pitchFamily="34" charset="-122"/>
                <a:cs typeface="Microsoft JhengHei" pitchFamily="34" charset="-120"/>
              </a:rPr>
              <a:t>全部受試者：HSD vs 賽前→賽後變化</a:t>
            </a:r>
            <a:endParaRPr lang="en-US" sz="950" dirty="0"/>
          </a:p>
        </p:txBody>
      </p:sp>
      <p:sp>
        <p:nvSpPr>
          <p:cNvPr id="31" name="Text 29"/>
          <p:cNvSpPr txBox="1"/>
          <p:nvPr/>
        </p:nvSpPr>
        <p:spPr>
          <a:xfrm>
            <a:off x="6528816" y="2761488"/>
            <a:ext cx="3383280" cy="201168"/>
          </a:xfrm>
          <a:prstGeom prst="rect">
            <a:avLst/>
          </a:prstGeom>
          <a:noFill/>
          <a:ln/>
        </p:spPr>
        <p:txBody>
          <a:bodyPr wrap="square" lIns="0" tIns="0" rIns="0" bIns="0" rtlCol="0" anchor="t">
            <a:normAutofit/>
          </a:bodyPr>
          <a:lstStyle/>
          <a:p>
            <a:pPr algn="l" indent="0" marL="0">
              <a:buNone/>
            </a:pPr>
            <a:r>
              <a:rPr lang="en-US" sz="950" b="1" spc="40" kern="0" dirty="0">
                <a:solidFill>
                  <a:srgbClr val="B7F06A"/>
                </a:solidFill>
                <a:latin typeface="Microsoft JhengHei" pitchFamily="34" charset="0"/>
                <a:ea typeface="Microsoft JhengHei" pitchFamily="34" charset="-122"/>
                <a:cs typeface="Microsoft JhengHei" pitchFamily="34" charset="-120"/>
              </a:rPr>
              <a:t>僅看超過各指標 MDC₉₅ 的變化</a:t>
            </a:r>
            <a:endParaRPr lang="en-US" sz="950" dirty="0"/>
          </a:p>
        </p:txBody>
      </p:sp>
      <p:sp>
        <p:nvSpPr>
          <p:cNvPr id="32" name="Shape 30"/>
          <p:cNvSpPr/>
          <p:nvPr/>
        </p:nvSpPr>
        <p:spPr>
          <a:xfrm>
            <a:off x="3845052" y="3172968"/>
            <a:ext cx="0" cy="2331720"/>
          </a:xfrm>
          <a:prstGeom prst="line">
            <a:avLst/>
          </a:prstGeom>
          <a:noFill/>
          <a:ln w="7620">
            <a:solidFill>
              <a:srgbClr val="27435A"/>
            </a:solidFill>
            <a:prstDash val="solid"/>
          </a:ln>
        </p:spPr>
      </p:sp>
      <p:sp>
        <p:nvSpPr>
          <p:cNvPr id="33" name="Text 31"/>
          <p:cNvSpPr txBox="1"/>
          <p:nvPr/>
        </p:nvSpPr>
        <p:spPr>
          <a:xfrm>
            <a:off x="3698748" y="5532120"/>
            <a:ext cx="310896" cy="164592"/>
          </a:xfrm>
          <a:prstGeom prst="rect">
            <a:avLst/>
          </a:prstGeom>
          <a:noFill/>
          <a:ln/>
        </p:spPr>
        <p:txBody>
          <a:bodyPr wrap="square" lIns="0" tIns="0" rIns="0" bIns="0" rtlCol="0" anchor="t">
            <a:normAutofit/>
          </a:bodyPr>
          <a:lstStyle/>
          <a:p>
            <a:pPr algn="ctr" indent="0" marL="0">
              <a:buNone/>
            </a:pPr>
            <a:r>
              <a:rPr lang="en-US" sz="800" dirty="0">
                <a:solidFill>
                  <a:srgbClr val="93A4B6"/>
                </a:solidFill>
                <a:latin typeface="Aptos" pitchFamily="34" charset="0"/>
                <a:ea typeface="Aptos" pitchFamily="34" charset="-122"/>
                <a:cs typeface="Aptos" pitchFamily="34" charset="-120"/>
              </a:rPr>
              <a:t>0.5</a:t>
            </a:r>
            <a:endParaRPr lang="en-US" sz="800" dirty="0"/>
          </a:p>
        </p:txBody>
      </p:sp>
      <p:sp>
        <p:nvSpPr>
          <p:cNvPr id="34" name="Shape 32"/>
          <p:cNvSpPr/>
          <p:nvPr/>
        </p:nvSpPr>
        <p:spPr>
          <a:xfrm>
            <a:off x="4567428" y="3172968"/>
            <a:ext cx="0" cy="2331720"/>
          </a:xfrm>
          <a:prstGeom prst="line">
            <a:avLst/>
          </a:prstGeom>
          <a:noFill/>
          <a:ln w="7620">
            <a:solidFill>
              <a:srgbClr val="27435A"/>
            </a:solidFill>
            <a:prstDash val="solid"/>
          </a:ln>
        </p:spPr>
      </p:sp>
      <p:sp>
        <p:nvSpPr>
          <p:cNvPr id="35" name="Text 33"/>
          <p:cNvSpPr txBox="1"/>
          <p:nvPr/>
        </p:nvSpPr>
        <p:spPr>
          <a:xfrm>
            <a:off x="4421124" y="5532120"/>
            <a:ext cx="310896" cy="164592"/>
          </a:xfrm>
          <a:prstGeom prst="rect">
            <a:avLst/>
          </a:prstGeom>
          <a:noFill/>
          <a:ln/>
        </p:spPr>
        <p:txBody>
          <a:bodyPr wrap="square" lIns="0" tIns="0" rIns="0" bIns="0" rtlCol="0" anchor="t">
            <a:normAutofit/>
          </a:bodyPr>
          <a:lstStyle/>
          <a:p>
            <a:pPr algn="ctr" indent="0" marL="0">
              <a:buNone/>
            </a:pPr>
            <a:r>
              <a:rPr lang="en-US" sz="800" dirty="0">
                <a:solidFill>
                  <a:srgbClr val="93A4B6"/>
                </a:solidFill>
                <a:latin typeface="Aptos" pitchFamily="34" charset="0"/>
                <a:ea typeface="Aptos" pitchFamily="34" charset="-122"/>
                <a:cs typeface="Aptos" pitchFamily="34" charset="-120"/>
              </a:rPr>
              <a:t>0.7</a:t>
            </a:r>
            <a:endParaRPr lang="en-US" sz="800" dirty="0"/>
          </a:p>
        </p:txBody>
      </p:sp>
      <p:sp>
        <p:nvSpPr>
          <p:cNvPr id="36" name="Shape 34"/>
          <p:cNvSpPr/>
          <p:nvPr/>
        </p:nvSpPr>
        <p:spPr>
          <a:xfrm>
            <a:off x="5289804" y="3172968"/>
            <a:ext cx="0" cy="2331720"/>
          </a:xfrm>
          <a:prstGeom prst="line">
            <a:avLst/>
          </a:prstGeom>
          <a:noFill/>
          <a:ln w="7620">
            <a:solidFill>
              <a:srgbClr val="27435A"/>
            </a:solidFill>
            <a:prstDash val="solid"/>
          </a:ln>
        </p:spPr>
      </p:sp>
      <p:sp>
        <p:nvSpPr>
          <p:cNvPr id="37" name="Text 35"/>
          <p:cNvSpPr txBox="1"/>
          <p:nvPr/>
        </p:nvSpPr>
        <p:spPr>
          <a:xfrm>
            <a:off x="5143500" y="5532120"/>
            <a:ext cx="310896" cy="164592"/>
          </a:xfrm>
          <a:prstGeom prst="rect">
            <a:avLst/>
          </a:prstGeom>
          <a:noFill/>
          <a:ln/>
        </p:spPr>
        <p:txBody>
          <a:bodyPr wrap="square" lIns="0" tIns="0" rIns="0" bIns="0" rtlCol="0" anchor="t">
            <a:normAutofit/>
          </a:bodyPr>
          <a:lstStyle/>
          <a:p>
            <a:pPr algn="ctr" indent="0" marL="0">
              <a:buNone/>
            </a:pPr>
            <a:r>
              <a:rPr lang="en-US" sz="800" dirty="0">
                <a:solidFill>
                  <a:srgbClr val="93A4B6"/>
                </a:solidFill>
                <a:latin typeface="Aptos" pitchFamily="34" charset="0"/>
                <a:ea typeface="Aptos" pitchFamily="34" charset="-122"/>
                <a:cs typeface="Aptos" pitchFamily="34" charset="-120"/>
              </a:rPr>
              <a:t>0.9</a:t>
            </a:r>
            <a:endParaRPr lang="en-US" sz="800" dirty="0"/>
          </a:p>
        </p:txBody>
      </p:sp>
      <p:sp>
        <p:nvSpPr>
          <p:cNvPr id="38" name="Text 36"/>
          <p:cNvSpPr txBox="1"/>
          <p:nvPr/>
        </p:nvSpPr>
        <p:spPr>
          <a:xfrm>
            <a:off x="896112" y="3264408"/>
            <a:ext cx="996696" cy="182880"/>
          </a:xfrm>
          <a:prstGeom prst="rect">
            <a:avLst/>
          </a:prstGeom>
          <a:noFill/>
          <a:ln/>
        </p:spPr>
        <p:txBody>
          <a:bodyPr wrap="square" lIns="0" tIns="0" rIns="0" bIns="0" rtlCol="0" anchor="t">
            <a:normAutofit/>
          </a:bodyPr>
          <a:lstStyle/>
          <a:p>
            <a:pPr algn="r" indent="0" marL="0">
              <a:buNone/>
            </a:pPr>
            <a:r>
              <a:rPr lang="en-US" sz="940" b="1" dirty="0">
                <a:solidFill>
                  <a:srgbClr val="D8E2EC"/>
                </a:solidFill>
                <a:latin typeface="Microsoft JhengHei" pitchFamily="34" charset="0"/>
                <a:ea typeface="Microsoft JhengHei" pitchFamily="34" charset="-122"/>
                <a:cs typeface="Microsoft JhengHei" pitchFamily="34" charset="-120"/>
              </a:rPr>
              <a:t>VT 時間</a:t>
            </a:r>
            <a:endParaRPr lang="en-US" sz="940" dirty="0"/>
          </a:p>
        </p:txBody>
      </p:sp>
      <p:sp>
        <p:nvSpPr>
          <p:cNvPr id="39" name="Shape 37"/>
          <p:cNvSpPr/>
          <p:nvPr/>
        </p:nvSpPr>
        <p:spPr>
          <a:xfrm>
            <a:off x="2039112" y="3218688"/>
            <a:ext cx="2781148" cy="274320"/>
          </a:xfrm>
          <a:prstGeom prst="roundRect">
            <a:avLst/>
          </a:prstGeom>
          <a:solidFill>
            <a:srgbClr val="6BB7FF"/>
          </a:solidFill>
          <a:ln w="12700">
            <a:solidFill>
              <a:srgbClr val="6BB7FF">
                <a:alpha val="0"/>
              </a:srgbClr>
            </a:solidFill>
            <a:prstDash val="solid"/>
          </a:ln>
        </p:spPr>
      </p:sp>
      <p:sp>
        <p:nvSpPr>
          <p:cNvPr id="40" name="Text 38"/>
          <p:cNvSpPr txBox="1"/>
          <p:nvPr/>
        </p:nvSpPr>
        <p:spPr>
          <a:xfrm>
            <a:off x="4893412" y="3246120"/>
            <a:ext cx="384048" cy="173736"/>
          </a:xfrm>
          <a:prstGeom prst="rect">
            <a:avLst/>
          </a:prstGeom>
          <a:noFill/>
          <a:ln/>
        </p:spPr>
        <p:txBody>
          <a:bodyPr wrap="square" lIns="0" tIns="0" rIns="0" bIns="0" rtlCol="0" anchor="t">
            <a:normAutofit/>
          </a:bodyPr>
          <a:lstStyle/>
          <a:p>
            <a:pPr algn="l" indent="0" marL="0">
              <a:buNone/>
            </a:pPr>
            <a:r>
              <a:rPr lang="en-US" sz="920" b="1" dirty="0">
                <a:solidFill>
                  <a:srgbClr val="6BB7FF"/>
                </a:solidFill>
                <a:latin typeface="Aptos" pitchFamily="34" charset="0"/>
                <a:ea typeface="Aptos" pitchFamily="34" charset="-122"/>
                <a:cs typeface="Aptos" pitchFamily="34" charset="-120"/>
              </a:rPr>
              <a:t>0.77</a:t>
            </a:r>
            <a:endParaRPr lang="en-US" sz="920" dirty="0"/>
          </a:p>
        </p:txBody>
      </p:sp>
      <p:sp>
        <p:nvSpPr>
          <p:cNvPr id="41" name="Text 39"/>
          <p:cNvSpPr txBox="1"/>
          <p:nvPr/>
        </p:nvSpPr>
        <p:spPr>
          <a:xfrm>
            <a:off x="896112" y="3785616"/>
            <a:ext cx="996696" cy="182880"/>
          </a:xfrm>
          <a:prstGeom prst="rect">
            <a:avLst/>
          </a:prstGeom>
          <a:noFill/>
          <a:ln/>
        </p:spPr>
        <p:txBody>
          <a:bodyPr wrap="square" lIns="0" tIns="0" rIns="0" bIns="0" rtlCol="0" anchor="t">
            <a:normAutofit/>
          </a:bodyPr>
          <a:lstStyle/>
          <a:p>
            <a:pPr algn="r" indent="0" marL="0">
              <a:buNone/>
            </a:pPr>
            <a:r>
              <a:rPr lang="en-US" sz="940" b="1" dirty="0">
                <a:solidFill>
                  <a:srgbClr val="D8E2EC"/>
                </a:solidFill>
                <a:latin typeface="Microsoft JhengHei" pitchFamily="34" charset="0"/>
                <a:ea typeface="Microsoft JhengHei" pitchFamily="34" charset="-122"/>
                <a:cs typeface="Microsoft JhengHei" pitchFamily="34" charset="-120"/>
              </a:rPr>
              <a:t>VT 功率</a:t>
            </a:r>
            <a:endParaRPr lang="en-US" sz="940" dirty="0"/>
          </a:p>
        </p:txBody>
      </p:sp>
      <p:sp>
        <p:nvSpPr>
          <p:cNvPr id="42" name="Shape 40"/>
          <p:cNvSpPr/>
          <p:nvPr/>
        </p:nvSpPr>
        <p:spPr>
          <a:xfrm>
            <a:off x="2039112" y="3739896"/>
            <a:ext cx="2889504" cy="274320"/>
          </a:xfrm>
          <a:prstGeom prst="roundRect">
            <a:avLst/>
          </a:prstGeom>
          <a:solidFill>
            <a:srgbClr val="6BB7FF"/>
          </a:solidFill>
          <a:ln w="12700">
            <a:solidFill>
              <a:srgbClr val="6BB7FF">
                <a:alpha val="0"/>
              </a:srgbClr>
            </a:solidFill>
            <a:prstDash val="solid"/>
          </a:ln>
        </p:spPr>
      </p:sp>
      <p:sp>
        <p:nvSpPr>
          <p:cNvPr id="43" name="Text 41"/>
          <p:cNvSpPr txBox="1"/>
          <p:nvPr/>
        </p:nvSpPr>
        <p:spPr>
          <a:xfrm>
            <a:off x="5001768" y="3767328"/>
            <a:ext cx="384048" cy="173736"/>
          </a:xfrm>
          <a:prstGeom prst="rect">
            <a:avLst/>
          </a:prstGeom>
          <a:noFill/>
          <a:ln/>
        </p:spPr>
        <p:txBody>
          <a:bodyPr wrap="square" lIns="0" tIns="0" rIns="0" bIns="0" rtlCol="0" anchor="t">
            <a:normAutofit/>
          </a:bodyPr>
          <a:lstStyle/>
          <a:p>
            <a:pPr algn="l" indent="0" marL="0">
              <a:buNone/>
            </a:pPr>
            <a:r>
              <a:rPr lang="en-US" sz="920" b="1" dirty="0">
                <a:solidFill>
                  <a:srgbClr val="6BB7FF"/>
                </a:solidFill>
                <a:latin typeface="Aptos" pitchFamily="34" charset="0"/>
                <a:ea typeface="Aptos" pitchFamily="34" charset="-122"/>
                <a:cs typeface="Aptos" pitchFamily="34" charset="-120"/>
              </a:rPr>
              <a:t>0.80</a:t>
            </a:r>
            <a:endParaRPr lang="en-US" sz="920" dirty="0"/>
          </a:p>
        </p:txBody>
      </p:sp>
      <p:sp>
        <p:nvSpPr>
          <p:cNvPr id="44" name="Text 42"/>
          <p:cNvSpPr txBox="1"/>
          <p:nvPr/>
        </p:nvSpPr>
        <p:spPr>
          <a:xfrm>
            <a:off x="896112" y="4306824"/>
            <a:ext cx="996696" cy="182880"/>
          </a:xfrm>
          <a:prstGeom prst="rect">
            <a:avLst/>
          </a:prstGeom>
          <a:noFill/>
          <a:ln/>
        </p:spPr>
        <p:txBody>
          <a:bodyPr wrap="square" lIns="0" tIns="0" rIns="0" bIns="0" rtlCol="0" anchor="t">
            <a:normAutofit/>
          </a:bodyPr>
          <a:lstStyle/>
          <a:p>
            <a:pPr algn="r" indent="0" marL="0">
              <a:buNone/>
            </a:pPr>
            <a:r>
              <a:rPr lang="en-US" sz="940" b="1" dirty="0">
                <a:solidFill>
                  <a:srgbClr val="D8E2EC"/>
                </a:solidFill>
                <a:latin typeface="Microsoft JhengHei" pitchFamily="34" charset="0"/>
                <a:ea typeface="Microsoft JhengHei" pitchFamily="34" charset="-122"/>
                <a:cs typeface="Microsoft JhengHei" pitchFamily="34" charset="-120"/>
              </a:rPr>
              <a:t>sLT 時間</a:t>
            </a:r>
            <a:endParaRPr lang="en-US" sz="940" dirty="0"/>
          </a:p>
        </p:txBody>
      </p:sp>
      <p:sp>
        <p:nvSpPr>
          <p:cNvPr id="45" name="Shape 43"/>
          <p:cNvSpPr/>
          <p:nvPr/>
        </p:nvSpPr>
        <p:spPr>
          <a:xfrm>
            <a:off x="2039112" y="4261104"/>
            <a:ext cx="2311603" cy="274320"/>
          </a:xfrm>
          <a:prstGeom prst="roundRect">
            <a:avLst/>
          </a:prstGeom>
          <a:solidFill>
            <a:srgbClr val="20D4C7"/>
          </a:solidFill>
          <a:ln w="12700">
            <a:solidFill>
              <a:srgbClr val="20D4C7">
                <a:alpha val="0"/>
              </a:srgbClr>
            </a:solidFill>
            <a:prstDash val="solid"/>
          </a:ln>
        </p:spPr>
      </p:sp>
      <p:sp>
        <p:nvSpPr>
          <p:cNvPr id="46" name="Text 44"/>
          <p:cNvSpPr txBox="1"/>
          <p:nvPr/>
        </p:nvSpPr>
        <p:spPr>
          <a:xfrm>
            <a:off x="4423867" y="4288536"/>
            <a:ext cx="384048" cy="173736"/>
          </a:xfrm>
          <a:prstGeom prst="rect">
            <a:avLst/>
          </a:prstGeom>
          <a:noFill/>
          <a:ln/>
        </p:spPr>
        <p:txBody>
          <a:bodyPr wrap="square" lIns="0" tIns="0" rIns="0" bIns="0" rtlCol="0" anchor="t">
            <a:normAutofit/>
          </a:bodyPr>
          <a:lstStyle/>
          <a:p>
            <a:pPr algn="l" indent="0" marL="0">
              <a:buNone/>
            </a:pPr>
            <a:r>
              <a:rPr lang="en-US" sz="920" b="1" dirty="0">
                <a:solidFill>
                  <a:srgbClr val="20D4C7"/>
                </a:solidFill>
                <a:latin typeface="Aptos" pitchFamily="34" charset="0"/>
                <a:ea typeface="Aptos" pitchFamily="34" charset="-122"/>
                <a:cs typeface="Aptos" pitchFamily="34" charset="-120"/>
              </a:rPr>
              <a:t>0.64</a:t>
            </a:r>
            <a:endParaRPr lang="en-US" sz="920" dirty="0"/>
          </a:p>
        </p:txBody>
      </p:sp>
      <p:sp>
        <p:nvSpPr>
          <p:cNvPr id="47" name="Text 45"/>
          <p:cNvSpPr txBox="1"/>
          <p:nvPr/>
        </p:nvSpPr>
        <p:spPr>
          <a:xfrm>
            <a:off x="896112" y="4828032"/>
            <a:ext cx="996696" cy="182880"/>
          </a:xfrm>
          <a:prstGeom prst="rect">
            <a:avLst/>
          </a:prstGeom>
          <a:noFill/>
          <a:ln/>
        </p:spPr>
        <p:txBody>
          <a:bodyPr wrap="square" lIns="0" tIns="0" rIns="0" bIns="0" rtlCol="0" anchor="t">
            <a:normAutofit/>
          </a:bodyPr>
          <a:lstStyle/>
          <a:p>
            <a:pPr algn="r" indent="0" marL="0">
              <a:buNone/>
            </a:pPr>
            <a:r>
              <a:rPr lang="en-US" sz="940" b="1" dirty="0">
                <a:solidFill>
                  <a:srgbClr val="D8E2EC"/>
                </a:solidFill>
                <a:latin typeface="Microsoft JhengHei" pitchFamily="34" charset="0"/>
                <a:ea typeface="Microsoft JhengHei" pitchFamily="34" charset="-122"/>
                <a:cs typeface="Microsoft JhengHei" pitchFamily="34" charset="-120"/>
              </a:rPr>
              <a:t>sLT 功率</a:t>
            </a:r>
            <a:endParaRPr lang="en-US" sz="940" dirty="0"/>
          </a:p>
        </p:txBody>
      </p:sp>
      <p:sp>
        <p:nvSpPr>
          <p:cNvPr id="48" name="Shape 46"/>
          <p:cNvSpPr/>
          <p:nvPr/>
        </p:nvSpPr>
        <p:spPr>
          <a:xfrm>
            <a:off x="2039112" y="4782312"/>
            <a:ext cx="2239366" cy="274320"/>
          </a:xfrm>
          <a:prstGeom prst="roundRect">
            <a:avLst/>
          </a:prstGeom>
          <a:solidFill>
            <a:srgbClr val="20D4C7"/>
          </a:solidFill>
          <a:ln w="12700">
            <a:solidFill>
              <a:srgbClr val="20D4C7">
                <a:alpha val="0"/>
              </a:srgbClr>
            </a:solidFill>
            <a:prstDash val="solid"/>
          </a:ln>
        </p:spPr>
      </p:sp>
      <p:sp>
        <p:nvSpPr>
          <p:cNvPr id="49" name="Text 47"/>
          <p:cNvSpPr txBox="1"/>
          <p:nvPr/>
        </p:nvSpPr>
        <p:spPr>
          <a:xfrm>
            <a:off x="4351630" y="4809744"/>
            <a:ext cx="384048" cy="173736"/>
          </a:xfrm>
          <a:prstGeom prst="rect">
            <a:avLst/>
          </a:prstGeom>
          <a:noFill/>
          <a:ln/>
        </p:spPr>
        <p:txBody>
          <a:bodyPr wrap="square" lIns="0" tIns="0" rIns="0" bIns="0" rtlCol="0" anchor="t">
            <a:normAutofit/>
          </a:bodyPr>
          <a:lstStyle/>
          <a:p>
            <a:pPr algn="l" indent="0" marL="0">
              <a:buNone/>
            </a:pPr>
            <a:r>
              <a:rPr lang="en-US" sz="920" b="1" dirty="0">
                <a:solidFill>
                  <a:srgbClr val="20D4C7"/>
                </a:solidFill>
                <a:latin typeface="Aptos" pitchFamily="34" charset="0"/>
                <a:ea typeface="Aptos" pitchFamily="34" charset="-122"/>
                <a:cs typeface="Aptos" pitchFamily="34" charset="-120"/>
              </a:rPr>
              <a:t>0.62</a:t>
            </a:r>
            <a:endParaRPr lang="en-US" sz="920" dirty="0"/>
          </a:p>
        </p:txBody>
      </p:sp>
      <p:sp>
        <p:nvSpPr>
          <p:cNvPr id="50" name="Text 48"/>
          <p:cNvSpPr txBox="1"/>
          <p:nvPr/>
        </p:nvSpPr>
        <p:spPr>
          <a:xfrm>
            <a:off x="3429000" y="5779008"/>
            <a:ext cx="1005840" cy="164592"/>
          </a:xfrm>
          <a:prstGeom prst="rect">
            <a:avLst/>
          </a:prstGeom>
          <a:noFill/>
          <a:ln/>
        </p:spPr>
        <p:txBody>
          <a:bodyPr wrap="square" lIns="0" tIns="0" rIns="0" bIns="0" rtlCol="0" anchor="t">
            <a:normAutofit/>
          </a:bodyPr>
          <a:lstStyle/>
          <a:p>
            <a:pPr algn="ctr" indent="0" marL="0">
              <a:buNone/>
            </a:pPr>
            <a:r>
              <a:rPr lang="en-US" sz="850" dirty="0">
                <a:solidFill>
                  <a:srgbClr val="93A4B6"/>
                </a:solidFill>
                <a:latin typeface="Aptos" pitchFamily="34" charset="0"/>
                <a:ea typeface="Aptos" pitchFamily="34" charset="-122"/>
                <a:cs typeface="Aptos" pitchFamily="34" charset="-120"/>
              </a:rPr>
              <a:t>Spearman rₛ</a:t>
            </a:r>
            <a:endParaRPr lang="en-US" sz="850" dirty="0"/>
          </a:p>
        </p:txBody>
      </p:sp>
      <p:sp>
        <p:nvSpPr>
          <p:cNvPr id="51" name="Shape 49"/>
          <p:cNvSpPr/>
          <p:nvPr/>
        </p:nvSpPr>
        <p:spPr>
          <a:xfrm>
            <a:off x="9441180" y="3172968"/>
            <a:ext cx="0" cy="2331720"/>
          </a:xfrm>
          <a:prstGeom prst="line">
            <a:avLst/>
          </a:prstGeom>
          <a:noFill/>
          <a:ln w="7620">
            <a:solidFill>
              <a:srgbClr val="27435A"/>
            </a:solidFill>
            <a:prstDash val="solid"/>
          </a:ln>
        </p:spPr>
      </p:sp>
      <p:sp>
        <p:nvSpPr>
          <p:cNvPr id="52" name="Text 50"/>
          <p:cNvSpPr txBox="1"/>
          <p:nvPr/>
        </p:nvSpPr>
        <p:spPr>
          <a:xfrm>
            <a:off x="9294876" y="5532120"/>
            <a:ext cx="310896" cy="164592"/>
          </a:xfrm>
          <a:prstGeom prst="rect">
            <a:avLst/>
          </a:prstGeom>
          <a:noFill/>
          <a:ln/>
        </p:spPr>
        <p:txBody>
          <a:bodyPr wrap="square" lIns="0" tIns="0" rIns="0" bIns="0" rtlCol="0" anchor="t">
            <a:normAutofit/>
          </a:bodyPr>
          <a:lstStyle/>
          <a:p>
            <a:pPr algn="ctr" indent="0" marL="0">
              <a:buNone/>
            </a:pPr>
            <a:r>
              <a:rPr lang="en-US" sz="800" dirty="0">
                <a:solidFill>
                  <a:srgbClr val="93A4B6"/>
                </a:solidFill>
                <a:latin typeface="Aptos" pitchFamily="34" charset="0"/>
                <a:ea typeface="Aptos" pitchFamily="34" charset="-122"/>
                <a:cs typeface="Aptos" pitchFamily="34" charset="-120"/>
              </a:rPr>
              <a:t>0.5</a:t>
            </a:r>
            <a:endParaRPr lang="en-US" sz="800" dirty="0"/>
          </a:p>
        </p:txBody>
      </p:sp>
      <p:sp>
        <p:nvSpPr>
          <p:cNvPr id="53" name="Shape 51"/>
          <p:cNvSpPr/>
          <p:nvPr/>
        </p:nvSpPr>
        <p:spPr>
          <a:xfrm>
            <a:off x="10163556" y="3172968"/>
            <a:ext cx="0" cy="2331720"/>
          </a:xfrm>
          <a:prstGeom prst="line">
            <a:avLst/>
          </a:prstGeom>
          <a:noFill/>
          <a:ln w="7620">
            <a:solidFill>
              <a:srgbClr val="27435A"/>
            </a:solidFill>
            <a:prstDash val="solid"/>
          </a:ln>
        </p:spPr>
      </p:sp>
      <p:sp>
        <p:nvSpPr>
          <p:cNvPr id="54" name="Text 52"/>
          <p:cNvSpPr txBox="1"/>
          <p:nvPr/>
        </p:nvSpPr>
        <p:spPr>
          <a:xfrm>
            <a:off x="10017252" y="5532120"/>
            <a:ext cx="310896" cy="164592"/>
          </a:xfrm>
          <a:prstGeom prst="rect">
            <a:avLst/>
          </a:prstGeom>
          <a:noFill/>
          <a:ln/>
        </p:spPr>
        <p:txBody>
          <a:bodyPr wrap="square" lIns="0" tIns="0" rIns="0" bIns="0" rtlCol="0" anchor="t">
            <a:normAutofit/>
          </a:bodyPr>
          <a:lstStyle/>
          <a:p>
            <a:pPr algn="ctr" indent="0" marL="0">
              <a:buNone/>
            </a:pPr>
            <a:r>
              <a:rPr lang="en-US" sz="800" dirty="0">
                <a:solidFill>
                  <a:srgbClr val="93A4B6"/>
                </a:solidFill>
                <a:latin typeface="Aptos" pitchFamily="34" charset="0"/>
                <a:ea typeface="Aptos" pitchFamily="34" charset="-122"/>
                <a:cs typeface="Aptos" pitchFamily="34" charset="-120"/>
              </a:rPr>
              <a:t>0.7</a:t>
            </a:r>
            <a:endParaRPr lang="en-US" sz="800" dirty="0"/>
          </a:p>
        </p:txBody>
      </p:sp>
      <p:sp>
        <p:nvSpPr>
          <p:cNvPr id="55" name="Shape 53"/>
          <p:cNvSpPr/>
          <p:nvPr/>
        </p:nvSpPr>
        <p:spPr>
          <a:xfrm>
            <a:off x="10885932" y="3172968"/>
            <a:ext cx="0" cy="2331720"/>
          </a:xfrm>
          <a:prstGeom prst="line">
            <a:avLst/>
          </a:prstGeom>
          <a:noFill/>
          <a:ln w="7620">
            <a:solidFill>
              <a:srgbClr val="27435A"/>
            </a:solidFill>
            <a:prstDash val="solid"/>
          </a:ln>
        </p:spPr>
      </p:sp>
      <p:sp>
        <p:nvSpPr>
          <p:cNvPr id="56" name="Text 54"/>
          <p:cNvSpPr txBox="1"/>
          <p:nvPr/>
        </p:nvSpPr>
        <p:spPr>
          <a:xfrm>
            <a:off x="10739628" y="5532120"/>
            <a:ext cx="310896" cy="164592"/>
          </a:xfrm>
          <a:prstGeom prst="rect">
            <a:avLst/>
          </a:prstGeom>
          <a:noFill/>
          <a:ln/>
        </p:spPr>
        <p:txBody>
          <a:bodyPr wrap="square" lIns="0" tIns="0" rIns="0" bIns="0" rtlCol="0" anchor="t">
            <a:normAutofit/>
          </a:bodyPr>
          <a:lstStyle/>
          <a:p>
            <a:pPr algn="ctr" indent="0" marL="0">
              <a:buNone/>
            </a:pPr>
            <a:r>
              <a:rPr lang="en-US" sz="800" dirty="0">
                <a:solidFill>
                  <a:srgbClr val="93A4B6"/>
                </a:solidFill>
                <a:latin typeface="Aptos" pitchFamily="34" charset="0"/>
                <a:ea typeface="Aptos" pitchFamily="34" charset="-122"/>
                <a:cs typeface="Aptos" pitchFamily="34" charset="-120"/>
              </a:rPr>
              <a:t>0.9</a:t>
            </a:r>
            <a:endParaRPr lang="en-US" sz="800" dirty="0"/>
          </a:p>
        </p:txBody>
      </p:sp>
      <p:sp>
        <p:nvSpPr>
          <p:cNvPr id="57" name="Text 55"/>
          <p:cNvSpPr txBox="1"/>
          <p:nvPr/>
        </p:nvSpPr>
        <p:spPr>
          <a:xfrm>
            <a:off x="6492240" y="3264408"/>
            <a:ext cx="996696" cy="182880"/>
          </a:xfrm>
          <a:prstGeom prst="rect">
            <a:avLst/>
          </a:prstGeom>
          <a:noFill/>
          <a:ln/>
        </p:spPr>
        <p:txBody>
          <a:bodyPr wrap="square" lIns="0" tIns="0" rIns="0" bIns="0" rtlCol="0" anchor="t">
            <a:normAutofit/>
          </a:bodyPr>
          <a:lstStyle/>
          <a:p>
            <a:pPr algn="r" indent="0" marL="0">
              <a:buNone/>
            </a:pPr>
            <a:r>
              <a:rPr lang="en-US" sz="940" b="1" dirty="0">
                <a:solidFill>
                  <a:srgbClr val="D8E2EC"/>
                </a:solidFill>
                <a:latin typeface="Microsoft JhengHei" pitchFamily="34" charset="0"/>
                <a:ea typeface="Microsoft JhengHei" pitchFamily="34" charset="-122"/>
                <a:cs typeface="Microsoft JhengHei" pitchFamily="34" charset="-120"/>
              </a:rPr>
              <a:t>VT 時間</a:t>
            </a:r>
            <a:endParaRPr lang="en-US" sz="940" dirty="0"/>
          </a:p>
        </p:txBody>
      </p:sp>
      <p:sp>
        <p:nvSpPr>
          <p:cNvPr id="58" name="Shape 56"/>
          <p:cNvSpPr/>
          <p:nvPr/>
        </p:nvSpPr>
        <p:spPr>
          <a:xfrm>
            <a:off x="7635240" y="3218688"/>
            <a:ext cx="2311603" cy="274320"/>
          </a:xfrm>
          <a:prstGeom prst="roundRect">
            <a:avLst/>
          </a:prstGeom>
          <a:solidFill>
            <a:srgbClr val="6BB7FF"/>
          </a:solidFill>
          <a:ln w="12700">
            <a:solidFill>
              <a:srgbClr val="6BB7FF">
                <a:alpha val="0"/>
              </a:srgbClr>
            </a:solidFill>
            <a:prstDash val="solid"/>
          </a:ln>
        </p:spPr>
      </p:sp>
      <p:sp>
        <p:nvSpPr>
          <p:cNvPr id="59" name="Text 57"/>
          <p:cNvSpPr txBox="1"/>
          <p:nvPr/>
        </p:nvSpPr>
        <p:spPr>
          <a:xfrm>
            <a:off x="10019995" y="3246120"/>
            <a:ext cx="384048" cy="173736"/>
          </a:xfrm>
          <a:prstGeom prst="rect">
            <a:avLst/>
          </a:prstGeom>
          <a:noFill/>
          <a:ln/>
        </p:spPr>
        <p:txBody>
          <a:bodyPr wrap="square" lIns="0" tIns="0" rIns="0" bIns="0" rtlCol="0" anchor="t">
            <a:normAutofit/>
          </a:bodyPr>
          <a:lstStyle/>
          <a:p>
            <a:pPr algn="l" indent="0" marL="0">
              <a:buNone/>
            </a:pPr>
            <a:r>
              <a:rPr lang="en-US" sz="920" b="1" dirty="0">
                <a:solidFill>
                  <a:srgbClr val="6BB7FF"/>
                </a:solidFill>
                <a:latin typeface="Aptos" pitchFamily="34" charset="0"/>
                <a:ea typeface="Aptos" pitchFamily="34" charset="-122"/>
                <a:cs typeface="Aptos" pitchFamily="34" charset="-120"/>
              </a:rPr>
              <a:t>0.64</a:t>
            </a:r>
            <a:endParaRPr lang="en-US" sz="920" dirty="0"/>
          </a:p>
        </p:txBody>
      </p:sp>
      <p:sp>
        <p:nvSpPr>
          <p:cNvPr id="60" name="Text 58"/>
          <p:cNvSpPr txBox="1"/>
          <p:nvPr/>
        </p:nvSpPr>
        <p:spPr>
          <a:xfrm>
            <a:off x="6492240" y="3785616"/>
            <a:ext cx="996696" cy="182880"/>
          </a:xfrm>
          <a:prstGeom prst="rect">
            <a:avLst/>
          </a:prstGeom>
          <a:noFill/>
          <a:ln/>
        </p:spPr>
        <p:txBody>
          <a:bodyPr wrap="square" lIns="0" tIns="0" rIns="0" bIns="0" rtlCol="0" anchor="t">
            <a:normAutofit/>
          </a:bodyPr>
          <a:lstStyle/>
          <a:p>
            <a:pPr algn="r" indent="0" marL="0">
              <a:buNone/>
            </a:pPr>
            <a:r>
              <a:rPr lang="en-US" sz="940" b="1" dirty="0">
                <a:solidFill>
                  <a:srgbClr val="D8E2EC"/>
                </a:solidFill>
                <a:latin typeface="Microsoft JhengHei" pitchFamily="34" charset="0"/>
                <a:ea typeface="Microsoft JhengHei" pitchFamily="34" charset="-122"/>
                <a:cs typeface="Microsoft JhengHei" pitchFamily="34" charset="-120"/>
              </a:rPr>
              <a:t>VT 功率</a:t>
            </a:r>
            <a:endParaRPr lang="en-US" sz="940" dirty="0"/>
          </a:p>
        </p:txBody>
      </p:sp>
      <p:sp>
        <p:nvSpPr>
          <p:cNvPr id="61" name="Shape 59"/>
          <p:cNvSpPr/>
          <p:nvPr/>
        </p:nvSpPr>
        <p:spPr>
          <a:xfrm>
            <a:off x="7635240" y="3739896"/>
            <a:ext cx="2528316" cy="274320"/>
          </a:xfrm>
          <a:prstGeom prst="roundRect">
            <a:avLst/>
          </a:prstGeom>
          <a:solidFill>
            <a:srgbClr val="6BB7FF"/>
          </a:solidFill>
          <a:ln w="12700">
            <a:solidFill>
              <a:srgbClr val="6BB7FF">
                <a:alpha val="0"/>
              </a:srgbClr>
            </a:solidFill>
            <a:prstDash val="solid"/>
          </a:ln>
        </p:spPr>
      </p:sp>
      <p:sp>
        <p:nvSpPr>
          <p:cNvPr id="62" name="Text 60"/>
          <p:cNvSpPr txBox="1"/>
          <p:nvPr/>
        </p:nvSpPr>
        <p:spPr>
          <a:xfrm>
            <a:off x="10236708" y="3767328"/>
            <a:ext cx="384048" cy="173736"/>
          </a:xfrm>
          <a:prstGeom prst="rect">
            <a:avLst/>
          </a:prstGeom>
          <a:noFill/>
          <a:ln/>
        </p:spPr>
        <p:txBody>
          <a:bodyPr wrap="square" lIns="0" tIns="0" rIns="0" bIns="0" rtlCol="0" anchor="t">
            <a:normAutofit/>
          </a:bodyPr>
          <a:lstStyle/>
          <a:p>
            <a:pPr algn="l" indent="0" marL="0">
              <a:buNone/>
            </a:pPr>
            <a:r>
              <a:rPr lang="en-US" sz="920" b="1" dirty="0">
                <a:solidFill>
                  <a:srgbClr val="6BB7FF"/>
                </a:solidFill>
                <a:latin typeface="Aptos" pitchFamily="34" charset="0"/>
                <a:ea typeface="Aptos" pitchFamily="34" charset="-122"/>
                <a:cs typeface="Aptos" pitchFamily="34" charset="-120"/>
              </a:rPr>
              <a:t>0.70</a:t>
            </a:r>
            <a:endParaRPr lang="en-US" sz="920" dirty="0"/>
          </a:p>
        </p:txBody>
      </p:sp>
      <p:sp>
        <p:nvSpPr>
          <p:cNvPr id="63" name="Text 61"/>
          <p:cNvSpPr txBox="1"/>
          <p:nvPr/>
        </p:nvSpPr>
        <p:spPr>
          <a:xfrm>
            <a:off x="6492240" y="4306824"/>
            <a:ext cx="996696" cy="182880"/>
          </a:xfrm>
          <a:prstGeom prst="rect">
            <a:avLst/>
          </a:prstGeom>
          <a:noFill/>
          <a:ln/>
        </p:spPr>
        <p:txBody>
          <a:bodyPr wrap="square" lIns="0" tIns="0" rIns="0" bIns="0" rtlCol="0" anchor="t">
            <a:normAutofit/>
          </a:bodyPr>
          <a:lstStyle/>
          <a:p>
            <a:pPr algn="r" indent="0" marL="0">
              <a:buNone/>
            </a:pPr>
            <a:r>
              <a:rPr lang="en-US" sz="940" b="1" dirty="0">
                <a:solidFill>
                  <a:srgbClr val="D8E2EC"/>
                </a:solidFill>
                <a:latin typeface="Microsoft JhengHei" pitchFamily="34" charset="0"/>
                <a:ea typeface="Microsoft JhengHei" pitchFamily="34" charset="-122"/>
                <a:cs typeface="Microsoft JhengHei" pitchFamily="34" charset="-120"/>
              </a:rPr>
              <a:t>sLT 時間</a:t>
            </a:r>
            <a:endParaRPr lang="en-US" sz="940" dirty="0"/>
          </a:p>
        </p:txBody>
      </p:sp>
      <p:sp>
        <p:nvSpPr>
          <p:cNvPr id="64" name="Shape 62"/>
          <p:cNvSpPr/>
          <p:nvPr/>
        </p:nvSpPr>
        <p:spPr>
          <a:xfrm>
            <a:off x="7635240" y="4261104"/>
            <a:ext cx="2275484" cy="274320"/>
          </a:xfrm>
          <a:prstGeom prst="roundRect">
            <a:avLst/>
          </a:prstGeom>
          <a:solidFill>
            <a:srgbClr val="B7F06A"/>
          </a:solidFill>
          <a:ln w="12700">
            <a:solidFill>
              <a:srgbClr val="B7F06A">
                <a:alpha val="0"/>
              </a:srgbClr>
            </a:solidFill>
            <a:prstDash val="solid"/>
          </a:ln>
        </p:spPr>
      </p:sp>
      <p:sp>
        <p:nvSpPr>
          <p:cNvPr id="65" name="Text 63"/>
          <p:cNvSpPr txBox="1"/>
          <p:nvPr/>
        </p:nvSpPr>
        <p:spPr>
          <a:xfrm>
            <a:off x="9983876" y="4288536"/>
            <a:ext cx="384048" cy="173736"/>
          </a:xfrm>
          <a:prstGeom prst="rect">
            <a:avLst/>
          </a:prstGeom>
          <a:noFill/>
          <a:ln/>
        </p:spPr>
        <p:txBody>
          <a:bodyPr wrap="square" lIns="0" tIns="0" rIns="0" bIns="0" rtlCol="0" anchor="t">
            <a:normAutofit/>
          </a:bodyPr>
          <a:lstStyle/>
          <a:p>
            <a:pPr algn="l" indent="0" marL="0">
              <a:buNone/>
            </a:pPr>
            <a:r>
              <a:rPr lang="en-US" sz="920" b="1" dirty="0">
                <a:solidFill>
                  <a:srgbClr val="B7F06A"/>
                </a:solidFill>
                <a:latin typeface="Aptos" pitchFamily="34" charset="0"/>
                <a:ea typeface="Aptos" pitchFamily="34" charset="-122"/>
                <a:cs typeface="Aptos" pitchFamily="34" charset="-120"/>
              </a:rPr>
              <a:t>0.63</a:t>
            </a:r>
            <a:endParaRPr lang="en-US" sz="920" dirty="0"/>
          </a:p>
        </p:txBody>
      </p:sp>
      <p:sp>
        <p:nvSpPr>
          <p:cNvPr id="66" name="Text 64"/>
          <p:cNvSpPr txBox="1"/>
          <p:nvPr/>
        </p:nvSpPr>
        <p:spPr>
          <a:xfrm>
            <a:off x="6492240" y="4828032"/>
            <a:ext cx="996696" cy="182880"/>
          </a:xfrm>
          <a:prstGeom prst="rect">
            <a:avLst/>
          </a:prstGeom>
          <a:noFill/>
          <a:ln/>
        </p:spPr>
        <p:txBody>
          <a:bodyPr wrap="square" lIns="0" tIns="0" rIns="0" bIns="0" rtlCol="0" anchor="t">
            <a:normAutofit/>
          </a:bodyPr>
          <a:lstStyle/>
          <a:p>
            <a:pPr algn="r" indent="0" marL="0">
              <a:buNone/>
            </a:pPr>
            <a:r>
              <a:rPr lang="en-US" sz="940" b="1" dirty="0">
                <a:solidFill>
                  <a:srgbClr val="D8E2EC"/>
                </a:solidFill>
                <a:latin typeface="Microsoft JhengHei" pitchFamily="34" charset="0"/>
                <a:ea typeface="Microsoft JhengHei" pitchFamily="34" charset="-122"/>
                <a:cs typeface="Microsoft JhengHei" pitchFamily="34" charset="-120"/>
              </a:rPr>
              <a:t>sLT 功率</a:t>
            </a:r>
            <a:endParaRPr lang="en-US" sz="940" dirty="0"/>
          </a:p>
        </p:txBody>
      </p:sp>
      <p:sp>
        <p:nvSpPr>
          <p:cNvPr id="67" name="Shape 65"/>
          <p:cNvSpPr/>
          <p:nvPr/>
        </p:nvSpPr>
        <p:spPr>
          <a:xfrm>
            <a:off x="7635240" y="4782312"/>
            <a:ext cx="2131009" cy="274320"/>
          </a:xfrm>
          <a:prstGeom prst="roundRect">
            <a:avLst/>
          </a:prstGeom>
          <a:solidFill>
            <a:srgbClr val="B7F06A"/>
          </a:solidFill>
          <a:ln w="12700">
            <a:solidFill>
              <a:srgbClr val="B7F06A">
                <a:alpha val="0"/>
              </a:srgbClr>
            </a:solidFill>
            <a:prstDash val="solid"/>
          </a:ln>
        </p:spPr>
      </p:sp>
      <p:sp>
        <p:nvSpPr>
          <p:cNvPr id="68" name="Text 66"/>
          <p:cNvSpPr txBox="1"/>
          <p:nvPr/>
        </p:nvSpPr>
        <p:spPr>
          <a:xfrm>
            <a:off x="9839401" y="4809744"/>
            <a:ext cx="384048" cy="173736"/>
          </a:xfrm>
          <a:prstGeom prst="rect">
            <a:avLst/>
          </a:prstGeom>
          <a:noFill/>
          <a:ln/>
        </p:spPr>
        <p:txBody>
          <a:bodyPr wrap="square" lIns="0" tIns="0" rIns="0" bIns="0" rtlCol="0" anchor="t">
            <a:normAutofit/>
          </a:bodyPr>
          <a:lstStyle/>
          <a:p>
            <a:pPr algn="l" indent="0" marL="0">
              <a:buNone/>
            </a:pPr>
            <a:r>
              <a:rPr lang="en-US" sz="920" b="1" dirty="0">
                <a:solidFill>
                  <a:srgbClr val="B7F06A"/>
                </a:solidFill>
                <a:latin typeface="Aptos" pitchFamily="34" charset="0"/>
                <a:ea typeface="Aptos" pitchFamily="34" charset="-122"/>
                <a:cs typeface="Aptos" pitchFamily="34" charset="-120"/>
              </a:rPr>
              <a:t>0.59</a:t>
            </a:r>
            <a:endParaRPr lang="en-US" sz="920" dirty="0"/>
          </a:p>
        </p:txBody>
      </p:sp>
      <p:sp>
        <p:nvSpPr>
          <p:cNvPr id="69" name="Text 67"/>
          <p:cNvSpPr txBox="1"/>
          <p:nvPr/>
        </p:nvSpPr>
        <p:spPr>
          <a:xfrm>
            <a:off x="9025128" y="5779008"/>
            <a:ext cx="1005840" cy="164592"/>
          </a:xfrm>
          <a:prstGeom prst="rect">
            <a:avLst/>
          </a:prstGeom>
          <a:noFill/>
          <a:ln/>
        </p:spPr>
        <p:txBody>
          <a:bodyPr wrap="square" lIns="0" tIns="0" rIns="0" bIns="0" rtlCol="0" anchor="t">
            <a:normAutofit/>
          </a:bodyPr>
          <a:lstStyle/>
          <a:p>
            <a:pPr algn="ctr" indent="0" marL="0">
              <a:buNone/>
            </a:pPr>
            <a:r>
              <a:rPr lang="en-US" sz="850" dirty="0">
                <a:solidFill>
                  <a:srgbClr val="93A4B6"/>
                </a:solidFill>
                <a:latin typeface="Aptos" pitchFamily="34" charset="0"/>
                <a:ea typeface="Aptos" pitchFamily="34" charset="-122"/>
                <a:cs typeface="Aptos" pitchFamily="34" charset="-120"/>
              </a:rPr>
              <a:t>Spearman rₛ</a:t>
            </a:r>
            <a:endParaRPr lang="en-US" sz="850" dirty="0"/>
          </a:p>
        </p:txBody>
      </p:sp>
      <p:sp>
        <p:nvSpPr>
          <p:cNvPr id="70" name="Text 68"/>
          <p:cNvSpPr txBox="1"/>
          <p:nvPr/>
        </p:nvSpPr>
        <p:spPr>
          <a:xfrm>
            <a:off x="3182112" y="6144768"/>
            <a:ext cx="5806440" cy="173736"/>
          </a:xfrm>
          <a:prstGeom prst="rect">
            <a:avLst/>
          </a:prstGeom>
          <a:noFill/>
          <a:ln/>
        </p:spPr>
        <p:txBody>
          <a:bodyPr wrap="square" lIns="0" tIns="0" rIns="0" bIns="0" rtlCol="0" anchor="t">
            <a:normAutofit/>
          </a:bodyPr>
          <a:lstStyle/>
          <a:p>
            <a:pPr algn="ctr" indent="0" marL="0">
              <a:buNone/>
            </a:pPr>
            <a:r>
              <a:rPr lang="en-US" sz="810" dirty="0">
                <a:solidFill>
                  <a:srgbClr val="93A4B6"/>
                </a:solidFill>
                <a:latin typeface="Microsoft JhengHei" pitchFamily="34" charset="0"/>
                <a:ea typeface="Microsoft JhengHei" pitchFamily="34" charset="-122"/>
                <a:cs typeface="Microsoft JhengHei" pitchFamily="34" charset="-120"/>
              </a:rPr>
              <a:t>所有相關均達 p &lt; 0.05；部分 p &lt; 0.01。條形長度只表達論文報告的相關係數。</a:t>
            </a:r>
            <a:endParaRPr lang="en-US" sz="81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0D4C7"/>
          </a:solidFill>
          <a:ln w="12700">
            <a:solidFill>
              <a:srgbClr val="20D4C7">
                <a:alpha val="0"/>
              </a:srgbClr>
            </a:solidFill>
            <a:prstDash val="solid"/>
          </a:ln>
        </p:spPr>
      </p:sp>
      <p:sp>
        <p:nvSpPr>
          <p:cNvPr id="3" name="Shape 1"/>
          <p:cNvSpPr/>
          <p:nvPr/>
        </p:nvSpPr>
        <p:spPr>
          <a:xfrm>
            <a:off x="10561320" y="-658368"/>
            <a:ext cx="2194560" cy="2194560"/>
          </a:xfrm>
          <a:prstGeom prst="ellipse">
            <a:avLst/>
          </a:prstGeom>
          <a:solidFill>
            <a:srgbClr val="20D4C7">
              <a:alpha val="8000"/>
            </a:srgbClr>
          </a:solidFill>
          <a:ln w="12700">
            <a:solidFill>
              <a:srgbClr val="20D4C7">
                <a:alpha val="0"/>
              </a:srgbClr>
            </a:solidFill>
            <a:prstDash val="solid"/>
          </a:ln>
        </p:spPr>
      </p:sp>
      <p:sp>
        <p:nvSpPr>
          <p:cNvPr id="4" name="Shape 2"/>
          <p:cNvSpPr/>
          <p:nvPr/>
        </p:nvSpPr>
        <p:spPr>
          <a:xfrm>
            <a:off x="502920" y="841248"/>
            <a:ext cx="11155680" cy="0"/>
          </a:xfrm>
          <a:prstGeom prst="line">
            <a:avLst/>
          </a:prstGeom>
          <a:noFill/>
          <a:ln w="12700">
            <a:solidFill>
              <a:srgbClr val="1E3A52"/>
            </a:solidFill>
            <a:prstDash val="solid"/>
          </a:ln>
        </p:spPr>
      </p:sp>
      <p:sp>
        <p:nvSpPr>
          <p:cNvPr id="5" name="Text 3"/>
          <p:cNvSpPr/>
          <p:nvPr/>
        </p:nvSpPr>
        <p:spPr>
          <a:xfrm>
            <a:off x="566928" y="237744"/>
            <a:ext cx="2926080" cy="219456"/>
          </a:xfrm>
          <a:prstGeom prst="rect">
            <a:avLst/>
          </a:prstGeom>
          <a:noFill/>
          <a:ln/>
        </p:spPr>
        <p:txBody>
          <a:bodyPr wrap="square" lIns="0" tIns="0" rIns="0" bIns="0" rtlCol="0" anchor="ctr">
            <a:normAutofit/>
          </a:bodyPr>
          <a:lstStyle/>
          <a:p>
            <a:pPr indent="0" marL="0">
              <a:buNone/>
            </a:pPr>
            <a:r>
              <a:rPr lang="en-US" sz="850" b="1" spc="130" kern="0" dirty="0">
                <a:solidFill>
                  <a:srgbClr val="20D4C7"/>
                </a:solidFill>
                <a:latin typeface="Aptos" pitchFamily="34" charset="0"/>
                <a:ea typeface="Aptos" pitchFamily="34" charset="-122"/>
                <a:cs typeface="Aptos" pitchFamily="34" charset="-120"/>
              </a:rPr>
              <a:t>STATISTICAL READING</a:t>
            </a:r>
            <a:endParaRPr lang="en-US" sz="850" dirty="0"/>
          </a:p>
        </p:txBody>
      </p:sp>
      <p:sp>
        <p:nvSpPr>
          <p:cNvPr id="6" name="Text 4"/>
          <p:cNvSpPr/>
          <p:nvPr/>
        </p:nvSpPr>
        <p:spPr>
          <a:xfrm>
            <a:off x="566928" y="420624"/>
            <a:ext cx="10881360" cy="365760"/>
          </a:xfrm>
          <a:prstGeom prst="rect">
            <a:avLst/>
          </a:prstGeom>
          <a:noFill/>
          <a:ln/>
        </p:spPr>
        <p:txBody>
          <a:bodyPr wrap="square" lIns="0" tIns="0" rIns="0" bIns="0" rtlCol="0" anchor="ctr">
            <a:normAutofit/>
          </a:bodyPr>
          <a:lstStyle/>
          <a:p>
            <a:pPr indent="0" marL="0">
              <a:buNone/>
            </a:pPr>
            <a:r>
              <a:rPr lang="en-US" sz="2300" b="1" dirty="0">
                <a:solidFill>
                  <a:srgbClr val="F5F7FA"/>
                </a:solidFill>
                <a:latin typeface="Microsoft JhengHei" pitchFamily="34" charset="0"/>
                <a:ea typeface="Microsoft JhengHei" pitchFamily="34" charset="-122"/>
                <a:cs typeface="Microsoft JhengHei" pitchFamily="34" charset="-120"/>
              </a:rPr>
              <a:t>研究 2｜r = 0.64、ICC = 0.777、MDC₉₅ 各代表什麼？</a:t>
            </a:r>
            <a:endParaRPr lang="en-US" sz="2300" dirty="0"/>
          </a:p>
        </p:txBody>
      </p:sp>
      <p:sp>
        <p:nvSpPr>
          <p:cNvPr id="7" name="Text 5"/>
          <p:cNvSpPr/>
          <p:nvPr/>
        </p:nvSpPr>
        <p:spPr>
          <a:xfrm>
            <a:off x="11109960" y="6519672"/>
            <a:ext cx="502920" cy="164592"/>
          </a:xfrm>
          <a:prstGeom prst="rect">
            <a:avLst/>
          </a:prstGeom>
          <a:noFill/>
          <a:ln/>
        </p:spPr>
        <p:txBody>
          <a:bodyPr wrap="square" lIns="0" tIns="0" rIns="0" bIns="0" rtlCol="0" anchor="ctr"/>
          <a:lstStyle/>
          <a:p>
            <a:pPr algn="r" indent="0" marL="0">
              <a:buNone/>
            </a:pPr>
            <a:r>
              <a:rPr lang="en-US" sz="850" b="1" dirty="0">
                <a:solidFill>
                  <a:srgbClr val="20D4C7"/>
                </a:solidFill>
                <a:latin typeface="Aptos" pitchFamily="34" charset="0"/>
                <a:ea typeface="Aptos" pitchFamily="34" charset="-122"/>
                <a:cs typeface="Aptos" pitchFamily="34" charset="-120"/>
              </a:rPr>
              <a:t>10</a:t>
            </a:r>
            <a:endParaRPr lang="en-US" sz="850" dirty="0"/>
          </a:p>
        </p:txBody>
      </p:sp>
      <p:sp>
        <p:nvSpPr>
          <p:cNvPr id="8" name="Shape 6"/>
          <p:cNvSpPr/>
          <p:nvPr/>
        </p:nvSpPr>
        <p:spPr>
          <a:xfrm>
            <a:off x="658368" y="1243584"/>
            <a:ext cx="10972800" cy="1024128"/>
          </a:xfrm>
          <a:prstGeom prst="roundRect">
            <a:avLst>
              <a:gd name="adj" fmla="val 7143"/>
            </a:avLst>
          </a:prstGeom>
          <a:solidFill>
            <a:srgbClr val="0E1D2E"/>
          </a:solidFill>
          <a:ln w="12700">
            <a:solidFill>
              <a:srgbClr val="20D4C7"/>
            </a:solidFill>
            <a:prstDash val="solid"/>
          </a:ln>
        </p:spPr>
      </p:sp>
      <p:sp>
        <p:nvSpPr>
          <p:cNvPr id="9" name="Text 7"/>
          <p:cNvSpPr txBox="1"/>
          <p:nvPr/>
        </p:nvSpPr>
        <p:spPr>
          <a:xfrm>
            <a:off x="896112" y="1453896"/>
            <a:ext cx="1600200" cy="365760"/>
          </a:xfrm>
          <a:prstGeom prst="rect">
            <a:avLst/>
          </a:prstGeom>
          <a:noFill/>
          <a:ln/>
        </p:spPr>
        <p:txBody>
          <a:bodyPr wrap="square" lIns="0" tIns="0" rIns="0" bIns="0" rtlCol="0" anchor="t">
            <a:normAutofit/>
          </a:bodyPr>
          <a:lstStyle/>
          <a:p>
            <a:pPr algn="ctr" indent="0" marL="0">
              <a:buNone/>
            </a:pPr>
            <a:r>
              <a:rPr lang="en-US" sz="2100" b="1" dirty="0">
                <a:solidFill>
                  <a:srgbClr val="20D4C7"/>
                </a:solidFill>
                <a:latin typeface="Aptos" pitchFamily="34" charset="0"/>
                <a:ea typeface="Aptos" pitchFamily="34" charset="-122"/>
                <a:cs typeface="Aptos" pitchFamily="34" charset="-120"/>
              </a:rPr>
              <a:t>rₛ = 0.64</a:t>
            </a:r>
            <a:endParaRPr lang="en-US" sz="2100" dirty="0"/>
          </a:p>
        </p:txBody>
      </p:sp>
      <p:sp>
        <p:nvSpPr>
          <p:cNvPr id="10" name="Shape 8"/>
          <p:cNvSpPr/>
          <p:nvPr/>
        </p:nvSpPr>
        <p:spPr>
          <a:xfrm>
            <a:off x="2688336" y="1417320"/>
            <a:ext cx="0" cy="640080"/>
          </a:xfrm>
          <a:prstGeom prst="line">
            <a:avLst/>
          </a:prstGeom>
          <a:noFill/>
          <a:ln w="12700">
            <a:solidFill>
              <a:srgbClr val="1E3A52"/>
            </a:solidFill>
            <a:prstDash val="solid"/>
          </a:ln>
        </p:spPr>
      </p:sp>
      <p:sp>
        <p:nvSpPr>
          <p:cNvPr id="11" name="Text 9"/>
          <p:cNvSpPr txBox="1"/>
          <p:nvPr/>
        </p:nvSpPr>
        <p:spPr>
          <a:xfrm>
            <a:off x="2953512" y="1444752"/>
            <a:ext cx="2267712" cy="283464"/>
          </a:xfrm>
          <a:prstGeom prst="rect">
            <a:avLst/>
          </a:prstGeom>
          <a:noFill/>
          <a:ln/>
        </p:spPr>
        <p:txBody>
          <a:bodyPr wrap="square" lIns="0" tIns="0" rIns="0" bIns="0" rtlCol="0" anchor="t">
            <a:normAutofit/>
          </a:bodyPr>
          <a:lstStyle/>
          <a:p>
            <a:pPr algn="l" indent="0" marL="0">
              <a:buNone/>
            </a:pPr>
            <a:r>
              <a:rPr lang="en-US" sz="1400" b="1" dirty="0">
                <a:solidFill>
                  <a:srgbClr val="F5F7FA"/>
                </a:solidFill>
                <a:latin typeface="Microsoft JhengHei" pitchFamily="34" charset="0"/>
                <a:ea typeface="Microsoft JhengHei" pitchFamily="34" charset="-122"/>
                <a:cs typeface="Microsoft JhengHei" pitchFamily="34" charset="-120"/>
              </a:rPr>
              <a:t>中度正向單調相關</a:t>
            </a:r>
            <a:endParaRPr lang="en-US" sz="1400" dirty="0"/>
          </a:p>
        </p:txBody>
      </p:sp>
      <p:sp>
        <p:nvSpPr>
          <p:cNvPr id="12" name="Text 10"/>
          <p:cNvSpPr txBox="1"/>
          <p:nvPr/>
        </p:nvSpPr>
        <p:spPr>
          <a:xfrm>
            <a:off x="5358384" y="1408176"/>
            <a:ext cx="5925312" cy="530352"/>
          </a:xfrm>
          <a:prstGeom prst="rect">
            <a:avLst/>
          </a:prstGeom>
          <a:noFill/>
          <a:ln/>
        </p:spPr>
        <p:txBody>
          <a:bodyPr wrap="square" lIns="0" tIns="0" rIns="0" bIns="0" rtlCol="0" anchor="ctr">
            <a:normAutofit/>
          </a:bodyPr>
          <a:lstStyle/>
          <a:p>
            <a:pPr algn="l" indent="0" marL="0">
              <a:buNone/>
            </a:pPr>
            <a:r>
              <a:rPr lang="en-US" sz="1070" dirty="0">
                <a:solidFill>
                  <a:srgbClr val="D8E2EC"/>
                </a:solidFill>
                <a:latin typeface="Microsoft JhengHei" pitchFamily="34" charset="0"/>
                <a:ea typeface="Microsoft JhengHei" pitchFamily="34" charset="-122"/>
                <a:cs typeface="Microsoft JhengHei" pitchFamily="34" charset="-120"/>
              </a:rPr>
              <a:t>高速度距離較多的人，傾向出現更大的 sLT 時間位移；不是每位球員都能準確預測。</a:t>
            </a:r>
            <a:endParaRPr lang="en-US" sz="1070" dirty="0"/>
          </a:p>
        </p:txBody>
      </p:sp>
      <p:sp>
        <p:nvSpPr>
          <p:cNvPr id="13" name="Shape 11"/>
          <p:cNvSpPr/>
          <p:nvPr/>
        </p:nvSpPr>
        <p:spPr>
          <a:xfrm>
            <a:off x="658368" y="2496312"/>
            <a:ext cx="10972800" cy="1024128"/>
          </a:xfrm>
          <a:prstGeom prst="roundRect">
            <a:avLst>
              <a:gd name="adj" fmla="val 7143"/>
            </a:avLst>
          </a:prstGeom>
          <a:solidFill>
            <a:srgbClr val="12263A"/>
          </a:solidFill>
          <a:ln w="12700">
            <a:solidFill>
              <a:srgbClr val="FF9B5E"/>
            </a:solidFill>
            <a:prstDash val="solid"/>
          </a:ln>
        </p:spPr>
      </p:sp>
      <p:sp>
        <p:nvSpPr>
          <p:cNvPr id="14" name="Text 12"/>
          <p:cNvSpPr txBox="1"/>
          <p:nvPr/>
        </p:nvSpPr>
        <p:spPr>
          <a:xfrm>
            <a:off x="896112" y="2706624"/>
            <a:ext cx="1600200" cy="365760"/>
          </a:xfrm>
          <a:prstGeom prst="rect">
            <a:avLst/>
          </a:prstGeom>
          <a:noFill/>
          <a:ln/>
        </p:spPr>
        <p:txBody>
          <a:bodyPr wrap="square" lIns="0" tIns="0" rIns="0" bIns="0" rtlCol="0" anchor="t">
            <a:normAutofit/>
          </a:bodyPr>
          <a:lstStyle/>
          <a:p>
            <a:pPr algn="ctr" indent="0" marL="0">
              <a:buNone/>
            </a:pPr>
            <a:r>
              <a:rPr lang="en-US" sz="2100" b="1" dirty="0">
                <a:solidFill>
                  <a:srgbClr val="FF9B5E"/>
                </a:solidFill>
                <a:latin typeface="Aptos" pitchFamily="34" charset="0"/>
                <a:ea typeface="Aptos" pitchFamily="34" charset="-122"/>
                <a:cs typeface="Aptos" pitchFamily="34" charset="-120"/>
              </a:rPr>
              <a:t>rₛ² ≈ 0.41</a:t>
            </a:r>
            <a:endParaRPr lang="en-US" sz="2100" dirty="0"/>
          </a:p>
        </p:txBody>
      </p:sp>
      <p:sp>
        <p:nvSpPr>
          <p:cNvPr id="15" name="Shape 13"/>
          <p:cNvSpPr/>
          <p:nvPr/>
        </p:nvSpPr>
        <p:spPr>
          <a:xfrm>
            <a:off x="2688336" y="2670048"/>
            <a:ext cx="0" cy="640080"/>
          </a:xfrm>
          <a:prstGeom prst="line">
            <a:avLst/>
          </a:prstGeom>
          <a:noFill/>
          <a:ln w="12700">
            <a:solidFill>
              <a:srgbClr val="1E3A52"/>
            </a:solidFill>
            <a:prstDash val="solid"/>
          </a:ln>
        </p:spPr>
      </p:sp>
      <p:sp>
        <p:nvSpPr>
          <p:cNvPr id="16" name="Text 14"/>
          <p:cNvSpPr txBox="1"/>
          <p:nvPr/>
        </p:nvSpPr>
        <p:spPr>
          <a:xfrm>
            <a:off x="2953512" y="2697480"/>
            <a:ext cx="2267712" cy="283464"/>
          </a:xfrm>
          <a:prstGeom prst="rect">
            <a:avLst/>
          </a:prstGeom>
          <a:noFill/>
          <a:ln/>
        </p:spPr>
        <p:txBody>
          <a:bodyPr wrap="square" lIns="0" tIns="0" rIns="0" bIns="0" rtlCol="0" anchor="t">
            <a:normAutofit/>
          </a:bodyPr>
          <a:lstStyle/>
          <a:p>
            <a:pPr algn="l" indent="0" marL="0">
              <a:buNone/>
            </a:pPr>
            <a:r>
              <a:rPr lang="en-US" sz="1400" b="1" dirty="0">
                <a:solidFill>
                  <a:srgbClr val="F5F7FA"/>
                </a:solidFill>
                <a:latin typeface="Microsoft JhengHei" pitchFamily="34" charset="0"/>
                <a:ea typeface="Microsoft JhengHei" pitchFamily="34" charset="-122"/>
                <a:cs typeface="Microsoft JhengHei" pitchFamily="34" charset="-120"/>
              </a:rPr>
              <a:t>僅作粗略直覺</a:t>
            </a:r>
            <a:endParaRPr lang="en-US" sz="1400" dirty="0"/>
          </a:p>
        </p:txBody>
      </p:sp>
      <p:sp>
        <p:nvSpPr>
          <p:cNvPr id="17" name="Text 15"/>
          <p:cNvSpPr txBox="1"/>
          <p:nvPr/>
        </p:nvSpPr>
        <p:spPr>
          <a:xfrm>
            <a:off x="5358384" y="2660904"/>
            <a:ext cx="5925312" cy="530352"/>
          </a:xfrm>
          <a:prstGeom prst="rect">
            <a:avLst/>
          </a:prstGeom>
          <a:noFill/>
          <a:ln/>
        </p:spPr>
        <p:txBody>
          <a:bodyPr wrap="square" lIns="0" tIns="0" rIns="0" bIns="0" rtlCol="0" anchor="ctr">
            <a:normAutofit/>
          </a:bodyPr>
          <a:lstStyle/>
          <a:p>
            <a:pPr algn="l" indent="0" marL="0">
              <a:buNone/>
            </a:pPr>
            <a:r>
              <a:rPr lang="en-US" sz="1070" dirty="0">
                <a:solidFill>
                  <a:srgbClr val="D8E2EC"/>
                </a:solidFill>
                <a:latin typeface="Microsoft JhengHei" pitchFamily="34" charset="0"/>
                <a:ea typeface="Microsoft JhengHei" pitchFamily="34" charset="-122"/>
                <a:cs typeface="Microsoft JhengHei" pitchFamily="34" charset="-120"/>
              </a:rPr>
              <a:t>作者以約 41% 描述解釋變異量級；這不是個人預測準確率，其餘仍受睡眠、營養、接觸與個體差異影響。</a:t>
            </a:r>
            <a:endParaRPr lang="en-US" sz="1070" dirty="0"/>
          </a:p>
        </p:txBody>
      </p:sp>
      <p:sp>
        <p:nvSpPr>
          <p:cNvPr id="18" name="Shape 16"/>
          <p:cNvSpPr/>
          <p:nvPr/>
        </p:nvSpPr>
        <p:spPr>
          <a:xfrm>
            <a:off x="658368" y="3749040"/>
            <a:ext cx="10972800" cy="1024128"/>
          </a:xfrm>
          <a:prstGeom prst="roundRect">
            <a:avLst>
              <a:gd name="adj" fmla="val 7143"/>
            </a:avLst>
          </a:prstGeom>
          <a:solidFill>
            <a:srgbClr val="0E1D2E"/>
          </a:solidFill>
          <a:ln w="12700">
            <a:solidFill>
              <a:srgbClr val="6BB7FF"/>
            </a:solidFill>
            <a:prstDash val="solid"/>
          </a:ln>
        </p:spPr>
      </p:sp>
      <p:sp>
        <p:nvSpPr>
          <p:cNvPr id="19" name="Text 17"/>
          <p:cNvSpPr txBox="1"/>
          <p:nvPr/>
        </p:nvSpPr>
        <p:spPr>
          <a:xfrm>
            <a:off x="896112" y="3959352"/>
            <a:ext cx="1600200" cy="365760"/>
          </a:xfrm>
          <a:prstGeom prst="rect">
            <a:avLst/>
          </a:prstGeom>
          <a:noFill/>
          <a:ln/>
        </p:spPr>
        <p:txBody>
          <a:bodyPr wrap="square" lIns="0" tIns="0" rIns="0" bIns="0" rtlCol="0" anchor="t">
            <a:normAutofit/>
          </a:bodyPr>
          <a:lstStyle/>
          <a:p>
            <a:pPr algn="ctr" indent="0" marL="0">
              <a:buNone/>
            </a:pPr>
            <a:r>
              <a:rPr lang="en-US" sz="2100" b="1" dirty="0">
                <a:solidFill>
                  <a:srgbClr val="6BB7FF"/>
                </a:solidFill>
                <a:latin typeface="Aptos" pitchFamily="34" charset="0"/>
                <a:ea typeface="Aptos" pitchFamily="34" charset="-122"/>
                <a:cs typeface="Aptos" pitchFamily="34" charset="-120"/>
              </a:rPr>
              <a:t>ICC = 0.777</a:t>
            </a:r>
            <a:endParaRPr lang="en-US" sz="2100" dirty="0"/>
          </a:p>
        </p:txBody>
      </p:sp>
      <p:sp>
        <p:nvSpPr>
          <p:cNvPr id="20" name="Shape 18"/>
          <p:cNvSpPr/>
          <p:nvPr/>
        </p:nvSpPr>
        <p:spPr>
          <a:xfrm>
            <a:off x="2688336" y="3922776"/>
            <a:ext cx="0" cy="640080"/>
          </a:xfrm>
          <a:prstGeom prst="line">
            <a:avLst/>
          </a:prstGeom>
          <a:noFill/>
          <a:ln w="12700">
            <a:solidFill>
              <a:srgbClr val="1E3A52"/>
            </a:solidFill>
            <a:prstDash val="solid"/>
          </a:ln>
        </p:spPr>
      </p:sp>
      <p:sp>
        <p:nvSpPr>
          <p:cNvPr id="21" name="Text 19"/>
          <p:cNvSpPr txBox="1"/>
          <p:nvPr/>
        </p:nvSpPr>
        <p:spPr>
          <a:xfrm>
            <a:off x="2953512" y="3950208"/>
            <a:ext cx="2267712" cy="283464"/>
          </a:xfrm>
          <a:prstGeom prst="rect">
            <a:avLst/>
          </a:prstGeom>
          <a:noFill/>
          <a:ln/>
        </p:spPr>
        <p:txBody>
          <a:bodyPr wrap="square" lIns="0" tIns="0" rIns="0" bIns="0" rtlCol="0" anchor="t">
            <a:normAutofit/>
          </a:bodyPr>
          <a:lstStyle/>
          <a:p>
            <a:pPr algn="l" indent="0" marL="0">
              <a:buNone/>
            </a:pPr>
            <a:r>
              <a:rPr lang="en-US" sz="1400" b="1" dirty="0">
                <a:solidFill>
                  <a:srgbClr val="F5F7FA"/>
                </a:solidFill>
                <a:latin typeface="Microsoft JhengHei" pitchFamily="34" charset="0"/>
                <a:ea typeface="Microsoft JhengHei" pitchFamily="34" charset="-122"/>
                <a:cs typeface="Microsoft JhengHei" pitchFamily="34" charset="-120"/>
              </a:rPr>
              <a:t>群體層級中度至良好</a:t>
            </a:r>
            <a:endParaRPr lang="en-US" sz="1400" dirty="0"/>
          </a:p>
        </p:txBody>
      </p:sp>
      <p:sp>
        <p:nvSpPr>
          <p:cNvPr id="22" name="Text 20"/>
          <p:cNvSpPr txBox="1"/>
          <p:nvPr/>
        </p:nvSpPr>
        <p:spPr>
          <a:xfrm>
            <a:off x="5358384" y="3913632"/>
            <a:ext cx="5925312" cy="530352"/>
          </a:xfrm>
          <a:prstGeom prst="rect">
            <a:avLst/>
          </a:prstGeom>
          <a:noFill/>
          <a:ln/>
        </p:spPr>
        <p:txBody>
          <a:bodyPr wrap="square" lIns="0" tIns="0" rIns="0" bIns="0" rtlCol="0" anchor="ctr">
            <a:normAutofit/>
          </a:bodyPr>
          <a:lstStyle/>
          <a:p>
            <a:pPr algn="l" indent="0" marL="0">
              <a:buNone/>
            </a:pPr>
            <a:r>
              <a:rPr lang="en-US" sz="1070" dirty="0">
                <a:solidFill>
                  <a:srgbClr val="D8E2EC"/>
                </a:solidFill>
                <a:latin typeface="Microsoft JhengHei" pitchFamily="34" charset="0"/>
                <a:ea typeface="Microsoft JhengHei" pitchFamily="34" charset="-122"/>
                <a:cs typeface="Microsoft JhengHei" pitchFamily="34" charset="-120"/>
              </a:rPr>
              <a:t>作者指出，個人監測常希望 ICC ≥ 0.90；因此單次個人決策仍需保守。</a:t>
            </a:r>
            <a:endParaRPr lang="en-US" sz="1070" dirty="0"/>
          </a:p>
        </p:txBody>
      </p:sp>
      <p:sp>
        <p:nvSpPr>
          <p:cNvPr id="23" name="Shape 21"/>
          <p:cNvSpPr/>
          <p:nvPr/>
        </p:nvSpPr>
        <p:spPr>
          <a:xfrm>
            <a:off x="658368" y="5001768"/>
            <a:ext cx="10972800" cy="1024128"/>
          </a:xfrm>
          <a:prstGeom prst="roundRect">
            <a:avLst>
              <a:gd name="adj" fmla="val 7143"/>
            </a:avLst>
          </a:prstGeom>
          <a:solidFill>
            <a:srgbClr val="12263A"/>
          </a:solidFill>
          <a:ln w="12700">
            <a:solidFill>
              <a:srgbClr val="B7F06A"/>
            </a:solidFill>
            <a:prstDash val="solid"/>
          </a:ln>
        </p:spPr>
      </p:sp>
      <p:sp>
        <p:nvSpPr>
          <p:cNvPr id="24" name="Text 22"/>
          <p:cNvSpPr txBox="1"/>
          <p:nvPr/>
        </p:nvSpPr>
        <p:spPr>
          <a:xfrm>
            <a:off x="896112" y="5212080"/>
            <a:ext cx="1600200" cy="365760"/>
          </a:xfrm>
          <a:prstGeom prst="rect">
            <a:avLst/>
          </a:prstGeom>
          <a:noFill/>
          <a:ln/>
        </p:spPr>
        <p:txBody>
          <a:bodyPr wrap="square" lIns="0" tIns="0" rIns="0" bIns="0" rtlCol="0" anchor="t">
            <a:normAutofit/>
          </a:bodyPr>
          <a:lstStyle/>
          <a:p>
            <a:pPr algn="ctr" indent="0" marL="0">
              <a:buNone/>
            </a:pPr>
            <a:r>
              <a:rPr lang="en-US" sz="2100" b="1" dirty="0">
                <a:solidFill>
                  <a:srgbClr val="B7F06A"/>
                </a:solidFill>
                <a:latin typeface="Aptos" pitchFamily="34" charset="0"/>
                <a:ea typeface="Aptos" pitchFamily="34" charset="-122"/>
                <a:cs typeface="Aptos" pitchFamily="34" charset="-120"/>
              </a:rPr>
              <a:t>MDC₉₅ = 25 s / 10.5 W</a:t>
            </a:r>
            <a:endParaRPr lang="en-US" sz="2100" dirty="0"/>
          </a:p>
        </p:txBody>
      </p:sp>
      <p:sp>
        <p:nvSpPr>
          <p:cNvPr id="25" name="Shape 23"/>
          <p:cNvSpPr/>
          <p:nvPr/>
        </p:nvSpPr>
        <p:spPr>
          <a:xfrm>
            <a:off x="2688336" y="5175504"/>
            <a:ext cx="0" cy="640080"/>
          </a:xfrm>
          <a:prstGeom prst="line">
            <a:avLst/>
          </a:prstGeom>
          <a:noFill/>
          <a:ln w="12700">
            <a:solidFill>
              <a:srgbClr val="1E3A52"/>
            </a:solidFill>
            <a:prstDash val="solid"/>
          </a:ln>
        </p:spPr>
      </p:sp>
      <p:sp>
        <p:nvSpPr>
          <p:cNvPr id="26" name="Text 24"/>
          <p:cNvSpPr txBox="1"/>
          <p:nvPr/>
        </p:nvSpPr>
        <p:spPr>
          <a:xfrm>
            <a:off x="2953512" y="5202936"/>
            <a:ext cx="2267712" cy="283464"/>
          </a:xfrm>
          <a:prstGeom prst="rect">
            <a:avLst/>
          </a:prstGeom>
          <a:noFill/>
          <a:ln/>
        </p:spPr>
        <p:txBody>
          <a:bodyPr wrap="square" lIns="0" tIns="0" rIns="0" bIns="0" rtlCol="0" anchor="t">
            <a:normAutofit/>
          </a:bodyPr>
          <a:lstStyle/>
          <a:p>
            <a:pPr algn="l" indent="0" marL="0">
              <a:buNone/>
            </a:pPr>
            <a:r>
              <a:rPr lang="en-US" sz="1400" b="1" dirty="0">
                <a:solidFill>
                  <a:srgbClr val="F5F7FA"/>
                </a:solidFill>
                <a:latin typeface="Microsoft JhengHei" pitchFamily="34" charset="0"/>
                <a:ea typeface="Microsoft JhengHei" pitchFamily="34" charset="-122"/>
                <a:cs typeface="Microsoft JhengHei" pitchFamily="34" charset="-120"/>
              </a:rPr>
              <a:t>超過量測誤差，不等於疲勞切點</a:t>
            </a:r>
            <a:endParaRPr lang="en-US" sz="1400" dirty="0"/>
          </a:p>
        </p:txBody>
      </p:sp>
      <p:sp>
        <p:nvSpPr>
          <p:cNvPr id="27" name="Text 25"/>
          <p:cNvSpPr txBox="1"/>
          <p:nvPr/>
        </p:nvSpPr>
        <p:spPr>
          <a:xfrm>
            <a:off x="5358384" y="5166360"/>
            <a:ext cx="5925312" cy="530352"/>
          </a:xfrm>
          <a:prstGeom prst="rect">
            <a:avLst/>
          </a:prstGeom>
          <a:noFill/>
          <a:ln/>
        </p:spPr>
        <p:txBody>
          <a:bodyPr wrap="square" lIns="0" tIns="0" rIns="0" bIns="0" rtlCol="0" anchor="ctr">
            <a:normAutofit/>
          </a:bodyPr>
          <a:lstStyle/>
          <a:p>
            <a:pPr algn="l" indent="0" marL="0">
              <a:buNone/>
            </a:pPr>
            <a:r>
              <a:rPr lang="en-US" sz="1070" dirty="0">
                <a:solidFill>
                  <a:srgbClr val="D8E2EC"/>
                </a:solidFill>
                <a:latin typeface="Microsoft JhengHei" pitchFamily="34" charset="0"/>
                <a:ea typeface="Microsoft JhengHei" pitchFamily="34" charset="-122"/>
                <a:cs typeface="Microsoft JhengHei" pitchFamily="34" charset="-120"/>
              </a:rPr>
              <a:t>只能用於該裝置、該流程、該樣本；LA-01 必須自己做重測估計。</a:t>
            </a:r>
            <a:endParaRPr lang="en-US" sz="1070" dirty="0"/>
          </a:p>
        </p:txBody>
      </p:sp>
      <p:sp>
        <p:nvSpPr>
          <p:cNvPr id="28" name="Text 26"/>
          <p:cNvSpPr txBox="1"/>
          <p:nvPr/>
        </p:nvSpPr>
        <p:spPr>
          <a:xfrm>
            <a:off x="2578608" y="6199632"/>
            <a:ext cx="7040880" cy="164592"/>
          </a:xfrm>
          <a:prstGeom prst="rect">
            <a:avLst/>
          </a:prstGeom>
          <a:noFill/>
          <a:ln/>
        </p:spPr>
        <p:txBody>
          <a:bodyPr wrap="square" lIns="0" tIns="0" rIns="0" bIns="0" rtlCol="0" anchor="t">
            <a:normAutofit/>
          </a:bodyPr>
          <a:lstStyle/>
          <a:p>
            <a:pPr algn="ctr" indent="0" marL="0">
              <a:buNone/>
            </a:pPr>
            <a:r>
              <a:rPr lang="en-US" sz="840" dirty="0">
                <a:solidFill>
                  <a:srgbClr val="93A4B6"/>
                </a:solidFill>
                <a:latin typeface="Microsoft JhengHei" pitchFamily="34" charset="0"/>
                <a:ea typeface="Microsoft JhengHei" pitchFamily="34" charset="-122"/>
                <a:cs typeface="Microsoft JhengHei" pitchFamily="34" charset="-120"/>
              </a:rPr>
              <a:t>注意：Spearman rₛ 的平方不是正式個體預測模型 R²；此處只用來建立量級直覺。</a:t>
            </a:r>
            <a:endParaRPr lang="en-US" sz="8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0D4C7"/>
          </a:solidFill>
          <a:ln w="12700">
            <a:solidFill>
              <a:srgbClr val="20D4C7">
                <a:alpha val="0"/>
              </a:srgbClr>
            </a:solidFill>
            <a:prstDash val="solid"/>
          </a:ln>
        </p:spPr>
      </p:sp>
      <p:sp>
        <p:nvSpPr>
          <p:cNvPr id="3" name="Shape 1"/>
          <p:cNvSpPr/>
          <p:nvPr/>
        </p:nvSpPr>
        <p:spPr>
          <a:xfrm>
            <a:off x="10561320" y="-658368"/>
            <a:ext cx="2194560" cy="2194560"/>
          </a:xfrm>
          <a:prstGeom prst="ellipse">
            <a:avLst/>
          </a:prstGeom>
          <a:solidFill>
            <a:srgbClr val="20D4C7">
              <a:alpha val="8000"/>
            </a:srgbClr>
          </a:solidFill>
          <a:ln w="12700">
            <a:solidFill>
              <a:srgbClr val="20D4C7">
                <a:alpha val="0"/>
              </a:srgbClr>
            </a:solidFill>
            <a:prstDash val="solid"/>
          </a:ln>
        </p:spPr>
      </p:sp>
      <p:sp>
        <p:nvSpPr>
          <p:cNvPr id="4" name="Shape 2"/>
          <p:cNvSpPr/>
          <p:nvPr/>
        </p:nvSpPr>
        <p:spPr>
          <a:xfrm>
            <a:off x="502920" y="841248"/>
            <a:ext cx="11155680" cy="0"/>
          </a:xfrm>
          <a:prstGeom prst="line">
            <a:avLst/>
          </a:prstGeom>
          <a:noFill/>
          <a:ln w="12700">
            <a:solidFill>
              <a:srgbClr val="1E3A52"/>
            </a:solidFill>
            <a:prstDash val="solid"/>
          </a:ln>
        </p:spPr>
      </p:sp>
      <p:sp>
        <p:nvSpPr>
          <p:cNvPr id="5" name="Text 3"/>
          <p:cNvSpPr/>
          <p:nvPr/>
        </p:nvSpPr>
        <p:spPr>
          <a:xfrm>
            <a:off x="566928" y="237744"/>
            <a:ext cx="2926080" cy="219456"/>
          </a:xfrm>
          <a:prstGeom prst="rect">
            <a:avLst/>
          </a:prstGeom>
          <a:noFill/>
          <a:ln/>
        </p:spPr>
        <p:txBody>
          <a:bodyPr wrap="square" lIns="0" tIns="0" rIns="0" bIns="0" rtlCol="0" anchor="ctr">
            <a:normAutofit/>
          </a:bodyPr>
          <a:lstStyle/>
          <a:p>
            <a:pPr indent="0" marL="0">
              <a:buNone/>
            </a:pPr>
            <a:r>
              <a:rPr lang="en-US" sz="850" b="1" spc="130" kern="0" dirty="0">
                <a:solidFill>
                  <a:srgbClr val="20D4C7"/>
                </a:solidFill>
                <a:latin typeface="Aptos" pitchFamily="34" charset="0"/>
                <a:ea typeface="Aptos" pitchFamily="34" charset="-122"/>
                <a:cs typeface="Aptos" pitchFamily="34" charset="-120"/>
              </a:rPr>
              <a:t>STUDY 02 · CRITICAL APPRAISAL</a:t>
            </a:r>
            <a:endParaRPr lang="en-US" sz="850" dirty="0"/>
          </a:p>
        </p:txBody>
      </p:sp>
      <p:sp>
        <p:nvSpPr>
          <p:cNvPr id="6" name="Text 4"/>
          <p:cNvSpPr/>
          <p:nvPr/>
        </p:nvSpPr>
        <p:spPr>
          <a:xfrm>
            <a:off x="566928" y="420624"/>
            <a:ext cx="10881360" cy="365760"/>
          </a:xfrm>
          <a:prstGeom prst="rect">
            <a:avLst/>
          </a:prstGeom>
          <a:noFill/>
          <a:ln/>
        </p:spPr>
        <p:txBody>
          <a:bodyPr wrap="square" lIns="0" tIns="0" rIns="0" bIns="0" rtlCol="0" anchor="ctr">
            <a:normAutofit/>
          </a:bodyPr>
          <a:lstStyle/>
          <a:p>
            <a:pPr indent="0" marL="0">
              <a:buNone/>
            </a:pPr>
            <a:r>
              <a:rPr lang="en-US" sz="2300" b="1" dirty="0">
                <a:solidFill>
                  <a:srgbClr val="F5F7FA"/>
                </a:solidFill>
                <a:latin typeface="Microsoft JhengHei" pitchFamily="34" charset="0"/>
                <a:ea typeface="Microsoft JhengHei" pitchFamily="34" charset="-122"/>
                <a:cs typeface="Microsoft JhengHei" pitchFamily="34" charset="-120"/>
              </a:rPr>
              <a:t>研究 2｜外部情境更真實，但仍不是臨床驗證</a:t>
            </a:r>
            <a:endParaRPr lang="en-US" sz="2300" dirty="0"/>
          </a:p>
        </p:txBody>
      </p:sp>
      <p:sp>
        <p:nvSpPr>
          <p:cNvPr id="7" name="Text 5"/>
          <p:cNvSpPr/>
          <p:nvPr/>
        </p:nvSpPr>
        <p:spPr>
          <a:xfrm>
            <a:off x="11109960" y="6519672"/>
            <a:ext cx="502920" cy="164592"/>
          </a:xfrm>
          <a:prstGeom prst="rect">
            <a:avLst/>
          </a:prstGeom>
          <a:noFill/>
          <a:ln/>
        </p:spPr>
        <p:txBody>
          <a:bodyPr wrap="square" lIns="0" tIns="0" rIns="0" bIns="0" rtlCol="0" anchor="ctr"/>
          <a:lstStyle/>
          <a:p>
            <a:pPr algn="r" indent="0" marL="0">
              <a:buNone/>
            </a:pPr>
            <a:r>
              <a:rPr lang="en-US" sz="850" b="1" dirty="0">
                <a:solidFill>
                  <a:srgbClr val="20D4C7"/>
                </a:solidFill>
                <a:latin typeface="Aptos" pitchFamily="34" charset="0"/>
                <a:ea typeface="Aptos" pitchFamily="34" charset="-122"/>
                <a:cs typeface="Aptos" pitchFamily="34" charset="-120"/>
              </a:rPr>
              <a:t>11</a:t>
            </a:r>
            <a:endParaRPr lang="en-US" sz="850" dirty="0"/>
          </a:p>
        </p:txBody>
      </p:sp>
      <p:sp>
        <p:nvSpPr>
          <p:cNvPr id="8" name="Shape 6"/>
          <p:cNvSpPr/>
          <p:nvPr/>
        </p:nvSpPr>
        <p:spPr>
          <a:xfrm>
            <a:off x="621792" y="1225296"/>
            <a:ext cx="5303520" cy="4544568"/>
          </a:xfrm>
          <a:prstGeom prst="roundRect">
            <a:avLst>
              <a:gd name="adj" fmla="val 1610"/>
            </a:avLst>
          </a:prstGeom>
          <a:solidFill>
            <a:srgbClr val="0E1D2E"/>
          </a:solidFill>
          <a:ln w="12700">
            <a:solidFill>
              <a:srgbClr val="B7F06A"/>
            </a:solidFill>
            <a:prstDash val="solid"/>
          </a:ln>
        </p:spPr>
      </p:sp>
      <p:sp>
        <p:nvSpPr>
          <p:cNvPr id="9" name="Text 7"/>
          <p:cNvSpPr txBox="1"/>
          <p:nvPr/>
        </p:nvSpPr>
        <p:spPr>
          <a:xfrm>
            <a:off x="905256" y="1536192"/>
            <a:ext cx="2743200" cy="201168"/>
          </a:xfrm>
          <a:prstGeom prst="rect">
            <a:avLst/>
          </a:prstGeom>
          <a:noFill/>
          <a:ln/>
        </p:spPr>
        <p:txBody>
          <a:bodyPr wrap="square" lIns="0" tIns="0" rIns="0" bIns="0" rtlCol="0" anchor="t">
            <a:normAutofit/>
          </a:bodyPr>
          <a:lstStyle/>
          <a:p>
            <a:pPr algn="l" indent="0" marL="0">
              <a:buNone/>
            </a:pPr>
            <a:r>
              <a:rPr lang="en-US" sz="950" b="1" spc="40" kern="0" dirty="0">
                <a:solidFill>
                  <a:srgbClr val="B7F06A"/>
                </a:solidFill>
                <a:latin typeface="Microsoft JhengHei" pitchFamily="34" charset="0"/>
                <a:ea typeface="Microsoft JhengHei" pitchFamily="34" charset="-122"/>
                <a:cs typeface="Microsoft JhengHei" pitchFamily="34" charset="-120"/>
              </a:rPr>
              <a:t>優點｜比研究 1 多走了一步</a:t>
            </a:r>
            <a:endParaRPr lang="en-US" sz="950" dirty="0"/>
          </a:p>
        </p:txBody>
      </p:sp>
      <p:sp>
        <p:nvSpPr>
          <p:cNvPr id="10" name="Shape 8"/>
          <p:cNvSpPr/>
          <p:nvPr/>
        </p:nvSpPr>
        <p:spPr>
          <a:xfrm>
            <a:off x="932688" y="2020824"/>
            <a:ext cx="128016" cy="128016"/>
          </a:xfrm>
          <a:prstGeom prst="ellipse">
            <a:avLst/>
          </a:prstGeom>
          <a:solidFill>
            <a:srgbClr val="FF9B5E"/>
          </a:solidFill>
          <a:ln w="12700">
            <a:solidFill>
              <a:srgbClr val="FF9B5E">
                <a:alpha val="0"/>
              </a:srgbClr>
            </a:solidFill>
            <a:prstDash val="solid"/>
          </a:ln>
        </p:spPr>
      </p:sp>
      <p:sp>
        <p:nvSpPr>
          <p:cNvPr id="11" name="Text 9"/>
          <p:cNvSpPr txBox="1"/>
          <p:nvPr/>
        </p:nvSpPr>
        <p:spPr>
          <a:xfrm>
            <a:off x="1143000" y="1984248"/>
            <a:ext cx="4288536"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真實足球比賽負荷</a:t>
            </a:r>
            <a:endParaRPr lang="en-US" sz="1250" dirty="0"/>
          </a:p>
        </p:txBody>
      </p:sp>
      <p:sp>
        <p:nvSpPr>
          <p:cNvPr id="12" name="Text 10"/>
          <p:cNvSpPr txBox="1"/>
          <p:nvPr/>
        </p:nvSpPr>
        <p:spPr>
          <a:xfrm>
            <a:off x="1143000" y="2249424"/>
            <a:ext cx="4288536" cy="420624"/>
          </a:xfrm>
          <a:prstGeom prst="rect">
            <a:avLst/>
          </a:prstGeom>
          <a:noFill/>
          <a:ln/>
        </p:spPr>
        <p:txBody>
          <a:bodyPr wrap="square" lIns="0" tIns="0" rIns="0" bIns="0" rtlCol="0" anchor="t">
            <a:normAutofit/>
          </a:bodyPr>
          <a:lstStyle/>
          <a:p>
            <a:pPr algn="l" indent="0" marL="0">
              <a:buNone/>
            </a:pPr>
            <a:r>
              <a:rPr lang="en-US" sz="1050" dirty="0">
                <a:solidFill>
                  <a:srgbClr val="93A4B6"/>
                </a:solidFill>
                <a:latin typeface="Microsoft JhengHei" pitchFamily="34" charset="0"/>
                <a:ea typeface="Microsoft JhengHei" pitchFamily="34" charset="-122"/>
                <a:cs typeface="Microsoft JhengHei" pitchFamily="34" charset="-120"/>
              </a:rPr>
              <a:t>用 10 Hz GNSS 量化 HSD，而不只是在實驗室製造疲勞。</a:t>
            </a:r>
            <a:endParaRPr lang="en-US" sz="1050" dirty="0"/>
          </a:p>
        </p:txBody>
      </p:sp>
      <p:sp>
        <p:nvSpPr>
          <p:cNvPr id="13" name="Shape 11"/>
          <p:cNvSpPr/>
          <p:nvPr/>
        </p:nvSpPr>
        <p:spPr>
          <a:xfrm>
            <a:off x="932688" y="2834640"/>
            <a:ext cx="128016" cy="128016"/>
          </a:xfrm>
          <a:prstGeom prst="ellipse">
            <a:avLst/>
          </a:prstGeom>
          <a:solidFill>
            <a:srgbClr val="20D4C7"/>
          </a:solidFill>
          <a:ln w="12700">
            <a:solidFill>
              <a:srgbClr val="20D4C7">
                <a:alpha val="0"/>
              </a:srgbClr>
            </a:solidFill>
            <a:prstDash val="solid"/>
          </a:ln>
        </p:spPr>
      </p:sp>
      <p:sp>
        <p:nvSpPr>
          <p:cNvPr id="14" name="Text 12"/>
          <p:cNvSpPr txBox="1"/>
          <p:nvPr/>
        </p:nvSpPr>
        <p:spPr>
          <a:xfrm>
            <a:off x="1143000" y="2798064"/>
            <a:ext cx="4288536"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先做賽前重測</a:t>
            </a:r>
            <a:endParaRPr lang="en-US" sz="1250" dirty="0"/>
          </a:p>
        </p:txBody>
      </p:sp>
      <p:sp>
        <p:nvSpPr>
          <p:cNvPr id="15" name="Text 13"/>
          <p:cNvSpPr txBox="1"/>
          <p:nvPr/>
        </p:nvSpPr>
        <p:spPr>
          <a:xfrm>
            <a:off x="1143000" y="3063240"/>
            <a:ext cx="4288536" cy="420624"/>
          </a:xfrm>
          <a:prstGeom prst="rect">
            <a:avLst/>
          </a:prstGeom>
          <a:noFill/>
          <a:ln/>
        </p:spPr>
        <p:txBody>
          <a:bodyPr wrap="square" lIns="0" tIns="0" rIns="0" bIns="0" rtlCol="0" anchor="t">
            <a:normAutofit/>
          </a:bodyPr>
          <a:lstStyle/>
          <a:p>
            <a:pPr algn="l" indent="0" marL="0">
              <a:buNone/>
            </a:pPr>
            <a:r>
              <a:rPr lang="en-US" sz="1050" dirty="0">
                <a:solidFill>
                  <a:srgbClr val="93A4B6"/>
                </a:solidFill>
                <a:latin typeface="Microsoft JhengHei" pitchFamily="34" charset="0"/>
                <a:ea typeface="Microsoft JhengHei" pitchFamily="34" charset="-122"/>
                <a:cs typeface="Microsoft JhengHei" pitchFamily="34" charset="-120"/>
              </a:rPr>
              <a:t>同一批人先估 ICC、SEM、MDC₉₅，避免把雜訊誤當改變。</a:t>
            </a:r>
            <a:endParaRPr lang="en-US" sz="1050" dirty="0"/>
          </a:p>
        </p:txBody>
      </p:sp>
      <p:sp>
        <p:nvSpPr>
          <p:cNvPr id="16" name="Shape 14"/>
          <p:cNvSpPr/>
          <p:nvPr/>
        </p:nvSpPr>
        <p:spPr>
          <a:xfrm>
            <a:off x="932688" y="3648456"/>
            <a:ext cx="128016" cy="128016"/>
          </a:xfrm>
          <a:prstGeom prst="ellipse">
            <a:avLst/>
          </a:prstGeom>
          <a:solidFill>
            <a:srgbClr val="6BB7FF"/>
          </a:solidFill>
          <a:ln w="12700">
            <a:solidFill>
              <a:srgbClr val="6BB7FF">
                <a:alpha val="0"/>
              </a:srgbClr>
            </a:solidFill>
            <a:prstDash val="solid"/>
          </a:ln>
        </p:spPr>
      </p:sp>
      <p:sp>
        <p:nvSpPr>
          <p:cNvPr id="17" name="Text 15"/>
          <p:cNvSpPr txBox="1"/>
          <p:nvPr/>
        </p:nvSpPr>
        <p:spPr>
          <a:xfrm>
            <a:off x="1143000" y="3611880"/>
            <a:ext cx="4288536"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同步有 VT 參照</a:t>
            </a:r>
            <a:endParaRPr lang="en-US" sz="1250" dirty="0"/>
          </a:p>
        </p:txBody>
      </p:sp>
      <p:sp>
        <p:nvSpPr>
          <p:cNvPr id="18" name="Text 16"/>
          <p:cNvSpPr txBox="1"/>
          <p:nvPr/>
        </p:nvSpPr>
        <p:spPr>
          <a:xfrm>
            <a:off x="1143000" y="3877056"/>
            <a:ext cx="4288536" cy="420624"/>
          </a:xfrm>
          <a:prstGeom prst="rect">
            <a:avLst/>
          </a:prstGeom>
          <a:noFill/>
          <a:ln/>
        </p:spPr>
        <p:txBody>
          <a:bodyPr wrap="square" lIns="0" tIns="0" rIns="0" bIns="0" rtlCol="0" anchor="t">
            <a:normAutofit/>
          </a:bodyPr>
          <a:lstStyle/>
          <a:p>
            <a:pPr algn="l" indent="0" marL="0">
              <a:buNone/>
            </a:pPr>
            <a:r>
              <a:rPr lang="en-US" sz="1050" dirty="0">
                <a:solidFill>
                  <a:srgbClr val="93A4B6"/>
                </a:solidFill>
                <a:latin typeface="Microsoft JhengHei" pitchFamily="34" charset="0"/>
                <a:ea typeface="Microsoft JhengHei" pitchFamily="34" charset="-122"/>
                <a:cs typeface="Microsoft JhengHei" pitchFamily="34" charset="-120"/>
              </a:rPr>
              <a:t>sLT 與傳統通氣閾值的方向一致，增加建構效度線索。</a:t>
            </a:r>
            <a:endParaRPr lang="en-US" sz="1050" dirty="0"/>
          </a:p>
        </p:txBody>
      </p:sp>
      <p:sp>
        <p:nvSpPr>
          <p:cNvPr id="19" name="Shape 17"/>
          <p:cNvSpPr/>
          <p:nvPr/>
        </p:nvSpPr>
        <p:spPr>
          <a:xfrm>
            <a:off x="932688" y="4462272"/>
            <a:ext cx="128016" cy="128016"/>
          </a:xfrm>
          <a:prstGeom prst="ellipse">
            <a:avLst/>
          </a:prstGeom>
          <a:solidFill>
            <a:srgbClr val="B7F06A"/>
          </a:solidFill>
          <a:ln w="12700">
            <a:solidFill>
              <a:srgbClr val="B7F06A">
                <a:alpha val="0"/>
              </a:srgbClr>
            </a:solidFill>
            <a:prstDash val="solid"/>
          </a:ln>
        </p:spPr>
      </p:sp>
      <p:sp>
        <p:nvSpPr>
          <p:cNvPr id="20" name="Text 18"/>
          <p:cNvSpPr txBox="1"/>
          <p:nvPr/>
        </p:nvSpPr>
        <p:spPr>
          <a:xfrm>
            <a:off x="1143000" y="4425696"/>
            <a:ext cx="4288536"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測試不需做到完全力竭</a:t>
            </a:r>
            <a:endParaRPr lang="en-US" sz="1250" dirty="0"/>
          </a:p>
        </p:txBody>
      </p:sp>
      <p:sp>
        <p:nvSpPr>
          <p:cNvPr id="21" name="Text 19"/>
          <p:cNvSpPr txBox="1"/>
          <p:nvPr/>
        </p:nvSpPr>
        <p:spPr>
          <a:xfrm>
            <a:off x="1143000" y="4690872"/>
            <a:ext cx="4288536" cy="420624"/>
          </a:xfrm>
          <a:prstGeom prst="rect">
            <a:avLst/>
          </a:prstGeom>
          <a:noFill/>
          <a:ln/>
        </p:spPr>
        <p:txBody>
          <a:bodyPr wrap="square" lIns="0" tIns="0" rIns="0" bIns="0" rtlCol="0" anchor="t">
            <a:normAutofit/>
          </a:bodyPr>
          <a:lstStyle/>
          <a:p>
            <a:pPr algn="l" indent="0" marL="0">
              <a:buNone/>
            </a:pPr>
            <a:r>
              <a:rPr lang="en-US" sz="1050" dirty="0">
                <a:solidFill>
                  <a:srgbClr val="93A4B6"/>
                </a:solidFill>
                <a:latin typeface="Microsoft JhengHei" pitchFamily="34" charset="0"/>
                <a:ea typeface="Microsoft JhengHei" pitchFamily="34" charset="-122"/>
                <a:cs typeface="Microsoft JhengHei" pitchFamily="34" charset="-120"/>
              </a:rPr>
              <a:t>到推定 VT 後 2 分鐘即停止，附加疲勞較低。</a:t>
            </a:r>
            <a:endParaRPr lang="en-US" sz="1050" dirty="0"/>
          </a:p>
        </p:txBody>
      </p:sp>
      <p:sp>
        <p:nvSpPr>
          <p:cNvPr id="22" name="Shape 20"/>
          <p:cNvSpPr/>
          <p:nvPr/>
        </p:nvSpPr>
        <p:spPr>
          <a:xfrm>
            <a:off x="6217920" y="1225296"/>
            <a:ext cx="5349240" cy="4544568"/>
          </a:xfrm>
          <a:prstGeom prst="roundRect">
            <a:avLst>
              <a:gd name="adj" fmla="val 1610"/>
            </a:avLst>
          </a:prstGeom>
          <a:solidFill>
            <a:srgbClr val="12263A"/>
          </a:solidFill>
          <a:ln w="12700">
            <a:solidFill>
              <a:srgbClr val="FF9B5E"/>
            </a:solidFill>
            <a:prstDash val="solid"/>
          </a:ln>
        </p:spPr>
      </p:sp>
      <p:sp>
        <p:nvSpPr>
          <p:cNvPr id="23" name="Text 21"/>
          <p:cNvSpPr txBox="1"/>
          <p:nvPr/>
        </p:nvSpPr>
        <p:spPr>
          <a:xfrm>
            <a:off x="6510528" y="1536192"/>
            <a:ext cx="3108960" cy="201168"/>
          </a:xfrm>
          <a:prstGeom prst="rect">
            <a:avLst/>
          </a:prstGeom>
          <a:noFill/>
          <a:ln/>
        </p:spPr>
        <p:txBody>
          <a:bodyPr wrap="square" lIns="0" tIns="0" rIns="0" bIns="0" rtlCol="0" anchor="t">
            <a:normAutofit/>
          </a:bodyPr>
          <a:lstStyle/>
          <a:p>
            <a:pPr algn="l" indent="0" marL="0">
              <a:buNone/>
            </a:pPr>
            <a:r>
              <a:rPr lang="en-US" sz="950" b="1" spc="40" kern="0" dirty="0">
                <a:solidFill>
                  <a:srgbClr val="FF9B5E"/>
                </a:solidFill>
                <a:latin typeface="Microsoft JhengHei" pitchFamily="34" charset="0"/>
                <a:ea typeface="Microsoft JhengHei" pitchFamily="34" charset="-122"/>
                <a:cs typeface="Microsoft JhengHei" pitchFamily="34" charset="-120"/>
              </a:rPr>
              <a:t>限制｜作者也承認的關鍵缺口</a:t>
            </a:r>
            <a:endParaRPr lang="en-US" sz="950" dirty="0"/>
          </a:p>
        </p:txBody>
      </p:sp>
      <p:sp>
        <p:nvSpPr>
          <p:cNvPr id="24" name="Shape 22"/>
          <p:cNvSpPr/>
          <p:nvPr/>
        </p:nvSpPr>
        <p:spPr>
          <a:xfrm>
            <a:off x="6537960" y="2020824"/>
            <a:ext cx="128016" cy="128016"/>
          </a:xfrm>
          <a:prstGeom prst="ellipse">
            <a:avLst/>
          </a:prstGeom>
          <a:solidFill>
            <a:srgbClr val="FF6577"/>
          </a:solidFill>
          <a:ln w="12700">
            <a:solidFill>
              <a:srgbClr val="FF6577">
                <a:alpha val="0"/>
              </a:srgbClr>
            </a:solidFill>
            <a:prstDash val="solid"/>
          </a:ln>
        </p:spPr>
      </p:sp>
      <p:sp>
        <p:nvSpPr>
          <p:cNvPr id="25" name="Text 23"/>
          <p:cNvSpPr txBox="1"/>
          <p:nvPr/>
        </p:nvSpPr>
        <p:spPr>
          <a:xfrm>
            <a:off x="6748272" y="1984248"/>
            <a:ext cx="4325112"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小樣本、全為年輕男性</a:t>
            </a:r>
            <a:endParaRPr lang="en-US" sz="1250" dirty="0"/>
          </a:p>
        </p:txBody>
      </p:sp>
      <p:sp>
        <p:nvSpPr>
          <p:cNvPr id="26" name="Text 24"/>
          <p:cNvSpPr txBox="1"/>
          <p:nvPr/>
        </p:nvSpPr>
        <p:spPr>
          <a:xfrm>
            <a:off x="6748272" y="2249424"/>
            <a:ext cx="4325112" cy="420624"/>
          </a:xfrm>
          <a:prstGeom prst="rect">
            <a:avLst/>
          </a:prstGeom>
          <a:noFill/>
          <a:ln/>
        </p:spPr>
        <p:txBody>
          <a:bodyPr wrap="square" lIns="0" tIns="0" rIns="0" bIns="0" rtlCol="0" anchor="t">
            <a:normAutofit/>
          </a:bodyPr>
          <a:lstStyle/>
          <a:p>
            <a:pPr algn="l" indent="0" marL="0">
              <a:buNone/>
            </a:pPr>
            <a:r>
              <a:rPr lang="en-US" sz="1020" dirty="0">
                <a:solidFill>
                  <a:srgbClr val="93A4B6"/>
                </a:solidFill>
                <a:latin typeface="Microsoft JhengHei" pitchFamily="34" charset="0"/>
                <a:ea typeface="Microsoft JhengHei" pitchFamily="34" charset="-122"/>
                <a:cs typeface="Microsoft JhengHei" pitchFamily="34" charset="-120"/>
              </a:rPr>
              <a:t>n=18；跨性別、年齡、層級與其他運動的外推有限。</a:t>
            </a:r>
            <a:endParaRPr lang="en-US" sz="1020" dirty="0"/>
          </a:p>
        </p:txBody>
      </p:sp>
      <p:sp>
        <p:nvSpPr>
          <p:cNvPr id="27" name="Shape 25"/>
          <p:cNvSpPr/>
          <p:nvPr/>
        </p:nvSpPr>
        <p:spPr>
          <a:xfrm>
            <a:off x="6537960" y="2834640"/>
            <a:ext cx="128016" cy="128016"/>
          </a:xfrm>
          <a:prstGeom prst="ellipse">
            <a:avLst/>
          </a:prstGeom>
          <a:solidFill>
            <a:srgbClr val="FF9B5E"/>
          </a:solidFill>
          <a:ln w="12700">
            <a:solidFill>
              <a:srgbClr val="FF9B5E">
                <a:alpha val="0"/>
              </a:srgbClr>
            </a:solidFill>
            <a:prstDash val="solid"/>
          </a:ln>
        </p:spPr>
      </p:sp>
      <p:sp>
        <p:nvSpPr>
          <p:cNvPr id="28" name="Text 26"/>
          <p:cNvSpPr txBox="1"/>
          <p:nvPr/>
        </p:nvSpPr>
        <p:spPr>
          <a:xfrm>
            <a:off x="6748272" y="2798064"/>
            <a:ext cx="4325112"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觀察性相關，不是因果</a:t>
            </a:r>
            <a:endParaRPr lang="en-US" sz="1250" dirty="0"/>
          </a:p>
        </p:txBody>
      </p:sp>
      <p:sp>
        <p:nvSpPr>
          <p:cNvPr id="29" name="Text 27"/>
          <p:cNvSpPr txBox="1"/>
          <p:nvPr/>
        </p:nvSpPr>
        <p:spPr>
          <a:xfrm>
            <a:off x="6748272" y="3063240"/>
            <a:ext cx="4325112" cy="475488"/>
          </a:xfrm>
          <a:prstGeom prst="rect">
            <a:avLst/>
          </a:prstGeom>
          <a:noFill/>
          <a:ln/>
        </p:spPr>
        <p:txBody>
          <a:bodyPr wrap="square" lIns="0" tIns="0" rIns="0" bIns="0" rtlCol="0" anchor="t">
            <a:normAutofit/>
          </a:bodyPr>
          <a:lstStyle/>
          <a:p>
            <a:pPr algn="l" indent="0" marL="0">
              <a:buNone/>
            </a:pPr>
            <a:r>
              <a:rPr lang="en-US" sz="1020" dirty="0">
                <a:solidFill>
                  <a:srgbClr val="93A4B6"/>
                </a:solidFill>
                <a:latin typeface="Microsoft JhengHei" pitchFamily="34" charset="0"/>
                <a:ea typeface="Microsoft JhengHei" pitchFamily="34" charset="-122"/>
                <a:cs typeface="Microsoft JhengHei" pitchFamily="34" charset="-120"/>
              </a:rPr>
              <a:t>HSD 與變化相關；不能斷言 HSD 造成 sLT 位移，也未驗證受傷風險下降。</a:t>
            </a:r>
            <a:endParaRPr lang="en-US" sz="1020" dirty="0"/>
          </a:p>
        </p:txBody>
      </p:sp>
      <p:sp>
        <p:nvSpPr>
          <p:cNvPr id="30" name="Shape 28"/>
          <p:cNvSpPr/>
          <p:nvPr/>
        </p:nvSpPr>
        <p:spPr>
          <a:xfrm>
            <a:off x="6537960" y="3703320"/>
            <a:ext cx="128016" cy="128016"/>
          </a:xfrm>
          <a:prstGeom prst="ellipse">
            <a:avLst/>
          </a:prstGeom>
          <a:solidFill>
            <a:srgbClr val="FFD166"/>
          </a:solidFill>
          <a:ln w="12700">
            <a:solidFill>
              <a:srgbClr val="FFD166">
                <a:alpha val="0"/>
              </a:srgbClr>
            </a:solidFill>
            <a:prstDash val="solid"/>
          </a:ln>
        </p:spPr>
      </p:sp>
      <p:sp>
        <p:nvSpPr>
          <p:cNvPr id="31" name="Text 29"/>
          <p:cNvSpPr txBox="1"/>
          <p:nvPr/>
        </p:nvSpPr>
        <p:spPr>
          <a:xfrm>
            <a:off x="6748272" y="3666744"/>
            <a:ext cx="4325112"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運動型態與時間點有限</a:t>
            </a:r>
            <a:endParaRPr lang="en-US" sz="1250" dirty="0"/>
          </a:p>
        </p:txBody>
      </p:sp>
      <p:sp>
        <p:nvSpPr>
          <p:cNvPr id="32" name="Text 30"/>
          <p:cNvSpPr txBox="1"/>
          <p:nvPr/>
        </p:nvSpPr>
        <p:spPr>
          <a:xfrm>
            <a:off x="6748272" y="3931920"/>
            <a:ext cx="4325112" cy="475488"/>
          </a:xfrm>
          <a:prstGeom prst="rect">
            <a:avLst/>
          </a:prstGeom>
          <a:noFill/>
          <a:ln/>
        </p:spPr>
        <p:txBody>
          <a:bodyPr wrap="square" lIns="0" tIns="0" rIns="0" bIns="0" rtlCol="0" anchor="t">
            <a:normAutofit/>
          </a:bodyPr>
          <a:lstStyle/>
          <a:p>
            <a:pPr algn="l" indent="0" marL="0">
              <a:buNone/>
            </a:pPr>
            <a:r>
              <a:rPr lang="en-US" sz="1020" dirty="0">
                <a:solidFill>
                  <a:srgbClr val="93A4B6"/>
                </a:solidFill>
                <a:latin typeface="Microsoft JhengHei" pitchFamily="34" charset="0"/>
                <a:ea typeface="Microsoft JhengHei" pitchFamily="34" charset="-122"/>
                <a:cs typeface="Microsoft JhengHei" pitchFamily="34" charset="-120"/>
              </a:rPr>
              <a:t>足球員卻用腳踏車測；只看賽後 48 h，且跳躍／接觸負荷未納入。</a:t>
            </a:r>
            <a:endParaRPr lang="en-US" sz="1020" dirty="0"/>
          </a:p>
        </p:txBody>
      </p:sp>
      <p:sp>
        <p:nvSpPr>
          <p:cNvPr id="33" name="Shape 31"/>
          <p:cNvSpPr/>
          <p:nvPr/>
        </p:nvSpPr>
        <p:spPr>
          <a:xfrm>
            <a:off x="6537960" y="4572000"/>
            <a:ext cx="128016" cy="128016"/>
          </a:xfrm>
          <a:prstGeom prst="ellipse">
            <a:avLst/>
          </a:prstGeom>
          <a:solidFill>
            <a:srgbClr val="6BB7FF"/>
          </a:solidFill>
          <a:ln w="12700">
            <a:solidFill>
              <a:srgbClr val="6BB7FF">
                <a:alpha val="0"/>
              </a:srgbClr>
            </a:solidFill>
            <a:prstDash val="solid"/>
          </a:ln>
        </p:spPr>
      </p:sp>
      <p:sp>
        <p:nvSpPr>
          <p:cNvPr id="34" name="Text 32"/>
          <p:cNvSpPr txBox="1"/>
          <p:nvPr/>
        </p:nvSpPr>
        <p:spPr>
          <a:xfrm>
            <a:off x="6748272" y="4535424"/>
            <a:ext cx="4325112"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未直接對照完整疲勞生物標記</a:t>
            </a:r>
            <a:endParaRPr lang="en-US" sz="1250" dirty="0"/>
          </a:p>
        </p:txBody>
      </p:sp>
      <p:sp>
        <p:nvSpPr>
          <p:cNvPr id="35" name="Text 33"/>
          <p:cNvSpPr txBox="1"/>
          <p:nvPr/>
        </p:nvSpPr>
        <p:spPr>
          <a:xfrm>
            <a:off x="6748272" y="4800600"/>
            <a:ext cx="4325112" cy="475488"/>
          </a:xfrm>
          <a:prstGeom prst="rect">
            <a:avLst/>
          </a:prstGeom>
          <a:noFill/>
          <a:ln/>
        </p:spPr>
        <p:txBody>
          <a:bodyPr wrap="square" lIns="0" tIns="0" rIns="0" bIns="0" rtlCol="0" anchor="t">
            <a:normAutofit/>
          </a:bodyPr>
          <a:lstStyle/>
          <a:p>
            <a:pPr algn="l" indent="0" marL="0">
              <a:buNone/>
            </a:pPr>
            <a:r>
              <a:rPr lang="en-US" sz="1020" dirty="0">
                <a:solidFill>
                  <a:srgbClr val="93A4B6"/>
                </a:solidFill>
                <a:latin typeface="Microsoft JhengHei" pitchFamily="34" charset="0"/>
                <a:ea typeface="Microsoft JhengHei" pitchFamily="34" charset="-122"/>
                <a:cs typeface="Microsoft JhengHei" pitchFamily="34" charset="-120"/>
              </a:rPr>
              <a:t>缺少荷爾蒙、發炎、免疫、酵素等標記；作者稱臨床用途仍可議。</a:t>
            </a:r>
            <a:endParaRPr lang="en-US" sz="1020" dirty="0"/>
          </a:p>
        </p:txBody>
      </p:sp>
      <p:sp>
        <p:nvSpPr>
          <p:cNvPr id="36" name="Shape 34"/>
          <p:cNvSpPr/>
          <p:nvPr/>
        </p:nvSpPr>
        <p:spPr>
          <a:xfrm>
            <a:off x="1024128" y="5934456"/>
            <a:ext cx="10104120" cy="338328"/>
          </a:xfrm>
          <a:prstGeom prst="roundRect">
            <a:avLst>
              <a:gd name="adj" fmla="val 21622"/>
            </a:avLst>
          </a:prstGeom>
          <a:solidFill>
            <a:srgbClr val="102235"/>
          </a:solidFill>
          <a:ln w="12700">
            <a:solidFill>
              <a:srgbClr val="FF9B5E"/>
            </a:solidFill>
            <a:prstDash val="solid"/>
          </a:ln>
        </p:spPr>
      </p:sp>
      <p:sp>
        <p:nvSpPr>
          <p:cNvPr id="37" name="Text 35"/>
          <p:cNvSpPr txBox="1"/>
          <p:nvPr/>
        </p:nvSpPr>
        <p:spPr>
          <a:xfrm>
            <a:off x="1261872" y="6016752"/>
            <a:ext cx="9637776" cy="164592"/>
          </a:xfrm>
          <a:prstGeom prst="rect">
            <a:avLst/>
          </a:prstGeom>
          <a:noFill/>
          <a:ln/>
        </p:spPr>
        <p:txBody>
          <a:bodyPr wrap="square" lIns="0" tIns="0" rIns="0" bIns="0" rtlCol="0" anchor="t">
            <a:normAutofit/>
          </a:bodyPr>
          <a:lstStyle/>
          <a:p>
            <a:pPr algn="ctr" indent="0" marL="0">
              <a:buNone/>
            </a:pPr>
            <a:r>
              <a:rPr lang="en-US" sz="930" dirty="0">
                <a:solidFill>
                  <a:srgbClr val="FFC09B"/>
                </a:solidFill>
                <a:latin typeface="Microsoft JhengHei" pitchFamily="34" charset="0"/>
                <a:ea typeface="Microsoft JhengHei" pitchFamily="34" charset="-122"/>
                <a:cs typeface="Microsoft JhengHei" pitchFamily="34" charset="-120"/>
              </a:rPr>
              <a:t>利益揭露：通訊作者為感測器公司 Grace Imaging Inc. 總裁並持股；作者聲明其未參與資料取得與分析。</a:t>
            </a:r>
            <a:endParaRPr lang="en-US" sz="9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0D4C7"/>
          </a:solidFill>
          <a:ln w="12700">
            <a:solidFill>
              <a:srgbClr val="20D4C7">
                <a:alpha val="0"/>
              </a:srgbClr>
            </a:solidFill>
            <a:prstDash val="solid"/>
          </a:ln>
        </p:spPr>
      </p:sp>
      <p:sp>
        <p:nvSpPr>
          <p:cNvPr id="3" name="Shape 1"/>
          <p:cNvSpPr/>
          <p:nvPr/>
        </p:nvSpPr>
        <p:spPr>
          <a:xfrm>
            <a:off x="10561320" y="-658368"/>
            <a:ext cx="2194560" cy="2194560"/>
          </a:xfrm>
          <a:prstGeom prst="ellipse">
            <a:avLst/>
          </a:prstGeom>
          <a:solidFill>
            <a:srgbClr val="20D4C7">
              <a:alpha val="8000"/>
            </a:srgbClr>
          </a:solidFill>
          <a:ln w="12700">
            <a:solidFill>
              <a:srgbClr val="20D4C7">
                <a:alpha val="0"/>
              </a:srgbClr>
            </a:solidFill>
            <a:prstDash val="solid"/>
          </a:ln>
        </p:spPr>
      </p:sp>
      <p:sp>
        <p:nvSpPr>
          <p:cNvPr id="4" name="Shape 2"/>
          <p:cNvSpPr/>
          <p:nvPr/>
        </p:nvSpPr>
        <p:spPr>
          <a:xfrm>
            <a:off x="502920" y="841248"/>
            <a:ext cx="11155680" cy="0"/>
          </a:xfrm>
          <a:prstGeom prst="line">
            <a:avLst/>
          </a:prstGeom>
          <a:noFill/>
          <a:ln w="12700">
            <a:solidFill>
              <a:srgbClr val="1E3A52"/>
            </a:solidFill>
            <a:prstDash val="solid"/>
          </a:ln>
        </p:spPr>
      </p:sp>
      <p:sp>
        <p:nvSpPr>
          <p:cNvPr id="5" name="Text 3"/>
          <p:cNvSpPr/>
          <p:nvPr/>
        </p:nvSpPr>
        <p:spPr>
          <a:xfrm>
            <a:off x="566928" y="237744"/>
            <a:ext cx="2926080" cy="219456"/>
          </a:xfrm>
          <a:prstGeom prst="rect">
            <a:avLst/>
          </a:prstGeom>
          <a:noFill/>
          <a:ln/>
        </p:spPr>
        <p:txBody>
          <a:bodyPr wrap="square" lIns="0" tIns="0" rIns="0" bIns="0" rtlCol="0" anchor="ctr">
            <a:normAutofit/>
          </a:bodyPr>
          <a:lstStyle/>
          <a:p>
            <a:pPr indent="0" marL="0">
              <a:buNone/>
            </a:pPr>
            <a:r>
              <a:rPr lang="en-US" sz="850" b="1" spc="130" kern="0" dirty="0">
                <a:solidFill>
                  <a:srgbClr val="20D4C7"/>
                </a:solidFill>
                <a:latin typeface="Aptos" pitchFamily="34" charset="0"/>
                <a:ea typeface="Aptos" pitchFamily="34" charset="-122"/>
                <a:cs typeface="Aptos" pitchFamily="34" charset="-120"/>
              </a:rPr>
              <a:t>EVIDENCE SYNTHESIS</a:t>
            </a:r>
            <a:endParaRPr lang="en-US" sz="850" dirty="0"/>
          </a:p>
        </p:txBody>
      </p:sp>
      <p:sp>
        <p:nvSpPr>
          <p:cNvPr id="6" name="Text 4"/>
          <p:cNvSpPr/>
          <p:nvPr/>
        </p:nvSpPr>
        <p:spPr>
          <a:xfrm>
            <a:off x="566928" y="420624"/>
            <a:ext cx="10881360" cy="365760"/>
          </a:xfrm>
          <a:prstGeom prst="rect">
            <a:avLst/>
          </a:prstGeom>
          <a:noFill/>
          <a:ln/>
        </p:spPr>
        <p:txBody>
          <a:bodyPr wrap="square" lIns="0" tIns="0" rIns="0" bIns="0" rtlCol="0" anchor="ctr">
            <a:normAutofit/>
          </a:bodyPr>
          <a:lstStyle/>
          <a:p>
            <a:pPr indent="0" marL="0">
              <a:buNone/>
            </a:pPr>
            <a:r>
              <a:rPr lang="en-US" sz="2300" b="1" dirty="0">
                <a:solidFill>
                  <a:srgbClr val="F5F7FA"/>
                </a:solidFill>
                <a:latin typeface="Microsoft JhengHei" pitchFamily="34" charset="0"/>
                <a:ea typeface="Microsoft JhengHei" pitchFamily="34" charset="-122"/>
                <a:cs typeface="Microsoft JhengHei" pitchFamily="34" charset="-120"/>
              </a:rPr>
              <a:t>把兩篇放在一起：方向一致，但不是獨立複驗</a:t>
            </a:r>
            <a:endParaRPr lang="en-US" sz="2300" dirty="0"/>
          </a:p>
        </p:txBody>
      </p:sp>
      <p:sp>
        <p:nvSpPr>
          <p:cNvPr id="7" name="Text 5"/>
          <p:cNvSpPr/>
          <p:nvPr/>
        </p:nvSpPr>
        <p:spPr>
          <a:xfrm>
            <a:off x="11109960" y="6519672"/>
            <a:ext cx="502920" cy="164592"/>
          </a:xfrm>
          <a:prstGeom prst="rect">
            <a:avLst/>
          </a:prstGeom>
          <a:noFill/>
          <a:ln/>
        </p:spPr>
        <p:txBody>
          <a:bodyPr wrap="square" lIns="0" tIns="0" rIns="0" bIns="0" rtlCol="0" anchor="ctr"/>
          <a:lstStyle/>
          <a:p>
            <a:pPr algn="r" indent="0" marL="0">
              <a:buNone/>
            </a:pPr>
            <a:r>
              <a:rPr lang="en-US" sz="850" b="1" dirty="0">
                <a:solidFill>
                  <a:srgbClr val="20D4C7"/>
                </a:solidFill>
                <a:latin typeface="Aptos" pitchFamily="34" charset="0"/>
                <a:ea typeface="Aptos" pitchFamily="34" charset="-122"/>
                <a:cs typeface="Aptos" pitchFamily="34" charset="-120"/>
              </a:rPr>
              <a:t>12</a:t>
            </a:r>
            <a:endParaRPr lang="en-US" sz="850" dirty="0"/>
          </a:p>
        </p:txBody>
      </p:sp>
      <p:sp>
        <p:nvSpPr>
          <p:cNvPr id="8" name="Shape 6"/>
          <p:cNvSpPr/>
          <p:nvPr/>
        </p:nvSpPr>
        <p:spPr>
          <a:xfrm>
            <a:off x="612648" y="1252728"/>
            <a:ext cx="2057400" cy="512064"/>
          </a:xfrm>
          <a:prstGeom prst="rect">
            <a:avLst/>
          </a:prstGeom>
          <a:solidFill>
            <a:srgbClr val="102235"/>
          </a:solidFill>
          <a:ln w="10160">
            <a:solidFill>
              <a:srgbClr val="07111F"/>
            </a:solidFill>
            <a:prstDash val="solid"/>
          </a:ln>
        </p:spPr>
      </p:sp>
      <p:sp>
        <p:nvSpPr>
          <p:cNvPr id="9" name="Text 7"/>
          <p:cNvSpPr txBox="1"/>
          <p:nvPr/>
        </p:nvSpPr>
        <p:spPr>
          <a:xfrm>
            <a:off x="722376" y="1408176"/>
            <a:ext cx="1837944" cy="201168"/>
          </a:xfrm>
          <a:prstGeom prst="rect">
            <a:avLst/>
          </a:prstGeom>
          <a:noFill/>
          <a:ln/>
        </p:spPr>
        <p:txBody>
          <a:bodyPr wrap="square" lIns="0" tIns="0" rIns="0" bIns="0" rtlCol="0" anchor="t">
            <a:normAutofit/>
          </a:bodyPr>
          <a:lstStyle/>
          <a:p>
            <a:pPr algn="ctr" indent="0" marL="0">
              <a:buNone/>
            </a:pPr>
            <a:r>
              <a:rPr lang="en-US" sz="1050" b="1" dirty="0">
                <a:solidFill>
                  <a:srgbClr val="D8E2EC"/>
                </a:solidFill>
                <a:latin typeface="Microsoft JhengHei" pitchFamily="34" charset="0"/>
                <a:ea typeface="Microsoft JhengHei" pitchFamily="34" charset="-122"/>
                <a:cs typeface="Microsoft JhengHei" pitchFamily="34" charset="-120"/>
              </a:rPr>
              <a:t>比較面向</a:t>
            </a:r>
            <a:endParaRPr lang="en-US" sz="1050" dirty="0"/>
          </a:p>
        </p:txBody>
      </p:sp>
      <p:sp>
        <p:nvSpPr>
          <p:cNvPr id="10" name="Shape 8"/>
          <p:cNvSpPr/>
          <p:nvPr/>
        </p:nvSpPr>
        <p:spPr>
          <a:xfrm>
            <a:off x="2670048" y="1252728"/>
            <a:ext cx="2898648" cy="512064"/>
          </a:xfrm>
          <a:prstGeom prst="rect">
            <a:avLst/>
          </a:prstGeom>
          <a:solidFill>
            <a:srgbClr val="6BB7FF"/>
          </a:solidFill>
          <a:ln w="10160">
            <a:solidFill>
              <a:srgbClr val="07111F"/>
            </a:solidFill>
            <a:prstDash val="solid"/>
          </a:ln>
        </p:spPr>
      </p:sp>
      <p:sp>
        <p:nvSpPr>
          <p:cNvPr id="11" name="Text 9"/>
          <p:cNvSpPr txBox="1"/>
          <p:nvPr/>
        </p:nvSpPr>
        <p:spPr>
          <a:xfrm>
            <a:off x="2779776" y="1408176"/>
            <a:ext cx="2679192" cy="201168"/>
          </a:xfrm>
          <a:prstGeom prst="rect">
            <a:avLst/>
          </a:prstGeom>
          <a:noFill/>
          <a:ln/>
        </p:spPr>
        <p:txBody>
          <a:bodyPr wrap="square" lIns="0" tIns="0" rIns="0" bIns="0" rtlCol="0" anchor="t">
            <a:normAutofit/>
          </a:bodyPr>
          <a:lstStyle/>
          <a:p>
            <a:pPr algn="ctr" indent="0" marL="0">
              <a:buNone/>
            </a:pPr>
            <a:r>
              <a:rPr lang="en-US" sz="1050" b="1" dirty="0">
                <a:solidFill>
                  <a:srgbClr val="07111F"/>
                </a:solidFill>
                <a:latin typeface="Microsoft JhengHei" pitchFamily="34" charset="0"/>
                <a:ea typeface="Microsoft JhengHei" pitchFamily="34" charset="-122"/>
                <a:cs typeface="Microsoft JhengHei" pitchFamily="34" charset="-120"/>
              </a:rPr>
              <a:t>研究 1｜固定負荷</a:t>
            </a:r>
            <a:endParaRPr lang="en-US" sz="1050" dirty="0"/>
          </a:p>
        </p:txBody>
      </p:sp>
      <p:sp>
        <p:nvSpPr>
          <p:cNvPr id="12" name="Shape 10"/>
          <p:cNvSpPr/>
          <p:nvPr/>
        </p:nvSpPr>
        <p:spPr>
          <a:xfrm>
            <a:off x="5568696" y="1252728"/>
            <a:ext cx="2898648" cy="512064"/>
          </a:xfrm>
          <a:prstGeom prst="rect">
            <a:avLst/>
          </a:prstGeom>
          <a:solidFill>
            <a:srgbClr val="FF9B5E"/>
          </a:solidFill>
          <a:ln w="10160">
            <a:solidFill>
              <a:srgbClr val="07111F"/>
            </a:solidFill>
            <a:prstDash val="solid"/>
          </a:ln>
        </p:spPr>
      </p:sp>
      <p:sp>
        <p:nvSpPr>
          <p:cNvPr id="13" name="Text 11"/>
          <p:cNvSpPr txBox="1"/>
          <p:nvPr/>
        </p:nvSpPr>
        <p:spPr>
          <a:xfrm>
            <a:off x="5678424" y="1408176"/>
            <a:ext cx="2679192" cy="201168"/>
          </a:xfrm>
          <a:prstGeom prst="rect">
            <a:avLst/>
          </a:prstGeom>
          <a:noFill/>
          <a:ln/>
        </p:spPr>
        <p:txBody>
          <a:bodyPr wrap="square" lIns="0" tIns="0" rIns="0" bIns="0" rtlCol="0" anchor="t">
            <a:normAutofit/>
          </a:bodyPr>
          <a:lstStyle/>
          <a:p>
            <a:pPr algn="ctr" indent="0" marL="0">
              <a:buNone/>
            </a:pPr>
            <a:r>
              <a:rPr lang="en-US" sz="1050" b="1" dirty="0">
                <a:solidFill>
                  <a:srgbClr val="07111F"/>
                </a:solidFill>
                <a:latin typeface="Microsoft JhengHei" pitchFamily="34" charset="0"/>
                <a:ea typeface="Microsoft JhengHei" pitchFamily="34" charset="-122"/>
                <a:cs typeface="Microsoft JhengHei" pitchFamily="34" charset="-120"/>
              </a:rPr>
              <a:t>研究 2｜足球賽後</a:t>
            </a:r>
            <a:endParaRPr lang="en-US" sz="1050" dirty="0"/>
          </a:p>
        </p:txBody>
      </p:sp>
      <p:sp>
        <p:nvSpPr>
          <p:cNvPr id="14" name="Shape 12"/>
          <p:cNvSpPr/>
          <p:nvPr/>
        </p:nvSpPr>
        <p:spPr>
          <a:xfrm>
            <a:off x="8467344" y="1252728"/>
            <a:ext cx="3081528" cy="512064"/>
          </a:xfrm>
          <a:prstGeom prst="rect">
            <a:avLst/>
          </a:prstGeom>
          <a:solidFill>
            <a:srgbClr val="20D4C7"/>
          </a:solidFill>
          <a:ln w="10160">
            <a:solidFill>
              <a:srgbClr val="07111F"/>
            </a:solidFill>
            <a:prstDash val="solid"/>
          </a:ln>
        </p:spPr>
      </p:sp>
      <p:sp>
        <p:nvSpPr>
          <p:cNvPr id="15" name="Text 13"/>
          <p:cNvSpPr txBox="1"/>
          <p:nvPr/>
        </p:nvSpPr>
        <p:spPr>
          <a:xfrm>
            <a:off x="8577072" y="1408176"/>
            <a:ext cx="2862072" cy="201168"/>
          </a:xfrm>
          <a:prstGeom prst="rect">
            <a:avLst/>
          </a:prstGeom>
          <a:noFill/>
          <a:ln/>
        </p:spPr>
        <p:txBody>
          <a:bodyPr wrap="square" lIns="0" tIns="0" rIns="0" bIns="0" rtlCol="0" anchor="t">
            <a:normAutofit/>
          </a:bodyPr>
          <a:lstStyle/>
          <a:p>
            <a:pPr algn="ctr" indent="0" marL="0">
              <a:buNone/>
            </a:pPr>
            <a:r>
              <a:rPr lang="en-US" sz="1050" b="1" dirty="0">
                <a:solidFill>
                  <a:srgbClr val="07111F"/>
                </a:solidFill>
                <a:latin typeface="Microsoft JhengHei" pitchFamily="34" charset="0"/>
                <a:ea typeface="Microsoft JhengHei" pitchFamily="34" charset="-122"/>
                <a:cs typeface="Microsoft JhengHei" pitchFamily="34" charset="-120"/>
              </a:rPr>
              <a:t>合併後最保守推論</a:t>
            </a:r>
            <a:endParaRPr lang="en-US" sz="1050" dirty="0"/>
          </a:p>
        </p:txBody>
      </p:sp>
      <p:sp>
        <p:nvSpPr>
          <p:cNvPr id="16" name="Shape 14"/>
          <p:cNvSpPr/>
          <p:nvPr/>
        </p:nvSpPr>
        <p:spPr>
          <a:xfrm>
            <a:off x="612648" y="1764792"/>
            <a:ext cx="2057400" cy="804672"/>
          </a:xfrm>
          <a:prstGeom prst="rect">
            <a:avLst/>
          </a:prstGeom>
          <a:solidFill>
            <a:srgbClr val="102235"/>
          </a:solidFill>
          <a:ln w="7620">
            <a:solidFill>
              <a:srgbClr val="1E3A52"/>
            </a:solidFill>
            <a:prstDash val="solid"/>
          </a:ln>
        </p:spPr>
      </p:sp>
      <p:sp>
        <p:nvSpPr>
          <p:cNvPr id="17" name="Text 15"/>
          <p:cNvSpPr txBox="1"/>
          <p:nvPr/>
        </p:nvSpPr>
        <p:spPr>
          <a:xfrm>
            <a:off x="758952" y="1929384"/>
            <a:ext cx="1764792" cy="448056"/>
          </a:xfrm>
          <a:prstGeom prst="rect">
            <a:avLst/>
          </a:prstGeom>
          <a:noFill/>
          <a:ln/>
        </p:spPr>
        <p:txBody>
          <a:bodyPr wrap="square" lIns="0" tIns="0" rIns="0" bIns="0" rtlCol="0" anchor="ctr">
            <a:normAutofit/>
          </a:bodyPr>
          <a:lstStyle/>
          <a:p>
            <a:pPr algn="ctr" indent="0" marL="0">
              <a:buNone/>
            </a:pPr>
            <a:r>
              <a:rPr lang="en-US" sz="1020" b="1" dirty="0">
                <a:solidFill>
                  <a:srgbClr val="F5F7FA"/>
                </a:solidFill>
                <a:latin typeface="Microsoft JhengHei" pitchFamily="34" charset="0"/>
                <a:ea typeface="Microsoft JhengHei" pitchFamily="34" charset="-122"/>
                <a:cs typeface="Microsoft JhengHei" pitchFamily="34" charset="-120"/>
              </a:rPr>
              <a:t>疲勞／負荷來源</a:t>
            </a:r>
            <a:endParaRPr lang="en-US" sz="1020" dirty="0"/>
          </a:p>
        </p:txBody>
      </p:sp>
      <p:sp>
        <p:nvSpPr>
          <p:cNvPr id="18" name="Shape 16"/>
          <p:cNvSpPr/>
          <p:nvPr/>
        </p:nvSpPr>
        <p:spPr>
          <a:xfrm>
            <a:off x="2670048" y="1764792"/>
            <a:ext cx="2898648" cy="804672"/>
          </a:xfrm>
          <a:prstGeom prst="rect">
            <a:avLst/>
          </a:prstGeom>
          <a:solidFill>
            <a:srgbClr val="0E1D2E"/>
          </a:solidFill>
          <a:ln w="7620">
            <a:solidFill>
              <a:srgbClr val="1E3A52"/>
            </a:solidFill>
            <a:prstDash val="solid"/>
          </a:ln>
        </p:spPr>
      </p:sp>
      <p:sp>
        <p:nvSpPr>
          <p:cNvPr id="19" name="Text 17"/>
          <p:cNvSpPr txBox="1"/>
          <p:nvPr/>
        </p:nvSpPr>
        <p:spPr>
          <a:xfrm>
            <a:off x="2816352" y="1929384"/>
            <a:ext cx="2606040" cy="448056"/>
          </a:xfrm>
          <a:prstGeom prst="rect">
            <a:avLst/>
          </a:prstGeom>
          <a:noFill/>
          <a:ln/>
        </p:spPr>
        <p:txBody>
          <a:bodyPr wrap="square" lIns="0" tIns="0" rIns="0" bIns="0" rtlCol="0" anchor="ctr">
            <a:normAutofit/>
          </a:bodyPr>
          <a:lstStyle/>
          <a:p>
            <a:pPr algn="l" indent="0" marL="0">
              <a:buNone/>
            </a:pPr>
            <a:r>
              <a:rPr lang="en-US" sz="970" dirty="0">
                <a:solidFill>
                  <a:srgbClr val="D8E2EC"/>
                </a:solidFill>
                <a:latin typeface="Microsoft JhengHei" pitchFamily="34" charset="0"/>
                <a:ea typeface="Microsoft JhengHei" pitchFamily="34" charset="-122"/>
                <a:cs typeface="Microsoft JhengHei" pitchFamily="34" charset="-120"/>
              </a:rPr>
              <a:t>先騎到力竭</a:t>
            </a:r>
            <a:endParaRPr lang="en-US" sz="970" dirty="0"/>
          </a:p>
        </p:txBody>
      </p:sp>
      <p:sp>
        <p:nvSpPr>
          <p:cNvPr id="20" name="Shape 18"/>
          <p:cNvSpPr/>
          <p:nvPr/>
        </p:nvSpPr>
        <p:spPr>
          <a:xfrm>
            <a:off x="5568696" y="1764792"/>
            <a:ext cx="2898648" cy="804672"/>
          </a:xfrm>
          <a:prstGeom prst="rect">
            <a:avLst/>
          </a:prstGeom>
          <a:solidFill>
            <a:srgbClr val="0E1D2E"/>
          </a:solidFill>
          <a:ln w="7620">
            <a:solidFill>
              <a:srgbClr val="1E3A52"/>
            </a:solidFill>
            <a:prstDash val="solid"/>
          </a:ln>
        </p:spPr>
      </p:sp>
      <p:sp>
        <p:nvSpPr>
          <p:cNvPr id="21" name="Text 19"/>
          <p:cNvSpPr txBox="1"/>
          <p:nvPr/>
        </p:nvSpPr>
        <p:spPr>
          <a:xfrm>
            <a:off x="5715000" y="1929384"/>
            <a:ext cx="2606040" cy="448056"/>
          </a:xfrm>
          <a:prstGeom prst="rect">
            <a:avLst/>
          </a:prstGeom>
          <a:noFill/>
          <a:ln/>
        </p:spPr>
        <p:txBody>
          <a:bodyPr wrap="square" lIns="0" tIns="0" rIns="0" bIns="0" rtlCol="0" anchor="ctr">
            <a:normAutofit/>
          </a:bodyPr>
          <a:lstStyle/>
          <a:p>
            <a:pPr algn="l" indent="0" marL="0">
              <a:buNone/>
            </a:pPr>
            <a:r>
              <a:rPr lang="en-US" sz="970" dirty="0">
                <a:solidFill>
                  <a:srgbClr val="D8E2EC"/>
                </a:solidFill>
                <a:latin typeface="Microsoft JhengHei" pitchFamily="34" charset="0"/>
                <a:ea typeface="Microsoft JhengHei" pitchFamily="34" charset="-122"/>
                <a:cs typeface="Microsoft JhengHei" pitchFamily="34" charset="-120"/>
              </a:rPr>
              <a:t>真實比賽 HSD</a:t>
            </a:r>
            <a:endParaRPr lang="en-US" sz="970" dirty="0"/>
          </a:p>
        </p:txBody>
      </p:sp>
      <p:sp>
        <p:nvSpPr>
          <p:cNvPr id="22" name="Shape 20"/>
          <p:cNvSpPr/>
          <p:nvPr/>
        </p:nvSpPr>
        <p:spPr>
          <a:xfrm>
            <a:off x="8467344" y="1764792"/>
            <a:ext cx="3081528" cy="804672"/>
          </a:xfrm>
          <a:prstGeom prst="rect">
            <a:avLst/>
          </a:prstGeom>
          <a:solidFill>
            <a:srgbClr val="0E1D2E"/>
          </a:solidFill>
          <a:ln w="7620">
            <a:solidFill>
              <a:srgbClr val="1E3A52"/>
            </a:solidFill>
            <a:prstDash val="solid"/>
          </a:ln>
        </p:spPr>
      </p:sp>
      <p:sp>
        <p:nvSpPr>
          <p:cNvPr id="23" name="Text 21"/>
          <p:cNvSpPr txBox="1"/>
          <p:nvPr/>
        </p:nvSpPr>
        <p:spPr>
          <a:xfrm>
            <a:off x="8613648" y="1929384"/>
            <a:ext cx="2788920" cy="448056"/>
          </a:xfrm>
          <a:prstGeom prst="rect">
            <a:avLst/>
          </a:prstGeom>
          <a:noFill/>
          <a:ln/>
        </p:spPr>
        <p:txBody>
          <a:bodyPr wrap="square" lIns="0" tIns="0" rIns="0" bIns="0" rtlCol="0" anchor="ctr">
            <a:normAutofit/>
          </a:bodyPr>
          <a:lstStyle/>
          <a:p>
            <a:pPr algn="l" indent="0" marL="0">
              <a:buNone/>
            </a:pPr>
            <a:r>
              <a:rPr lang="en-US" sz="970" b="1" dirty="0">
                <a:solidFill>
                  <a:srgbClr val="78EAE0"/>
                </a:solidFill>
                <a:latin typeface="Microsoft JhengHei" pitchFamily="34" charset="0"/>
                <a:ea typeface="Microsoft JhengHei" pitchFamily="34" charset="-122"/>
                <a:cs typeface="Microsoft JhengHei" pitchFamily="34" charset="-120"/>
              </a:rPr>
              <a:t>近期高負荷後，動態位置可能提前</a:t>
            </a:r>
            <a:endParaRPr lang="en-US" sz="970" dirty="0"/>
          </a:p>
        </p:txBody>
      </p:sp>
      <p:sp>
        <p:nvSpPr>
          <p:cNvPr id="24" name="Shape 22"/>
          <p:cNvSpPr/>
          <p:nvPr/>
        </p:nvSpPr>
        <p:spPr>
          <a:xfrm>
            <a:off x="612648" y="2569464"/>
            <a:ext cx="2057400" cy="804672"/>
          </a:xfrm>
          <a:prstGeom prst="rect">
            <a:avLst/>
          </a:prstGeom>
          <a:solidFill>
            <a:srgbClr val="102235"/>
          </a:solidFill>
          <a:ln w="7620">
            <a:solidFill>
              <a:srgbClr val="1E3A52"/>
            </a:solidFill>
            <a:prstDash val="solid"/>
          </a:ln>
        </p:spPr>
      </p:sp>
      <p:sp>
        <p:nvSpPr>
          <p:cNvPr id="25" name="Text 23"/>
          <p:cNvSpPr txBox="1"/>
          <p:nvPr/>
        </p:nvSpPr>
        <p:spPr>
          <a:xfrm>
            <a:off x="758952" y="2734056"/>
            <a:ext cx="1764792" cy="448056"/>
          </a:xfrm>
          <a:prstGeom prst="rect">
            <a:avLst/>
          </a:prstGeom>
          <a:noFill/>
          <a:ln/>
        </p:spPr>
        <p:txBody>
          <a:bodyPr wrap="square" lIns="0" tIns="0" rIns="0" bIns="0" rtlCol="0" anchor="ctr">
            <a:normAutofit/>
          </a:bodyPr>
          <a:lstStyle/>
          <a:p>
            <a:pPr algn="ctr" indent="0" marL="0">
              <a:buNone/>
            </a:pPr>
            <a:r>
              <a:rPr lang="en-US" sz="1020" b="1" dirty="0">
                <a:solidFill>
                  <a:srgbClr val="F5F7FA"/>
                </a:solidFill>
                <a:latin typeface="Microsoft JhengHei" pitchFamily="34" charset="0"/>
                <a:ea typeface="Microsoft JhengHei" pitchFamily="34" charset="-122"/>
                <a:cs typeface="Microsoft JhengHei" pitchFamily="34" charset="-120"/>
              </a:rPr>
              <a:t>測試方式</a:t>
            </a:r>
            <a:endParaRPr lang="en-US" sz="1020" dirty="0"/>
          </a:p>
        </p:txBody>
      </p:sp>
      <p:sp>
        <p:nvSpPr>
          <p:cNvPr id="26" name="Shape 24"/>
          <p:cNvSpPr/>
          <p:nvPr/>
        </p:nvSpPr>
        <p:spPr>
          <a:xfrm>
            <a:off x="2670048" y="2569464"/>
            <a:ext cx="2898648" cy="804672"/>
          </a:xfrm>
          <a:prstGeom prst="rect">
            <a:avLst/>
          </a:prstGeom>
          <a:solidFill>
            <a:srgbClr val="12263A"/>
          </a:solidFill>
          <a:ln w="7620">
            <a:solidFill>
              <a:srgbClr val="1E3A52"/>
            </a:solidFill>
            <a:prstDash val="solid"/>
          </a:ln>
        </p:spPr>
      </p:sp>
      <p:sp>
        <p:nvSpPr>
          <p:cNvPr id="27" name="Text 25"/>
          <p:cNvSpPr txBox="1"/>
          <p:nvPr/>
        </p:nvSpPr>
        <p:spPr>
          <a:xfrm>
            <a:off x="2816352" y="2734056"/>
            <a:ext cx="2606040" cy="448056"/>
          </a:xfrm>
          <a:prstGeom prst="rect">
            <a:avLst/>
          </a:prstGeom>
          <a:noFill/>
          <a:ln/>
        </p:spPr>
        <p:txBody>
          <a:bodyPr wrap="square" lIns="0" tIns="0" rIns="0" bIns="0" rtlCol="0" anchor="ctr">
            <a:normAutofit/>
          </a:bodyPr>
          <a:lstStyle/>
          <a:p>
            <a:pPr algn="l" indent="0" marL="0">
              <a:buNone/>
            </a:pPr>
            <a:r>
              <a:rPr lang="en-US" sz="970" dirty="0">
                <a:solidFill>
                  <a:srgbClr val="D8E2EC"/>
                </a:solidFill>
                <a:latin typeface="Microsoft JhengHei" pitchFamily="34" charset="0"/>
                <a:ea typeface="Microsoft JhengHei" pitchFamily="34" charset="-122"/>
                <a:cs typeface="Microsoft JhengHei" pitchFamily="34" charset="-120"/>
              </a:rPr>
              <a:t>25% PP 固定負荷</a:t>
            </a:r>
            <a:endParaRPr lang="en-US" sz="970" dirty="0"/>
          </a:p>
        </p:txBody>
      </p:sp>
      <p:sp>
        <p:nvSpPr>
          <p:cNvPr id="28" name="Shape 26"/>
          <p:cNvSpPr/>
          <p:nvPr/>
        </p:nvSpPr>
        <p:spPr>
          <a:xfrm>
            <a:off x="5568696" y="2569464"/>
            <a:ext cx="2898648" cy="804672"/>
          </a:xfrm>
          <a:prstGeom prst="rect">
            <a:avLst/>
          </a:prstGeom>
          <a:solidFill>
            <a:srgbClr val="12263A"/>
          </a:solidFill>
          <a:ln w="7620">
            <a:solidFill>
              <a:srgbClr val="1E3A52"/>
            </a:solidFill>
            <a:prstDash val="solid"/>
          </a:ln>
        </p:spPr>
      </p:sp>
      <p:sp>
        <p:nvSpPr>
          <p:cNvPr id="29" name="Text 27"/>
          <p:cNvSpPr txBox="1"/>
          <p:nvPr/>
        </p:nvSpPr>
        <p:spPr>
          <a:xfrm>
            <a:off x="5715000" y="2734056"/>
            <a:ext cx="2606040" cy="448056"/>
          </a:xfrm>
          <a:prstGeom prst="rect">
            <a:avLst/>
          </a:prstGeom>
          <a:noFill/>
          <a:ln/>
        </p:spPr>
        <p:txBody>
          <a:bodyPr wrap="square" lIns="0" tIns="0" rIns="0" bIns="0" rtlCol="0" anchor="ctr">
            <a:normAutofit/>
          </a:bodyPr>
          <a:lstStyle/>
          <a:p>
            <a:pPr algn="l" indent="0" marL="0">
              <a:buNone/>
            </a:pPr>
            <a:r>
              <a:rPr lang="en-US" sz="970" dirty="0">
                <a:solidFill>
                  <a:srgbClr val="D8E2EC"/>
                </a:solidFill>
                <a:latin typeface="Microsoft JhengHei" pitchFamily="34" charset="0"/>
                <a:ea typeface="Microsoft JhengHei" pitchFamily="34" charset="-122"/>
                <a:cs typeface="Microsoft JhengHei" pitchFamily="34" charset="-120"/>
              </a:rPr>
              <a:t>漸增腳踏車測試</a:t>
            </a:r>
            <a:endParaRPr lang="en-US" sz="970" dirty="0"/>
          </a:p>
        </p:txBody>
      </p:sp>
      <p:sp>
        <p:nvSpPr>
          <p:cNvPr id="30" name="Shape 28"/>
          <p:cNvSpPr/>
          <p:nvPr/>
        </p:nvSpPr>
        <p:spPr>
          <a:xfrm>
            <a:off x="8467344" y="2569464"/>
            <a:ext cx="3081528" cy="804672"/>
          </a:xfrm>
          <a:prstGeom prst="rect">
            <a:avLst/>
          </a:prstGeom>
          <a:solidFill>
            <a:srgbClr val="12263A"/>
          </a:solidFill>
          <a:ln w="7620">
            <a:solidFill>
              <a:srgbClr val="1E3A52"/>
            </a:solidFill>
            <a:prstDash val="solid"/>
          </a:ln>
        </p:spPr>
      </p:sp>
      <p:sp>
        <p:nvSpPr>
          <p:cNvPr id="31" name="Text 29"/>
          <p:cNvSpPr txBox="1"/>
          <p:nvPr/>
        </p:nvSpPr>
        <p:spPr>
          <a:xfrm>
            <a:off x="8613648" y="2734056"/>
            <a:ext cx="2788920" cy="448056"/>
          </a:xfrm>
          <a:prstGeom prst="rect">
            <a:avLst/>
          </a:prstGeom>
          <a:noFill/>
          <a:ln/>
        </p:spPr>
        <p:txBody>
          <a:bodyPr wrap="square" lIns="0" tIns="0" rIns="0" bIns="0" rtlCol="0" anchor="ctr">
            <a:normAutofit/>
          </a:bodyPr>
          <a:lstStyle/>
          <a:p>
            <a:pPr algn="l" indent="0" marL="0">
              <a:buNone/>
            </a:pPr>
            <a:r>
              <a:rPr lang="en-US" sz="970" b="1" dirty="0">
                <a:solidFill>
                  <a:srgbClr val="78EAE0"/>
                </a:solidFill>
                <a:latin typeface="Microsoft JhengHei" pitchFamily="34" charset="0"/>
                <a:ea typeface="Microsoft JhengHei" pitchFamily="34" charset="-122"/>
                <a:cs typeface="Microsoft JhengHei" pitchFamily="34" charset="-120"/>
              </a:rPr>
              <a:t>需要標準化測試，非自由訓練直接判分</a:t>
            </a:r>
            <a:endParaRPr lang="en-US" sz="970" dirty="0"/>
          </a:p>
        </p:txBody>
      </p:sp>
      <p:sp>
        <p:nvSpPr>
          <p:cNvPr id="32" name="Shape 30"/>
          <p:cNvSpPr/>
          <p:nvPr/>
        </p:nvSpPr>
        <p:spPr>
          <a:xfrm>
            <a:off x="612648" y="3374136"/>
            <a:ext cx="2057400" cy="804672"/>
          </a:xfrm>
          <a:prstGeom prst="rect">
            <a:avLst/>
          </a:prstGeom>
          <a:solidFill>
            <a:srgbClr val="102235"/>
          </a:solidFill>
          <a:ln w="7620">
            <a:solidFill>
              <a:srgbClr val="1E3A52"/>
            </a:solidFill>
            <a:prstDash val="solid"/>
          </a:ln>
        </p:spPr>
      </p:sp>
      <p:sp>
        <p:nvSpPr>
          <p:cNvPr id="33" name="Text 31"/>
          <p:cNvSpPr txBox="1"/>
          <p:nvPr/>
        </p:nvSpPr>
        <p:spPr>
          <a:xfrm>
            <a:off x="758952" y="3538728"/>
            <a:ext cx="1764792" cy="448056"/>
          </a:xfrm>
          <a:prstGeom prst="rect">
            <a:avLst/>
          </a:prstGeom>
          <a:noFill/>
          <a:ln/>
        </p:spPr>
        <p:txBody>
          <a:bodyPr wrap="square" lIns="0" tIns="0" rIns="0" bIns="0" rtlCol="0" anchor="ctr">
            <a:normAutofit/>
          </a:bodyPr>
          <a:lstStyle/>
          <a:p>
            <a:pPr algn="ctr" indent="0" marL="0">
              <a:buNone/>
            </a:pPr>
            <a:r>
              <a:rPr lang="en-US" sz="1020" b="1" dirty="0">
                <a:solidFill>
                  <a:srgbClr val="F5F7FA"/>
                </a:solidFill>
                <a:latin typeface="Microsoft JhengHei" pitchFamily="34" charset="0"/>
                <a:ea typeface="Microsoft JhengHei" pitchFamily="34" charset="-122"/>
                <a:cs typeface="Microsoft JhengHei" pitchFamily="34" charset="-120"/>
              </a:rPr>
              <a:t>主要特徵</a:t>
            </a:r>
            <a:endParaRPr lang="en-US" sz="1020" dirty="0"/>
          </a:p>
        </p:txBody>
      </p:sp>
      <p:sp>
        <p:nvSpPr>
          <p:cNvPr id="34" name="Shape 32"/>
          <p:cNvSpPr/>
          <p:nvPr/>
        </p:nvSpPr>
        <p:spPr>
          <a:xfrm>
            <a:off x="2670048" y="3374136"/>
            <a:ext cx="2898648" cy="804672"/>
          </a:xfrm>
          <a:prstGeom prst="rect">
            <a:avLst/>
          </a:prstGeom>
          <a:solidFill>
            <a:srgbClr val="0E1D2E"/>
          </a:solidFill>
          <a:ln w="7620">
            <a:solidFill>
              <a:srgbClr val="1E3A52"/>
            </a:solidFill>
            <a:prstDash val="solid"/>
          </a:ln>
        </p:spPr>
      </p:sp>
      <p:sp>
        <p:nvSpPr>
          <p:cNvPr id="35" name="Text 33"/>
          <p:cNvSpPr txBox="1"/>
          <p:nvPr/>
        </p:nvSpPr>
        <p:spPr>
          <a:xfrm>
            <a:off x="2816352" y="3538728"/>
            <a:ext cx="2606040" cy="448056"/>
          </a:xfrm>
          <a:prstGeom prst="rect">
            <a:avLst/>
          </a:prstGeom>
          <a:noFill/>
          <a:ln/>
        </p:spPr>
        <p:txBody>
          <a:bodyPr wrap="square" lIns="0" tIns="0" rIns="0" bIns="0" rtlCol="0" anchor="ctr">
            <a:normAutofit/>
          </a:bodyPr>
          <a:lstStyle/>
          <a:p>
            <a:pPr algn="l" indent="0" marL="0">
              <a:buNone/>
            </a:pPr>
            <a:r>
              <a:rPr lang="en-US" sz="970" dirty="0">
                <a:solidFill>
                  <a:srgbClr val="D8E2EC"/>
                </a:solidFill>
                <a:latin typeface="Microsoft JhengHei" pitchFamily="34" charset="0"/>
                <a:ea typeface="Microsoft JhengHei" pitchFamily="34" charset="-122"/>
                <a:cs typeface="Microsoft JhengHei" pitchFamily="34" charset="-120"/>
              </a:rPr>
              <a:t>達固定反應值／峰值時間</a:t>
            </a:r>
            <a:endParaRPr lang="en-US" sz="970" dirty="0"/>
          </a:p>
        </p:txBody>
      </p:sp>
      <p:sp>
        <p:nvSpPr>
          <p:cNvPr id="36" name="Shape 34"/>
          <p:cNvSpPr/>
          <p:nvPr/>
        </p:nvSpPr>
        <p:spPr>
          <a:xfrm>
            <a:off x="5568696" y="3374136"/>
            <a:ext cx="2898648" cy="804672"/>
          </a:xfrm>
          <a:prstGeom prst="rect">
            <a:avLst/>
          </a:prstGeom>
          <a:solidFill>
            <a:srgbClr val="0E1D2E"/>
          </a:solidFill>
          <a:ln w="7620">
            <a:solidFill>
              <a:srgbClr val="1E3A52"/>
            </a:solidFill>
            <a:prstDash val="solid"/>
          </a:ln>
        </p:spPr>
      </p:sp>
      <p:sp>
        <p:nvSpPr>
          <p:cNvPr id="37" name="Text 35"/>
          <p:cNvSpPr txBox="1"/>
          <p:nvPr/>
        </p:nvSpPr>
        <p:spPr>
          <a:xfrm>
            <a:off x="5715000" y="3538728"/>
            <a:ext cx="2606040" cy="448056"/>
          </a:xfrm>
          <a:prstGeom prst="rect">
            <a:avLst/>
          </a:prstGeom>
          <a:noFill/>
          <a:ln/>
        </p:spPr>
        <p:txBody>
          <a:bodyPr wrap="square" lIns="0" tIns="0" rIns="0" bIns="0" rtlCol="0" anchor="ctr">
            <a:normAutofit/>
          </a:bodyPr>
          <a:lstStyle/>
          <a:p>
            <a:pPr algn="l" indent="0" marL="0">
              <a:buNone/>
            </a:pPr>
            <a:r>
              <a:rPr lang="en-US" sz="970" dirty="0">
                <a:solidFill>
                  <a:srgbClr val="D8E2EC"/>
                </a:solidFill>
                <a:latin typeface="Microsoft JhengHei" pitchFamily="34" charset="0"/>
                <a:ea typeface="Microsoft JhengHei" pitchFamily="34" charset="-122"/>
                <a:cs typeface="Microsoft JhengHei" pitchFamily="34" charset="-120"/>
              </a:rPr>
              <a:t>sLT 的時間與功率</a:t>
            </a:r>
            <a:endParaRPr lang="en-US" sz="970" dirty="0"/>
          </a:p>
        </p:txBody>
      </p:sp>
      <p:sp>
        <p:nvSpPr>
          <p:cNvPr id="38" name="Shape 36"/>
          <p:cNvSpPr/>
          <p:nvPr/>
        </p:nvSpPr>
        <p:spPr>
          <a:xfrm>
            <a:off x="8467344" y="3374136"/>
            <a:ext cx="3081528" cy="804672"/>
          </a:xfrm>
          <a:prstGeom prst="rect">
            <a:avLst/>
          </a:prstGeom>
          <a:solidFill>
            <a:srgbClr val="0E1D2E"/>
          </a:solidFill>
          <a:ln w="7620">
            <a:solidFill>
              <a:srgbClr val="1E3A52"/>
            </a:solidFill>
            <a:prstDash val="solid"/>
          </a:ln>
        </p:spPr>
      </p:sp>
      <p:sp>
        <p:nvSpPr>
          <p:cNvPr id="39" name="Text 37"/>
          <p:cNvSpPr txBox="1"/>
          <p:nvPr/>
        </p:nvSpPr>
        <p:spPr>
          <a:xfrm>
            <a:off x="8613648" y="3538728"/>
            <a:ext cx="2788920" cy="448056"/>
          </a:xfrm>
          <a:prstGeom prst="rect">
            <a:avLst/>
          </a:prstGeom>
          <a:noFill/>
          <a:ln/>
        </p:spPr>
        <p:txBody>
          <a:bodyPr wrap="square" lIns="0" tIns="0" rIns="0" bIns="0" rtlCol="0" anchor="ctr">
            <a:normAutofit/>
          </a:bodyPr>
          <a:lstStyle/>
          <a:p>
            <a:pPr algn="l" indent="0" marL="0">
              <a:buNone/>
            </a:pPr>
            <a:r>
              <a:rPr lang="en-US" sz="970" b="1" dirty="0">
                <a:solidFill>
                  <a:srgbClr val="78EAE0"/>
                </a:solidFill>
                <a:latin typeface="Microsoft JhengHei" pitchFamily="34" charset="0"/>
                <a:ea typeface="Microsoft JhengHei" pitchFamily="34" charset="-122"/>
                <a:cs typeface="Microsoft JhengHei" pitchFamily="34" charset="-120"/>
              </a:rPr>
              <a:t>時間、轉折、閾值比絕對濃度重要</a:t>
            </a:r>
            <a:endParaRPr lang="en-US" sz="970" dirty="0"/>
          </a:p>
        </p:txBody>
      </p:sp>
      <p:sp>
        <p:nvSpPr>
          <p:cNvPr id="40" name="Shape 38"/>
          <p:cNvSpPr/>
          <p:nvPr/>
        </p:nvSpPr>
        <p:spPr>
          <a:xfrm>
            <a:off x="612648" y="4178808"/>
            <a:ext cx="2057400" cy="804672"/>
          </a:xfrm>
          <a:prstGeom prst="rect">
            <a:avLst/>
          </a:prstGeom>
          <a:solidFill>
            <a:srgbClr val="102235"/>
          </a:solidFill>
          <a:ln w="7620">
            <a:solidFill>
              <a:srgbClr val="1E3A52"/>
            </a:solidFill>
            <a:prstDash val="solid"/>
          </a:ln>
        </p:spPr>
      </p:sp>
      <p:sp>
        <p:nvSpPr>
          <p:cNvPr id="41" name="Text 39"/>
          <p:cNvSpPr txBox="1"/>
          <p:nvPr/>
        </p:nvSpPr>
        <p:spPr>
          <a:xfrm>
            <a:off x="758952" y="4343400"/>
            <a:ext cx="1764792" cy="448056"/>
          </a:xfrm>
          <a:prstGeom prst="rect">
            <a:avLst/>
          </a:prstGeom>
          <a:noFill/>
          <a:ln/>
        </p:spPr>
        <p:txBody>
          <a:bodyPr wrap="square" lIns="0" tIns="0" rIns="0" bIns="0" rtlCol="0" anchor="ctr">
            <a:normAutofit/>
          </a:bodyPr>
          <a:lstStyle/>
          <a:p>
            <a:pPr algn="ctr" indent="0" marL="0">
              <a:buNone/>
            </a:pPr>
            <a:r>
              <a:rPr lang="en-US" sz="1020" b="1" dirty="0">
                <a:solidFill>
                  <a:srgbClr val="F5F7FA"/>
                </a:solidFill>
                <a:latin typeface="Microsoft JhengHei" pitchFamily="34" charset="0"/>
                <a:ea typeface="Microsoft JhengHei" pitchFamily="34" charset="-122"/>
                <a:cs typeface="Microsoft JhengHei" pitchFamily="34" charset="-120"/>
              </a:rPr>
              <a:t>汗液輸出</a:t>
            </a:r>
            <a:endParaRPr lang="en-US" sz="1020" dirty="0"/>
          </a:p>
        </p:txBody>
      </p:sp>
      <p:sp>
        <p:nvSpPr>
          <p:cNvPr id="42" name="Shape 40"/>
          <p:cNvSpPr/>
          <p:nvPr/>
        </p:nvSpPr>
        <p:spPr>
          <a:xfrm>
            <a:off x="2670048" y="4178808"/>
            <a:ext cx="2898648" cy="804672"/>
          </a:xfrm>
          <a:prstGeom prst="rect">
            <a:avLst/>
          </a:prstGeom>
          <a:solidFill>
            <a:srgbClr val="12263A"/>
          </a:solidFill>
          <a:ln w="7620">
            <a:solidFill>
              <a:srgbClr val="1E3A52"/>
            </a:solidFill>
            <a:prstDash val="solid"/>
          </a:ln>
        </p:spPr>
      </p:sp>
      <p:sp>
        <p:nvSpPr>
          <p:cNvPr id="43" name="Text 41"/>
          <p:cNvSpPr txBox="1"/>
          <p:nvPr/>
        </p:nvSpPr>
        <p:spPr>
          <a:xfrm>
            <a:off x="2816352" y="4343400"/>
            <a:ext cx="2606040" cy="448056"/>
          </a:xfrm>
          <a:prstGeom prst="rect">
            <a:avLst/>
          </a:prstGeom>
          <a:noFill/>
          <a:ln/>
        </p:spPr>
        <p:txBody>
          <a:bodyPr wrap="square" lIns="0" tIns="0" rIns="0" bIns="0" rtlCol="0" anchor="ctr">
            <a:normAutofit/>
          </a:bodyPr>
          <a:lstStyle/>
          <a:p>
            <a:pPr algn="l" indent="0" marL="0">
              <a:buNone/>
            </a:pPr>
            <a:r>
              <a:rPr lang="en-US" sz="970" dirty="0">
                <a:solidFill>
                  <a:srgbClr val="D8E2EC"/>
                </a:solidFill>
                <a:latin typeface="Microsoft JhengHei" pitchFamily="34" charset="0"/>
                <a:ea typeface="Microsoft JhengHei" pitchFamily="34" charset="-122"/>
                <a:cs typeface="Microsoft JhengHei" pitchFamily="34" charset="-120"/>
              </a:rPr>
              <a:t>電流 × 汗率之排出指標</a:t>
            </a:r>
            <a:endParaRPr lang="en-US" sz="970" dirty="0"/>
          </a:p>
        </p:txBody>
      </p:sp>
      <p:sp>
        <p:nvSpPr>
          <p:cNvPr id="44" name="Shape 42"/>
          <p:cNvSpPr/>
          <p:nvPr/>
        </p:nvSpPr>
        <p:spPr>
          <a:xfrm>
            <a:off x="5568696" y="4178808"/>
            <a:ext cx="2898648" cy="804672"/>
          </a:xfrm>
          <a:prstGeom prst="rect">
            <a:avLst/>
          </a:prstGeom>
          <a:solidFill>
            <a:srgbClr val="12263A"/>
          </a:solidFill>
          <a:ln w="7620">
            <a:solidFill>
              <a:srgbClr val="1E3A52"/>
            </a:solidFill>
            <a:prstDash val="solid"/>
          </a:ln>
        </p:spPr>
      </p:sp>
      <p:sp>
        <p:nvSpPr>
          <p:cNvPr id="45" name="Text 43"/>
          <p:cNvSpPr txBox="1"/>
          <p:nvPr/>
        </p:nvSpPr>
        <p:spPr>
          <a:xfrm>
            <a:off x="5715000" y="4343400"/>
            <a:ext cx="2606040" cy="448056"/>
          </a:xfrm>
          <a:prstGeom prst="rect">
            <a:avLst/>
          </a:prstGeom>
          <a:noFill/>
          <a:ln/>
        </p:spPr>
        <p:txBody>
          <a:bodyPr wrap="square" lIns="0" tIns="0" rIns="0" bIns="0" rtlCol="0" anchor="ctr">
            <a:normAutofit/>
          </a:bodyPr>
          <a:lstStyle/>
          <a:p>
            <a:pPr algn="l" indent="0" marL="0">
              <a:buNone/>
            </a:pPr>
            <a:r>
              <a:rPr lang="en-US" sz="970" dirty="0">
                <a:solidFill>
                  <a:srgbClr val="D8E2EC"/>
                </a:solidFill>
                <a:latin typeface="Microsoft JhengHei" pitchFamily="34" charset="0"/>
                <a:ea typeface="Microsoft JhengHei" pitchFamily="34" charset="-122"/>
                <a:cs typeface="Microsoft JhengHei" pitchFamily="34" charset="-120"/>
              </a:rPr>
              <a:t>電流曲線轉折</a:t>
            </a:r>
            <a:endParaRPr lang="en-US" sz="970" dirty="0"/>
          </a:p>
        </p:txBody>
      </p:sp>
      <p:sp>
        <p:nvSpPr>
          <p:cNvPr id="46" name="Shape 44"/>
          <p:cNvSpPr/>
          <p:nvPr/>
        </p:nvSpPr>
        <p:spPr>
          <a:xfrm>
            <a:off x="8467344" y="4178808"/>
            <a:ext cx="3081528" cy="804672"/>
          </a:xfrm>
          <a:prstGeom prst="rect">
            <a:avLst/>
          </a:prstGeom>
          <a:solidFill>
            <a:srgbClr val="12263A"/>
          </a:solidFill>
          <a:ln w="7620">
            <a:solidFill>
              <a:srgbClr val="1E3A52"/>
            </a:solidFill>
            <a:prstDash val="solid"/>
          </a:ln>
        </p:spPr>
      </p:sp>
      <p:sp>
        <p:nvSpPr>
          <p:cNvPr id="47" name="Text 45"/>
          <p:cNvSpPr txBox="1"/>
          <p:nvPr/>
        </p:nvSpPr>
        <p:spPr>
          <a:xfrm>
            <a:off x="8613648" y="4343400"/>
            <a:ext cx="2788920" cy="448056"/>
          </a:xfrm>
          <a:prstGeom prst="rect">
            <a:avLst/>
          </a:prstGeom>
          <a:noFill/>
          <a:ln/>
        </p:spPr>
        <p:txBody>
          <a:bodyPr wrap="square" lIns="0" tIns="0" rIns="0" bIns="0" rtlCol="0" anchor="ctr">
            <a:normAutofit/>
          </a:bodyPr>
          <a:lstStyle/>
          <a:p>
            <a:pPr algn="l" indent="0" marL="0">
              <a:buNone/>
            </a:pPr>
            <a:r>
              <a:rPr lang="en-US" sz="970" b="1" dirty="0">
                <a:solidFill>
                  <a:srgbClr val="78EAE0"/>
                </a:solidFill>
                <a:latin typeface="Microsoft JhengHei" pitchFamily="34" charset="0"/>
                <a:ea typeface="Microsoft JhengHei" pitchFamily="34" charset="-122"/>
                <a:cs typeface="Microsoft JhengHei" pitchFamily="34" charset="-120"/>
              </a:rPr>
              <a:t>兩篇端點並不完全相同</a:t>
            </a:r>
            <a:endParaRPr lang="en-US" sz="970" dirty="0"/>
          </a:p>
        </p:txBody>
      </p:sp>
      <p:sp>
        <p:nvSpPr>
          <p:cNvPr id="48" name="Shape 46"/>
          <p:cNvSpPr/>
          <p:nvPr/>
        </p:nvSpPr>
        <p:spPr>
          <a:xfrm>
            <a:off x="612648" y="4983480"/>
            <a:ext cx="2057400" cy="804672"/>
          </a:xfrm>
          <a:prstGeom prst="rect">
            <a:avLst/>
          </a:prstGeom>
          <a:solidFill>
            <a:srgbClr val="102235"/>
          </a:solidFill>
          <a:ln w="7620">
            <a:solidFill>
              <a:srgbClr val="1E3A52"/>
            </a:solidFill>
            <a:prstDash val="solid"/>
          </a:ln>
        </p:spPr>
      </p:sp>
      <p:sp>
        <p:nvSpPr>
          <p:cNvPr id="49" name="Text 47"/>
          <p:cNvSpPr txBox="1"/>
          <p:nvPr/>
        </p:nvSpPr>
        <p:spPr>
          <a:xfrm>
            <a:off x="758952" y="5148072"/>
            <a:ext cx="1764792" cy="448056"/>
          </a:xfrm>
          <a:prstGeom prst="rect">
            <a:avLst/>
          </a:prstGeom>
          <a:noFill/>
          <a:ln/>
        </p:spPr>
        <p:txBody>
          <a:bodyPr wrap="square" lIns="0" tIns="0" rIns="0" bIns="0" rtlCol="0" anchor="ctr">
            <a:normAutofit/>
          </a:bodyPr>
          <a:lstStyle/>
          <a:p>
            <a:pPr algn="ctr" indent="0" marL="0">
              <a:buNone/>
            </a:pPr>
            <a:r>
              <a:rPr lang="en-US" sz="1020" b="1" dirty="0">
                <a:solidFill>
                  <a:srgbClr val="F5F7FA"/>
                </a:solidFill>
                <a:latin typeface="Microsoft JhengHei" pitchFamily="34" charset="0"/>
                <a:ea typeface="Microsoft JhengHei" pitchFamily="34" charset="-122"/>
                <a:cs typeface="Microsoft JhengHei" pitchFamily="34" charset="-120"/>
              </a:rPr>
              <a:t>主要限制</a:t>
            </a:r>
            <a:endParaRPr lang="en-US" sz="1020" dirty="0"/>
          </a:p>
        </p:txBody>
      </p:sp>
      <p:sp>
        <p:nvSpPr>
          <p:cNvPr id="50" name="Shape 48"/>
          <p:cNvSpPr/>
          <p:nvPr/>
        </p:nvSpPr>
        <p:spPr>
          <a:xfrm>
            <a:off x="2670048" y="4983480"/>
            <a:ext cx="2898648" cy="804672"/>
          </a:xfrm>
          <a:prstGeom prst="rect">
            <a:avLst/>
          </a:prstGeom>
          <a:solidFill>
            <a:srgbClr val="0E1D2E"/>
          </a:solidFill>
          <a:ln w="7620">
            <a:solidFill>
              <a:srgbClr val="1E3A52"/>
            </a:solidFill>
            <a:prstDash val="solid"/>
          </a:ln>
        </p:spPr>
      </p:sp>
      <p:sp>
        <p:nvSpPr>
          <p:cNvPr id="51" name="Text 49"/>
          <p:cNvSpPr txBox="1"/>
          <p:nvPr/>
        </p:nvSpPr>
        <p:spPr>
          <a:xfrm>
            <a:off x="2816352" y="5148072"/>
            <a:ext cx="2606040" cy="448056"/>
          </a:xfrm>
          <a:prstGeom prst="rect">
            <a:avLst/>
          </a:prstGeom>
          <a:noFill/>
          <a:ln/>
        </p:spPr>
        <p:txBody>
          <a:bodyPr wrap="square" lIns="0" tIns="0" rIns="0" bIns="0" rtlCol="0" anchor="ctr">
            <a:normAutofit/>
          </a:bodyPr>
          <a:lstStyle/>
          <a:p>
            <a:pPr algn="l" indent="0" marL="0">
              <a:buNone/>
            </a:pPr>
            <a:r>
              <a:rPr lang="en-US" sz="970" dirty="0">
                <a:solidFill>
                  <a:srgbClr val="D8E2EC"/>
                </a:solidFill>
                <a:latin typeface="Microsoft JhengHei" pitchFamily="34" charset="0"/>
                <a:ea typeface="Microsoft JhengHei" pitchFamily="34" charset="-122"/>
                <a:cs typeface="Microsoft JhengHei" pitchFamily="34" charset="-120"/>
              </a:rPr>
              <a:t>n=17；固定順序；3 人排除</a:t>
            </a:r>
            <a:endParaRPr lang="en-US" sz="970" dirty="0"/>
          </a:p>
        </p:txBody>
      </p:sp>
      <p:sp>
        <p:nvSpPr>
          <p:cNvPr id="52" name="Shape 50"/>
          <p:cNvSpPr/>
          <p:nvPr/>
        </p:nvSpPr>
        <p:spPr>
          <a:xfrm>
            <a:off x="5568696" y="4983480"/>
            <a:ext cx="2898648" cy="804672"/>
          </a:xfrm>
          <a:prstGeom prst="rect">
            <a:avLst/>
          </a:prstGeom>
          <a:solidFill>
            <a:srgbClr val="0E1D2E"/>
          </a:solidFill>
          <a:ln w="7620">
            <a:solidFill>
              <a:srgbClr val="1E3A52"/>
            </a:solidFill>
            <a:prstDash val="solid"/>
          </a:ln>
        </p:spPr>
      </p:sp>
      <p:sp>
        <p:nvSpPr>
          <p:cNvPr id="53" name="Text 51"/>
          <p:cNvSpPr txBox="1"/>
          <p:nvPr/>
        </p:nvSpPr>
        <p:spPr>
          <a:xfrm>
            <a:off x="5715000" y="5148072"/>
            <a:ext cx="2606040" cy="448056"/>
          </a:xfrm>
          <a:prstGeom prst="rect">
            <a:avLst/>
          </a:prstGeom>
          <a:noFill/>
          <a:ln/>
        </p:spPr>
        <p:txBody>
          <a:bodyPr wrap="square" lIns="0" tIns="0" rIns="0" bIns="0" rtlCol="0" anchor="ctr">
            <a:normAutofit/>
          </a:bodyPr>
          <a:lstStyle/>
          <a:p>
            <a:pPr algn="l" indent="0" marL="0">
              <a:buNone/>
            </a:pPr>
            <a:r>
              <a:rPr lang="en-US" sz="970" dirty="0">
                <a:solidFill>
                  <a:srgbClr val="D8E2EC"/>
                </a:solidFill>
                <a:latin typeface="Microsoft JhengHei" pitchFamily="34" charset="0"/>
                <a:ea typeface="Microsoft JhengHei" pitchFamily="34" charset="-122"/>
                <a:cs typeface="Microsoft JhengHei" pitchFamily="34" charset="-120"/>
              </a:rPr>
              <a:t>n=18；相關性；+48 h</a:t>
            </a:r>
            <a:endParaRPr lang="en-US" sz="970" dirty="0"/>
          </a:p>
        </p:txBody>
      </p:sp>
      <p:sp>
        <p:nvSpPr>
          <p:cNvPr id="54" name="Shape 52"/>
          <p:cNvSpPr/>
          <p:nvPr/>
        </p:nvSpPr>
        <p:spPr>
          <a:xfrm>
            <a:off x="8467344" y="4983480"/>
            <a:ext cx="3081528" cy="804672"/>
          </a:xfrm>
          <a:prstGeom prst="rect">
            <a:avLst/>
          </a:prstGeom>
          <a:solidFill>
            <a:srgbClr val="0E1D2E"/>
          </a:solidFill>
          <a:ln w="7620">
            <a:solidFill>
              <a:srgbClr val="1E3A52"/>
            </a:solidFill>
            <a:prstDash val="solid"/>
          </a:ln>
        </p:spPr>
      </p:sp>
      <p:sp>
        <p:nvSpPr>
          <p:cNvPr id="55" name="Text 53"/>
          <p:cNvSpPr txBox="1"/>
          <p:nvPr/>
        </p:nvSpPr>
        <p:spPr>
          <a:xfrm>
            <a:off x="8613648" y="5148072"/>
            <a:ext cx="2788920" cy="448056"/>
          </a:xfrm>
          <a:prstGeom prst="rect">
            <a:avLst/>
          </a:prstGeom>
          <a:noFill/>
          <a:ln/>
        </p:spPr>
        <p:txBody>
          <a:bodyPr wrap="square" lIns="0" tIns="0" rIns="0" bIns="0" rtlCol="0" anchor="ctr">
            <a:normAutofit/>
          </a:bodyPr>
          <a:lstStyle/>
          <a:p>
            <a:pPr algn="l" indent="0" marL="0">
              <a:buNone/>
            </a:pPr>
            <a:r>
              <a:rPr lang="en-US" sz="970" b="1" dirty="0">
                <a:solidFill>
                  <a:srgbClr val="78EAE0"/>
                </a:solidFill>
                <a:latin typeface="Microsoft JhengHei" pitchFamily="34" charset="0"/>
                <a:ea typeface="Microsoft JhengHei" pitchFamily="34" charset="-122"/>
                <a:cs typeface="Microsoft JhengHei" pitchFamily="34" charset="-120"/>
              </a:rPr>
              <a:t>目前屬探索性、候選生物標記</a:t>
            </a:r>
            <a:endParaRPr lang="en-US" sz="970" dirty="0"/>
          </a:p>
        </p:txBody>
      </p:sp>
      <p:sp>
        <p:nvSpPr>
          <p:cNvPr id="56" name="Shape 54"/>
          <p:cNvSpPr/>
          <p:nvPr/>
        </p:nvSpPr>
        <p:spPr>
          <a:xfrm>
            <a:off x="1097280" y="5925312"/>
            <a:ext cx="10012680" cy="347472"/>
          </a:xfrm>
          <a:prstGeom prst="roundRect">
            <a:avLst>
              <a:gd name="adj" fmla="val 21053"/>
            </a:avLst>
          </a:prstGeom>
          <a:solidFill>
            <a:srgbClr val="12263A"/>
          </a:solidFill>
          <a:ln w="12700">
            <a:solidFill>
              <a:srgbClr val="FFD166"/>
            </a:solidFill>
            <a:prstDash val="solid"/>
          </a:ln>
        </p:spPr>
      </p:sp>
      <p:sp>
        <p:nvSpPr>
          <p:cNvPr id="57" name="Text 55"/>
          <p:cNvSpPr txBox="1"/>
          <p:nvPr/>
        </p:nvSpPr>
        <p:spPr>
          <a:xfrm>
            <a:off x="1344168" y="6007608"/>
            <a:ext cx="9509760" cy="164592"/>
          </a:xfrm>
          <a:prstGeom prst="rect">
            <a:avLst/>
          </a:prstGeom>
          <a:noFill/>
          <a:ln/>
        </p:spPr>
        <p:txBody>
          <a:bodyPr wrap="square" lIns="0" tIns="0" rIns="0" bIns="0" rtlCol="0" anchor="t">
            <a:normAutofit/>
          </a:bodyPr>
          <a:lstStyle/>
          <a:p>
            <a:pPr algn="ctr" indent="0" marL="0">
              <a:buNone/>
            </a:pPr>
            <a:r>
              <a:rPr lang="en-US" sz="930" b="1" dirty="0">
                <a:solidFill>
                  <a:srgbClr val="FFD166"/>
                </a:solidFill>
                <a:latin typeface="Microsoft JhengHei" pitchFamily="34" charset="0"/>
                <a:ea typeface="Microsoft JhengHei" pitchFamily="34" charset="-122"/>
                <a:cs typeface="Microsoft JhengHei" pitchFamily="34" charset="-120"/>
              </a:rPr>
              <a:t>兩篇來自高度重疊的研究團隊、機構與同一商用感測平台；第二篇延伸第一篇，但不能算完全獨立複驗。</a:t>
            </a:r>
            <a:endParaRPr lang="en-US" sz="93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0D4C7"/>
          </a:solidFill>
          <a:ln w="12700">
            <a:solidFill>
              <a:srgbClr val="20D4C7">
                <a:alpha val="0"/>
              </a:srgbClr>
            </a:solidFill>
            <a:prstDash val="solid"/>
          </a:ln>
        </p:spPr>
      </p:sp>
      <p:sp>
        <p:nvSpPr>
          <p:cNvPr id="3" name="Shape 1"/>
          <p:cNvSpPr/>
          <p:nvPr/>
        </p:nvSpPr>
        <p:spPr>
          <a:xfrm>
            <a:off x="10561320" y="-658368"/>
            <a:ext cx="2194560" cy="2194560"/>
          </a:xfrm>
          <a:prstGeom prst="ellipse">
            <a:avLst/>
          </a:prstGeom>
          <a:solidFill>
            <a:srgbClr val="20D4C7">
              <a:alpha val="8000"/>
            </a:srgbClr>
          </a:solidFill>
          <a:ln w="12700">
            <a:solidFill>
              <a:srgbClr val="20D4C7">
                <a:alpha val="0"/>
              </a:srgbClr>
            </a:solidFill>
            <a:prstDash val="solid"/>
          </a:ln>
        </p:spPr>
      </p:sp>
      <p:sp>
        <p:nvSpPr>
          <p:cNvPr id="4" name="Shape 2"/>
          <p:cNvSpPr/>
          <p:nvPr/>
        </p:nvSpPr>
        <p:spPr>
          <a:xfrm>
            <a:off x="502920" y="841248"/>
            <a:ext cx="11155680" cy="0"/>
          </a:xfrm>
          <a:prstGeom prst="line">
            <a:avLst/>
          </a:prstGeom>
          <a:noFill/>
          <a:ln w="12700">
            <a:solidFill>
              <a:srgbClr val="1E3A52"/>
            </a:solidFill>
            <a:prstDash val="solid"/>
          </a:ln>
        </p:spPr>
      </p:sp>
      <p:sp>
        <p:nvSpPr>
          <p:cNvPr id="5" name="Text 3"/>
          <p:cNvSpPr/>
          <p:nvPr/>
        </p:nvSpPr>
        <p:spPr>
          <a:xfrm>
            <a:off x="566928" y="237744"/>
            <a:ext cx="2926080" cy="219456"/>
          </a:xfrm>
          <a:prstGeom prst="rect">
            <a:avLst/>
          </a:prstGeom>
          <a:noFill/>
          <a:ln/>
        </p:spPr>
        <p:txBody>
          <a:bodyPr wrap="square" lIns="0" tIns="0" rIns="0" bIns="0" rtlCol="0" anchor="ctr">
            <a:normAutofit/>
          </a:bodyPr>
          <a:lstStyle/>
          <a:p>
            <a:pPr indent="0" marL="0">
              <a:buNone/>
            </a:pPr>
            <a:r>
              <a:rPr lang="en-US" sz="850" b="1" spc="130" kern="0" dirty="0">
                <a:solidFill>
                  <a:srgbClr val="20D4C7"/>
                </a:solidFill>
                <a:latin typeface="Aptos" pitchFamily="34" charset="0"/>
                <a:ea typeface="Aptos" pitchFamily="34" charset="-122"/>
                <a:cs typeface="Aptos" pitchFamily="34" charset="-120"/>
              </a:rPr>
              <a:t>CLAIM DISCIPLINE</a:t>
            </a:r>
            <a:endParaRPr lang="en-US" sz="850" dirty="0"/>
          </a:p>
        </p:txBody>
      </p:sp>
      <p:sp>
        <p:nvSpPr>
          <p:cNvPr id="6" name="Text 4"/>
          <p:cNvSpPr/>
          <p:nvPr/>
        </p:nvSpPr>
        <p:spPr>
          <a:xfrm>
            <a:off x="566928" y="420624"/>
            <a:ext cx="10881360" cy="365760"/>
          </a:xfrm>
          <a:prstGeom prst="rect">
            <a:avLst/>
          </a:prstGeom>
          <a:noFill/>
          <a:ln/>
        </p:spPr>
        <p:txBody>
          <a:bodyPr wrap="square" lIns="0" tIns="0" rIns="0" bIns="0" rtlCol="0" anchor="ctr">
            <a:normAutofit/>
          </a:bodyPr>
          <a:lstStyle/>
          <a:p>
            <a:pPr indent="0" marL="0">
              <a:buNone/>
            </a:pPr>
            <a:r>
              <a:rPr lang="en-US" sz="2300" b="1" dirty="0">
                <a:solidFill>
                  <a:srgbClr val="F5F7FA"/>
                </a:solidFill>
                <a:latin typeface="Microsoft JhengHei" pitchFamily="34" charset="0"/>
                <a:ea typeface="Microsoft JhengHei" pitchFamily="34" charset="-122"/>
                <a:cs typeface="Microsoft JhengHei" pitchFamily="34" charset="-120"/>
              </a:rPr>
              <a:t>證據邊界：哪些話可以說？哪些不能說？</a:t>
            </a:r>
            <a:endParaRPr lang="en-US" sz="2300" dirty="0"/>
          </a:p>
        </p:txBody>
      </p:sp>
      <p:sp>
        <p:nvSpPr>
          <p:cNvPr id="7" name="Text 5"/>
          <p:cNvSpPr/>
          <p:nvPr/>
        </p:nvSpPr>
        <p:spPr>
          <a:xfrm>
            <a:off x="11109960" y="6519672"/>
            <a:ext cx="502920" cy="164592"/>
          </a:xfrm>
          <a:prstGeom prst="rect">
            <a:avLst/>
          </a:prstGeom>
          <a:noFill/>
          <a:ln/>
        </p:spPr>
        <p:txBody>
          <a:bodyPr wrap="square" lIns="0" tIns="0" rIns="0" bIns="0" rtlCol="0" anchor="ctr"/>
          <a:lstStyle/>
          <a:p>
            <a:pPr algn="r" indent="0" marL="0">
              <a:buNone/>
            </a:pPr>
            <a:r>
              <a:rPr lang="en-US" sz="850" b="1" dirty="0">
                <a:solidFill>
                  <a:srgbClr val="20D4C7"/>
                </a:solidFill>
                <a:latin typeface="Aptos" pitchFamily="34" charset="0"/>
                <a:ea typeface="Aptos" pitchFamily="34" charset="-122"/>
                <a:cs typeface="Aptos" pitchFamily="34" charset="-120"/>
              </a:rPr>
              <a:t>13</a:t>
            </a:r>
            <a:endParaRPr lang="en-US" sz="850" dirty="0"/>
          </a:p>
        </p:txBody>
      </p:sp>
      <p:sp>
        <p:nvSpPr>
          <p:cNvPr id="8" name="Shape 6"/>
          <p:cNvSpPr/>
          <p:nvPr/>
        </p:nvSpPr>
        <p:spPr>
          <a:xfrm>
            <a:off x="640080" y="1252728"/>
            <a:ext cx="5394960" cy="4882896"/>
          </a:xfrm>
          <a:prstGeom prst="roundRect">
            <a:avLst>
              <a:gd name="adj" fmla="val 1498"/>
            </a:avLst>
          </a:prstGeom>
          <a:solidFill>
            <a:srgbClr val="0E1D2E"/>
          </a:solidFill>
          <a:ln w="17780">
            <a:solidFill>
              <a:srgbClr val="B7F06A"/>
            </a:solidFill>
            <a:prstDash val="solid"/>
          </a:ln>
        </p:spPr>
      </p:sp>
      <p:sp>
        <p:nvSpPr>
          <p:cNvPr id="9" name="Shape 7"/>
          <p:cNvSpPr/>
          <p:nvPr/>
        </p:nvSpPr>
        <p:spPr>
          <a:xfrm>
            <a:off x="923544" y="1545336"/>
            <a:ext cx="2066544" cy="310896"/>
          </a:xfrm>
          <a:prstGeom prst="roundRect">
            <a:avLst/>
          </a:prstGeom>
          <a:solidFill>
            <a:srgbClr val="B7F06A"/>
          </a:solidFill>
          <a:ln w="12700">
            <a:solidFill>
              <a:srgbClr val="B7F06A">
                <a:alpha val="0"/>
              </a:srgbClr>
            </a:solidFill>
            <a:prstDash val="solid"/>
          </a:ln>
        </p:spPr>
      </p:sp>
      <p:sp>
        <p:nvSpPr>
          <p:cNvPr id="10" name="Text 8"/>
          <p:cNvSpPr txBox="1"/>
          <p:nvPr/>
        </p:nvSpPr>
        <p:spPr>
          <a:xfrm>
            <a:off x="996696" y="1613916"/>
            <a:ext cx="1920240" cy="210312"/>
          </a:xfrm>
          <a:prstGeom prst="rect">
            <a:avLst/>
          </a:prstGeom>
          <a:noFill/>
          <a:ln/>
        </p:spPr>
        <p:txBody>
          <a:bodyPr wrap="square" lIns="0" tIns="0" rIns="0" bIns="0" rtlCol="0" anchor="ctr">
            <a:normAutofit/>
          </a:bodyPr>
          <a:lstStyle/>
          <a:p>
            <a:pPr algn="ctr" indent="0" marL="0">
              <a:buNone/>
            </a:pPr>
            <a:r>
              <a:rPr lang="en-US" sz="920" b="1" dirty="0">
                <a:solidFill>
                  <a:srgbClr val="07111F"/>
                </a:solidFill>
                <a:latin typeface="Aptos" pitchFamily="34" charset="0"/>
                <a:ea typeface="Aptos" pitchFamily="34" charset="-122"/>
                <a:cs typeface="Aptos" pitchFamily="34" charset="-120"/>
              </a:rPr>
              <a:t>可以說｜SUPPORTED</a:t>
            </a:r>
            <a:endParaRPr lang="en-US" sz="920" dirty="0"/>
          </a:p>
        </p:txBody>
      </p:sp>
      <p:sp>
        <p:nvSpPr>
          <p:cNvPr id="11" name="Shape 9"/>
          <p:cNvSpPr/>
          <p:nvPr/>
        </p:nvSpPr>
        <p:spPr>
          <a:xfrm>
            <a:off x="969264" y="2185416"/>
            <a:ext cx="128016" cy="128016"/>
          </a:xfrm>
          <a:prstGeom prst="ellipse">
            <a:avLst/>
          </a:prstGeom>
          <a:solidFill>
            <a:srgbClr val="B7F06A"/>
          </a:solidFill>
          <a:ln w="12700">
            <a:solidFill>
              <a:srgbClr val="B7F06A">
                <a:alpha val="0"/>
              </a:srgbClr>
            </a:solidFill>
            <a:prstDash val="solid"/>
          </a:ln>
        </p:spPr>
      </p:sp>
      <p:sp>
        <p:nvSpPr>
          <p:cNvPr id="12" name="Text 10"/>
          <p:cNvSpPr txBox="1"/>
          <p:nvPr/>
        </p:nvSpPr>
        <p:spPr>
          <a:xfrm>
            <a:off x="1179576" y="2148840"/>
            <a:ext cx="4325112"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標準化條件下的「提早反應」</a:t>
            </a:r>
            <a:endParaRPr lang="en-US" sz="1250" dirty="0"/>
          </a:p>
        </p:txBody>
      </p:sp>
      <p:sp>
        <p:nvSpPr>
          <p:cNvPr id="13" name="Text 11"/>
          <p:cNvSpPr txBox="1"/>
          <p:nvPr/>
        </p:nvSpPr>
        <p:spPr>
          <a:xfrm>
            <a:off x="1179576" y="2414016"/>
            <a:ext cx="4325112" cy="603504"/>
          </a:xfrm>
          <a:prstGeom prst="rect">
            <a:avLst/>
          </a:prstGeom>
          <a:noFill/>
          <a:ln/>
        </p:spPr>
        <p:txBody>
          <a:bodyPr wrap="square" lIns="0" tIns="0" rIns="0" bIns="0" rtlCol="0" anchor="t">
            <a:normAutofit/>
          </a:bodyPr>
          <a:lstStyle/>
          <a:p>
            <a:pPr algn="l" indent="0" marL="0">
              <a:buNone/>
            </a:pPr>
            <a:r>
              <a:rPr lang="en-US" sz="1050" dirty="0">
                <a:solidFill>
                  <a:srgbClr val="93A4B6"/>
                </a:solidFill>
                <a:latin typeface="Microsoft JhengHei" pitchFamily="34" charset="0"/>
                <a:ea typeface="Microsoft JhengHei" pitchFamily="34" charset="-122"/>
                <a:cs typeface="Microsoft JhengHei" pitchFamily="34" charset="-120"/>
              </a:rPr>
              <a:t>同人、同裝置、同部位、同 protocol 比較時，疲勞／近期高負荷與更早的 sLA 動態相關。</a:t>
            </a:r>
            <a:endParaRPr lang="en-US" sz="1050" dirty="0"/>
          </a:p>
        </p:txBody>
      </p:sp>
      <p:sp>
        <p:nvSpPr>
          <p:cNvPr id="14" name="Shape 12"/>
          <p:cNvSpPr/>
          <p:nvPr/>
        </p:nvSpPr>
        <p:spPr>
          <a:xfrm>
            <a:off x="969264" y="3310128"/>
            <a:ext cx="128016" cy="128016"/>
          </a:xfrm>
          <a:prstGeom prst="ellipse">
            <a:avLst/>
          </a:prstGeom>
          <a:solidFill>
            <a:srgbClr val="20D4C7"/>
          </a:solidFill>
          <a:ln w="12700">
            <a:solidFill>
              <a:srgbClr val="20D4C7">
                <a:alpha val="0"/>
              </a:srgbClr>
            </a:solidFill>
            <a:prstDash val="solid"/>
          </a:ln>
        </p:spPr>
      </p:sp>
      <p:sp>
        <p:nvSpPr>
          <p:cNvPr id="15" name="Text 13"/>
          <p:cNvSpPr txBox="1"/>
          <p:nvPr/>
        </p:nvSpPr>
        <p:spPr>
          <a:xfrm>
            <a:off x="1179576" y="3273552"/>
            <a:ext cx="4325112"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實驗性的急性代謝疲勞趨勢</a:t>
            </a:r>
            <a:endParaRPr lang="en-US" sz="1250" dirty="0"/>
          </a:p>
        </p:txBody>
      </p:sp>
      <p:sp>
        <p:nvSpPr>
          <p:cNvPr id="16" name="Text 14"/>
          <p:cNvSpPr txBox="1"/>
          <p:nvPr/>
        </p:nvSpPr>
        <p:spPr>
          <a:xfrm>
            <a:off x="1179576" y="3538728"/>
            <a:ext cx="4325112" cy="512064"/>
          </a:xfrm>
          <a:prstGeom prst="rect">
            <a:avLst/>
          </a:prstGeom>
          <a:noFill/>
          <a:ln/>
        </p:spPr>
        <p:txBody>
          <a:bodyPr wrap="square" lIns="0" tIns="0" rIns="0" bIns="0" rtlCol="0" anchor="t">
            <a:normAutofit/>
          </a:bodyPr>
          <a:lstStyle/>
          <a:p>
            <a:pPr algn="l" indent="0" marL="0">
              <a:buNone/>
            </a:pPr>
            <a:r>
              <a:rPr lang="en-US" sz="1050" dirty="0">
                <a:solidFill>
                  <a:srgbClr val="93A4B6"/>
                </a:solidFill>
                <a:latin typeface="Microsoft JhengHei" pitchFamily="34" charset="0"/>
                <a:ea typeface="Microsoft JhengHei" pitchFamily="34" charset="-122"/>
                <a:cs typeface="Microsoft JhengHei" pitchFamily="34" charset="-120"/>
              </a:rPr>
              <a:t>可當候選監測訊號，並顯示變化量、個人百分位與可信度。</a:t>
            </a:r>
            <a:endParaRPr lang="en-US" sz="1050" dirty="0"/>
          </a:p>
        </p:txBody>
      </p:sp>
      <p:sp>
        <p:nvSpPr>
          <p:cNvPr id="17" name="Shape 15"/>
          <p:cNvSpPr/>
          <p:nvPr/>
        </p:nvSpPr>
        <p:spPr>
          <a:xfrm>
            <a:off x="969264" y="4315968"/>
            <a:ext cx="128016" cy="128016"/>
          </a:xfrm>
          <a:prstGeom prst="ellipse">
            <a:avLst/>
          </a:prstGeom>
          <a:solidFill>
            <a:srgbClr val="6BB7FF"/>
          </a:solidFill>
          <a:ln w="12700">
            <a:solidFill>
              <a:srgbClr val="6BB7FF">
                <a:alpha val="0"/>
              </a:srgbClr>
            </a:solidFill>
            <a:prstDash val="solid"/>
          </a:ln>
        </p:spPr>
      </p:sp>
      <p:sp>
        <p:nvSpPr>
          <p:cNvPr id="18" name="Text 16"/>
          <p:cNvSpPr txBox="1"/>
          <p:nvPr/>
        </p:nvSpPr>
        <p:spPr>
          <a:xfrm>
            <a:off x="1179576" y="4279392"/>
            <a:ext cx="4325112"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需要重複基準與量測誤差</a:t>
            </a:r>
            <a:endParaRPr lang="en-US" sz="1250" dirty="0"/>
          </a:p>
        </p:txBody>
      </p:sp>
      <p:sp>
        <p:nvSpPr>
          <p:cNvPr id="19" name="Text 17"/>
          <p:cNvSpPr txBox="1"/>
          <p:nvPr/>
        </p:nvSpPr>
        <p:spPr>
          <a:xfrm>
            <a:off x="1179576" y="4544568"/>
            <a:ext cx="4325112" cy="566928"/>
          </a:xfrm>
          <a:prstGeom prst="rect">
            <a:avLst/>
          </a:prstGeom>
          <a:noFill/>
          <a:ln/>
        </p:spPr>
        <p:txBody>
          <a:bodyPr wrap="square" lIns="0" tIns="0" rIns="0" bIns="0" rtlCol="0" anchor="t">
            <a:normAutofit/>
          </a:bodyPr>
          <a:lstStyle/>
          <a:p>
            <a:pPr algn="l" indent="0" marL="0">
              <a:buNone/>
            </a:pPr>
            <a:r>
              <a:rPr lang="en-US" sz="1050" dirty="0">
                <a:solidFill>
                  <a:srgbClr val="93A4B6"/>
                </a:solidFill>
                <a:latin typeface="Microsoft JhengHei" pitchFamily="34" charset="0"/>
                <a:ea typeface="Microsoft JhengHei" pitchFamily="34" charset="-122"/>
                <a:cs typeface="Microsoft JhengHei" pitchFamily="34" charset="-120"/>
              </a:rPr>
              <a:t>個人決策應先建立基準，並只把超過個人 MDC 的改變視為「可能是真變化」。</a:t>
            </a:r>
            <a:endParaRPr lang="en-US" sz="1050" dirty="0"/>
          </a:p>
        </p:txBody>
      </p:sp>
      <p:sp>
        <p:nvSpPr>
          <p:cNvPr id="20" name="Shape 18"/>
          <p:cNvSpPr/>
          <p:nvPr/>
        </p:nvSpPr>
        <p:spPr>
          <a:xfrm>
            <a:off x="1033272" y="5404104"/>
            <a:ext cx="4617720" cy="438912"/>
          </a:xfrm>
          <a:prstGeom prst="roundRect">
            <a:avLst>
              <a:gd name="adj" fmla="val 16667"/>
            </a:avLst>
          </a:prstGeom>
          <a:solidFill>
            <a:srgbClr val="102235"/>
          </a:solidFill>
          <a:ln w="12700">
            <a:solidFill>
              <a:srgbClr val="20D4C7"/>
            </a:solidFill>
            <a:prstDash val="solid"/>
          </a:ln>
        </p:spPr>
      </p:sp>
      <p:sp>
        <p:nvSpPr>
          <p:cNvPr id="21" name="Text 19"/>
          <p:cNvSpPr txBox="1"/>
          <p:nvPr/>
        </p:nvSpPr>
        <p:spPr>
          <a:xfrm>
            <a:off x="1243584" y="5541264"/>
            <a:ext cx="4187952" cy="173736"/>
          </a:xfrm>
          <a:prstGeom prst="rect">
            <a:avLst/>
          </a:prstGeom>
          <a:noFill/>
          <a:ln/>
        </p:spPr>
        <p:txBody>
          <a:bodyPr wrap="square" lIns="0" tIns="0" rIns="0" bIns="0" rtlCol="0" anchor="t">
            <a:normAutofit/>
          </a:bodyPr>
          <a:lstStyle/>
          <a:p>
            <a:pPr algn="ctr" indent="0" marL="0">
              <a:buNone/>
            </a:pPr>
            <a:r>
              <a:rPr lang="en-US" sz="1020" b="1" dirty="0">
                <a:solidFill>
                  <a:srgbClr val="78EAE0"/>
                </a:solidFill>
                <a:latin typeface="Microsoft JhengHei" pitchFamily="34" charset="0"/>
                <a:ea typeface="Microsoft JhengHei" pitchFamily="34" charset="-122"/>
                <a:cs typeface="Microsoft JhengHei" pitchFamily="34" charset="-120"/>
              </a:rPr>
              <a:t>關鍵字：關聯、趨勢、候選、實驗性</a:t>
            </a:r>
            <a:endParaRPr lang="en-US" sz="1020" dirty="0"/>
          </a:p>
        </p:txBody>
      </p:sp>
      <p:sp>
        <p:nvSpPr>
          <p:cNvPr id="22" name="Shape 20"/>
          <p:cNvSpPr/>
          <p:nvPr/>
        </p:nvSpPr>
        <p:spPr>
          <a:xfrm>
            <a:off x="6254496" y="1252728"/>
            <a:ext cx="5303520" cy="4882896"/>
          </a:xfrm>
          <a:prstGeom prst="roundRect">
            <a:avLst>
              <a:gd name="adj" fmla="val 1498"/>
            </a:avLst>
          </a:prstGeom>
          <a:solidFill>
            <a:srgbClr val="12263A"/>
          </a:solidFill>
          <a:ln w="17780">
            <a:solidFill>
              <a:srgbClr val="FF9B5E"/>
            </a:solidFill>
            <a:prstDash val="solid"/>
          </a:ln>
        </p:spPr>
      </p:sp>
      <p:sp>
        <p:nvSpPr>
          <p:cNvPr id="23" name="Shape 21"/>
          <p:cNvSpPr/>
          <p:nvPr/>
        </p:nvSpPr>
        <p:spPr>
          <a:xfrm>
            <a:off x="6537960" y="1545336"/>
            <a:ext cx="2395728" cy="310896"/>
          </a:xfrm>
          <a:prstGeom prst="roundRect">
            <a:avLst/>
          </a:prstGeom>
          <a:solidFill>
            <a:srgbClr val="FF9B5E"/>
          </a:solidFill>
          <a:ln w="12700">
            <a:solidFill>
              <a:srgbClr val="FF9B5E">
                <a:alpha val="0"/>
              </a:srgbClr>
            </a:solidFill>
            <a:prstDash val="solid"/>
          </a:ln>
        </p:spPr>
      </p:sp>
      <p:sp>
        <p:nvSpPr>
          <p:cNvPr id="24" name="Text 22"/>
          <p:cNvSpPr txBox="1"/>
          <p:nvPr/>
        </p:nvSpPr>
        <p:spPr>
          <a:xfrm>
            <a:off x="6611112" y="1613916"/>
            <a:ext cx="2249424" cy="210312"/>
          </a:xfrm>
          <a:prstGeom prst="rect">
            <a:avLst/>
          </a:prstGeom>
          <a:noFill/>
          <a:ln/>
        </p:spPr>
        <p:txBody>
          <a:bodyPr wrap="square" lIns="0" tIns="0" rIns="0" bIns="0" rtlCol="0" anchor="ctr">
            <a:normAutofit/>
          </a:bodyPr>
          <a:lstStyle/>
          <a:p>
            <a:pPr algn="ctr" indent="0" marL="0">
              <a:buNone/>
            </a:pPr>
            <a:r>
              <a:rPr lang="en-US" sz="920" b="1" dirty="0">
                <a:solidFill>
                  <a:srgbClr val="07111F"/>
                </a:solidFill>
                <a:latin typeface="Aptos" pitchFamily="34" charset="0"/>
                <a:ea typeface="Aptos" pitchFamily="34" charset="-122"/>
                <a:cs typeface="Aptos" pitchFamily="34" charset="-120"/>
              </a:rPr>
              <a:t>不能說｜NOT SUPPORTED</a:t>
            </a:r>
            <a:endParaRPr lang="en-US" sz="920" dirty="0"/>
          </a:p>
        </p:txBody>
      </p:sp>
      <p:sp>
        <p:nvSpPr>
          <p:cNvPr id="25" name="Shape 23"/>
          <p:cNvSpPr/>
          <p:nvPr/>
        </p:nvSpPr>
        <p:spPr>
          <a:xfrm>
            <a:off x="6583680" y="2185416"/>
            <a:ext cx="128016" cy="128016"/>
          </a:xfrm>
          <a:prstGeom prst="ellipse">
            <a:avLst/>
          </a:prstGeom>
          <a:solidFill>
            <a:srgbClr val="FF9B5E"/>
          </a:solidFill>
          <a:ln w="12700">
            <a:solidFill>
              <a:srgbClr val="FF9B5E">
                <a:alpha val="0"/>
              </a:srgbClr>
            </a:solidFill>
            <a:prstDash val="solid"/>
          </a:ln>
        </p:spPr>
      </p:sp>
      <p:sp>
        <p:nvSpPr>
          <p:cNvPr id="26" name="Text 24"/>
          <p:cNvSpPr txBox="1"/>
          <p:nvPr/>
        </p:nvSpPr>
        <p:spPr>
          <a:xfrm>
            <a:off x="6793992" y="2148840"/>
            <a:ext cx="4279392"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「這個 mmol/L = 70% 疲勞」</a:t>
            </a:r>
            <a:endParaRPr lang="en-US" sz="1250" dirty="0"/>
          </a:p>
        </p:txBody>
      </p:sp>
      <p:sp>
        <p:nvSpPr>
          <p:cNvPr id="27" name="Text 25"/>
          <p:cNvSpPr txBox="1"/>
          <p:nvPr/>
        </p:nvSpPr>
        <p:spPr>
          <a:xfrm>
            <a:off x="6793992" y="2414016"/>
            <a:ext cx="4279392" cy="438912"/>
          </a:xfrm>
          <a:prstGeom prst="rect">
            <a:avLst/>
          </a:prstGeom>
          <a:noFill/>
          <a:ln/>
        </p:spPr>
        <p:txBody>
          <a:bodyPr wrap="square" lIns="0" tIns="0" rIns="0" bIns="0" rtlCol="0" anchor="t">
            <a:normAutofit/>
          </a:bodyPr>
          <a:lstStyle/>
          <a:p>
            <a:pPr algn="l" indent="0" marL="0">
              <a:buNone/>
            </a:pPr>
            <a:r>
              <a:rPr lang="en-US" sz="1050" dirty="0">
                <a:solidFill>
                  <a:srgbClr val="93A4B6"/>
                </a:solidFill>
                <a:latin typeface="Microsoft JhengHei" pitchFamily="34" charset="0"/>
                <a:ea typeface="Microsoft JhengHei" pitchFamily="34" charset="-122"/>
                <a:cs typeface="Microsoft JhengHei" pitchFamily="34" charset="-120"/>
              </a:rPr>
              <a:t>兩篇都沒有建立通用濃度色帶或跨人切點。</a:t>
            </a:r>
            <a:endParaRPr lang="en-US" sz="1050" dirty="0"/>
          </a:p>
        </p:txBody>
      </p:sp>
      <p:sp>
        <p:nvSpPr>
          <p:cNvPr id="28" name="Shape 26"/>
          <p:cNvSpPr/>
          <p:nvPr/>
        </p:nvSpPr>
        <p:spPr>
          <a:xfrm>
            <a:off x="6583680" y="3008376"/>
            <a:ext cx="128016" cy="128016"/>
          </a:xfrm>
          <a:prstGeom prst="ellipse">
            <a:avLst/>
          </a:prstGeom>
          <a:solidFill>
            <a:srgbClr val="FF6577"/>
          </a:solidFill>
          <a:ln w="12700">
            <a:solidFill>
              <a:srgbClr val="FF6577">
                <a:alpha val="0"/>
              </a:srgbClr>
            </a:solidFill>
            <a:prstDash val="solid"/>
          </a:ln>
        </p:spPr>
      </p:sp>
      <p:sp>
        <p:nvSpPr>
          <p:cNvPr id="29" name="Text 27"/>
          <p:cNvSpPr txBox="1"/>
          <p:nvPr/>
        </p:nvSpPr>
        <p:spPr>
          <a:xfrm>
            <a:off x="6793992" y="2971800"/>
            <a:ext cx="4279392"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「汗乳酸就是血乳酸」</a:t>
            </a:r>
            <a:endParaRPr lang="en-US" sz="1250" dirty="0"/>
          </a:p>
        </p:txBody>
      </p:sp>
      <p:sp>
        <p:nvSpPr>
          <p:cNvPr id="30" name="Text 28"/>
          <p:cNvSpPr txBox="1"/>
          <p:nvPr/>
        </p:nvSpPr>
        <p:spPr>
          <a:xfrm>
            <a:off x="6793992" y="3236976"/>
            <a:ext cx="4279392" cy="438912"/>
          </a:xfrm>
          <a:prstGeom prst="rect">
            <a:avLst/>
          </a:prstGeom>
          <a:noFill/>
          <a:ln/>
        </p:spPr>
        <p:txBody>
          <a:bodyPr wrap="square" lIns="0" tIns="0" rIns="0" bIns="0" rtlCol="0" anchor="t">
            <a:normAutofit/>
          </a:bodyPr>
          <a:lstStyle/>
          <a:p>
            <a:pPr algn="l" indent="0" marL="0">
              <a:buNone/>
            </a:pPr>
            <a:r>
              <a:rPr lang="en-US" sz="1050" dirty="0">
                <a:solidFill>
                  <a:srgbClr val="93A4B6"/>
                </a:solidFill>
                <a:latin typeface="Microsoft JhengHei" pitchFamily="34" charset="0"/>
                <a:ea typeface="Microsoft JhengHei" pitchFamily="34" charset="-122"/>
                <a:cs typeface="Microsoft JhengHei" pitchFamily="34" charset="-120"/>
              </a:rPr>
              <a:t>汗腺代謝與汗率會影響訊號，不能做絕對換算。</a:t>
            </a:r>
            <a:endParaRPr lang="en-US" sz="1050" dirty="0"/>
          </a:p>
        </p:txBody>
      </p:sp>
      <p:sp>
        <p:nvSpPr>
          <p:cNvPr id="31" name="Shape 29"/>
          <p:cNvSpPr/>
          <p:nvPr/>
        </p:nvSpPr>
        <p:spPr>
          <a:xfrm>
            <a:off x="6583680" y="3831336"/>
            <a:ext cx="128016" cy="128016"/>
          </a:xfrm>
          <a:prstGeom prst="ellipse">
            <a:avLst/>
          </a:prstGeom>
          <a:solidFill>
            <a:srgbClr val="FFD166"/>
          </a:solidFill>
          <a:ln w="12700">
            <a:solidFill>
              <a:srgbClr val="FFD166">
                <a:alpha val="0"/>
              </a:srgbClr>
            </a:solidFill>
            <a:prstDash val="solid"/>
          </a:ln>
        </p:spPr>
      </p:sp>
      <p:sp>
        <p:nvSpPr>
          <p:cNvPr id="32" name="Text 30"/>
          <p:cNvSpPr txBox="1"/>
          <p:nvPr/>
        </p:nvSpPr>
        <p:spPr>
          <a:xfrm>
            <a:off x="6793992" y="3794760"/>
            <a:ext cx="4279392"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「完整全身／心理／神經肌肉疲勞」</a:t>
            </a:r>
            <a:endParaRPr lang="en-US" sz="1250" dirty="0"/>
          </a:p>
        </p:txBody>
      </p:sp>
      <p:sp>
        <p:nvSpPr>
          <p:cNvPr id="33" name="Text 31"/>
          <p:cNvSpPr txBox="1"/>
          <p:nvPr/>
        </p:nvSpPr>
        <p:spPr>
          <a:xfrm>
            <a:off x="6793992" y="4059936"/>
            <a:ext cx="4279392" cy="438912"/>
          </a:xfrm>
          <a:prstGeom prst="rect">
            <a:avLst/>
          </a:prstGeom>
          <a:noFill/>
          <a:ln/>
        </p:spPr>
        <p:txBody>
          <a:bodyPr wrap="square" lIns="0" tIns="0" rIns="0" bIns="0" rtlCol="0" anchor="t">
            <a:normAutofit/>
          </a:bodyPr>
          <a:lstStyle/>
          <a:p>
            <a:pPr algn="l" indent="0" marL="0">
              <a:buNone/>
            </a:pPr>
            <a:r>
              <a:rPr lang="en-US" sz="1050" dirty="0">
                <a:solidFill>
                  <a:srgbClr val="93A4B6"/>
                </a:solidFill>
                <a:latin typeface="Microsoft JhengHei" pitchFamily="34" charset="0"/>
                <a:ea typeface="Microsoft JhengHei" pitchFamily="34" charset="-122"/>
                <a:cs typeface="Microsoft JhengHei" pitchFamily="34" charset="-120"/>
              </a:rPr>
              <a:t>研究只提供汗乳酸動態與近期身體負荷的線索。</a:t>
            </a:r>
            <a:endParaRPr lang="en-US" sz="1050" dirty="0"/>
          </a:p>
        </p:txBody>
      </p:sp>
      <p:sp>
        <p:nvSpPr>
          <p:cNvPr id="34" name="Shape 32"/>
          <p:cNvSpPr/>
          <p:nvPr/>
        </p:nvSpPr>
        <p:spPr>
          <a:xfrm>
            <a:off x="6583680" y="4654296"/>
            <a:ext cx="128016" cy="128016"/>
          </a:xfrm>
          <a:prstGeom prst="ellipse">
            <a:avLst/>
          </a:prstGeom>
          <a:solidFill>
            <a:srgbClr val="6BB7FF"/>
          </a:solidFill>
          <a:ln w="12700">
            <a:solidFill>
              <a:srgbClr val="6BB7FF">
                <a:alpha val="0"/>
              </a:srgbClr>
            </a:solidFill>
            <a:prstDash val="solid"/>
          </a:ln>
        </p:spPr>
      </p:sp>
      <p:sp>
        <p:nvSpPr>
          <p:cNvPr id="35" name="Text 33"/>
          <p:cNvSpPr txBox="1"/>
          <p:nvPr/>
        </p:nvSpPr>
        <p:spPr>
          <a:xfrm>
            <a:off x="6793992" y="4617720"/>
            <a:ext cx="4279392"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「已證實可降低受傷」</a:t>
            </a:r>
            <a:endParaRPr lang="en-US" sz="1250" dirty="0"/>
          </a:p>
        </p:txBody>
      </p:sp>
      <p:sp>
        <p:nvSpPr>
          <p:cNvPr id="36" name="Text 34"/>
          <p:cNvSpPr txBox="1"/>
          <p:nvPr/>
        </p:nvSpPr>
        <p:spPr>
          <a:xfrm>
            <a:off x="6793992" y="4882896"/>
            <a:ext cx="4279392" cy="438912"/>
          </a:xfrm>
          <a:prstGeom prst="rect">
            <a:avLst/>
          </a:prstGeom>
          <a:noFill/>
          <a:ln/>
        </p:spPr>
        <p:txBody>
          <a:bodyPr wrap="square" lIns="0" tIns="0" rIns="0" bIns="0" rtlCol="0" anchor="t">
            <a:normAutofit/>
          </a:bodyPr>
          <a:lstStyle/>
          <a:p>
            <a:pPr algn="l" indent="0" marL="0">
              <a:buNone/>
            </a:pPr>
            <a:r>
              <a:rPr lang="en-US" sz="1050" dirty="0">
                <a:solidFill>
                  <a:srgbClr val="93A4B6"/>
                </a:solidFill>
                <a:latin typeface="Microsoft JhengHei" pitchFamily="34" charset="0"/>
                <a:ea typeface="Microsoft JhengHei" pitchFamily="34" charset="-122"/>
                <a:cs typeface="Microsoft JhengHei" pitchFamily="34" charset="-120"/>
              </a:rPr>
              <a:t>研究提出可能應用；沒有介入試驗驗證受傷率或訓練成效。</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0D4C7"/>
          </a:solidFill>
          <a:ln w="12700">
            <a:solidFill>
              <a:srgbClr val="20D4C7">
                <a:alpha val="0"/>
              </a:srgbClr>
            </a:solidFill>
            <a:prstDash val="solid"/>
          </a:ln>
        </p:spPr>
      </p:sp>
      <p:sp>
        <p:nvSpPr>
          <p:cNvPr id="3" name="Shape 1"/>
          <p:cNvSpPr/>
          <p:nvPr/>
        </p:nvSpPr>
        <p:spPr>
          <a:xfrm>
            <a:off x="10561320" y="-658368"/>
            <a:ext cx="2194560" cy="2194560"/>
          </a:xfrm>
          <a:prstGeom prst="ellipse">
            <a:avLst/>
          </a:prstGeom>
          <a:solidFill>
            <a:srgbClr val="20D4C7">
              <a:alpha val="8000"/>
            </a:srgbClr>
          </a:solidFill>
          <a:ln w="12700">
            <a:solidFill>
              <a:srgbClr val="20D4C7">
                <a:alpha val="0"/>
              </a:srgbClr>
            </a:solidFill>
            <a:prstDash val="solid"/>
          </a:ln>
        </p:spPr>
      </p:sp>
      <p:sp>
        <p:nvSpPr>
          <p:cNvPr id="4" name="Shape 2"/>
          <p:cNvSpPr/>
          <p:nvPr/>
        </p:nvSpPr>
        <p:spPr>
          <a:xfrm>
            <a:off x="502920" y="841248"/>
            <a:ext cx="11155680" cy="0"/>
          </a:xfrm>
          <a:prstGeom prst="line">
            <a:avLst/>
          </a:prstGeom>
          <a:noFill/>
          <a:ln w="12700">
            <a:solidFill>
              <a:srgbClr val="1E3A52"/>
            </a:solidFill>
            <a:prstDash val="solid"/>
          </a:ln>
        </p:spPr>
      </p:sp>
      <p:sp>
        <p:nvSpPr>
          <p:cNvPr id="5" name="Text 3"/>
          <p:cNvSpPr/>
          <p:nvPr/>
        </p:nvSpPr>
        <p:spPr>
          <a:xfrm>
            <a:off x="566928" y="237744"/>
            <a:ext cx="2926080" cy="219456"/>
          </a:xfrm>
          <a:prstGeom prst="rect">
            <a:avLst/>
          </a:prstGeom>
          <a:noFill/>
          <a:ln/>
        </p:spPr>
        <p:txBody>
          <a:bodyPr wrap="square" lIns="0" tIns="0" rIns="0" bIns="0" rtlCol="0" anchor="ctr">
            <a:normAutofit/>
          </a:bodyPr>
          <a:lstStyle/>
          <a:p>
            <a:pPr indent="0" marL="0">
              <a:buNone/>
            </a:pPr>
            <a:r>
              <a:rPr lang="en-US" sz="850" b="1" spc="130" kern="0" dirty="0">
                <a:solidFill>
                  <a:srgbClr val="20D4C7"/>
                </a:solidFill>
                <a:latin typeface="Aptos" pitchFamily="34" charset="0"/>
                <a:ea typeface="Aptos" pitchFamily="34" charset="-122"/>
                <a:cs typeface="Aptos" pitchFamily="34" charset="-120"/>
              </a:rPr>
              <a:t>PRODUCT TRANSLATION</a:t>
            </a:r>
            <a:endParaRPr lang="en-US" sz="850" dirty="0"/>
          </a:p>
        </p:txBody>
      </p:sp>
      <p:sp>
        <p:nvSpPr>
          <p:cNvPr id="6" name="Text 4"/>
          <p:cNvSpPr/>
          <p:nvPr/>
        </p:nvSpPr>
        <p:spPr>
          <a:xfrm>
            <a:off x="566928" y="420624"/>
            <a:ext cx="10881360" cy="365760"/>
          </a:xfrm>
          <a:prstGeom prst="rect">
            <a:avLst/>
          </a:prstGeom>
          <a:noFill/>
          <a:ln/>
        </p:spPr>
        <p:txBody>
          <a:bodyPr wrap="square" lIns="0" tIns="0" rIns="0" bIns="0" rtlCol="0" anchor="ctr">
            <a:normAutofit/>
          </a:bodyPr>
          <a:lstStyle/>
          <a:p>
            <a:pPr indent="0" marL="0">
              <a:buNone/>
            </a:pPr>
            <a:r>
              <a:rPr lang="en-US" sz="2300" b="1" dirty="0">
                <a:solidFill>
                  <a:srgbClr val="F5F7FA"/>
                </a:solidFill>
                <a:latin typeface="Microsoft JhengHei" pitchFamily="34" charset="0"/>
                <a:ea typeface="Microsoft JhengHei" pitchFamily="34" charset="-122"/>
                <a:cs typeface="Microsoft JhengHei" pitchFamily="34" charset="-120"/>
              </a:rPr>
              <a:t>LA-01 只收汗乳酸濃度：建議拆成兩種呈現模式</a:t>
            </a:r>
            <a:endParaRPr lang="en-US" sz="2300" dirty="0"/>
          </a:p>
        </p:txBody>
      </p:sp>
      <p:sp>
        <p:nvSpPr>
          <p:cNvPr id="7" name="Text 5"/>
          <p:cNvSpPr/>
          <p:nvPr/>
        </p:nvSpPr>
        <p:spPr>
          <a:xfrm>
            <a:off x="11109960" y="6519672"/>
            <a:ext cx="502920" cy="164592"/>
          </a:xfrm>
          <a:prstGeom prst="rect">
            <a:avLst/>
          </a:prstGeom>
          <a:noFill/>
          <a:ln/>
        </p:spPr>
        <p:txBody>
          <a:bodyPr wrap="square" lIns="0" tIns="0" rIns="0" bIns="0" rtlCol="0" anchor="ctr"/>
          <a:lstStyle/>
          <a:p>
            <a:pPr algn="r" indent="0" marL="0">
              <a:buNone/>
            </a:pPr>
            <a:r>
              <a:rPr lang="en-US" sz="850" b="1" dirty="0">
                <a:solidFill>
                  <a:srgbClr val="20D4C7"/>
                </a:solidFill>
                <a:latin typeface="Aptos" pitchFamily="34" charset="0"/>
                <a:ea typeface="Aptos" pitchFamily="34" charset="-122"/>
                <a:cs typeface="Aptos" pitchFamily="34" charset="-120"/>
              </a:rPr>
              <a:t>14</a:t>
            </a:r>
            <a:endParaRPr lang="en-US" sz="850" dirty="0"/>
          </a:p>
        </p:txBody>
      </p:sp>
      <p:sp>
        <p:nvSpPr>
          <p:cNvPr id="8" name="Shape 6"/>
          <p:cNvSpPr/>
          <p:nvPr/>
        </p:nvSpPr>
        <p:spPr>
          <a:xfrm>
            <a:off x="621792" y="1216152"/>
            <a:ext cx="5340096" cy="4425696"/>
          </a:xfrm>
          <a:prstGeom prst="roundRect">
            <a:avLst>
              <a:gd name="adj" fmla="val 1653"/>
            </a:avLst>
          </a:prstGeom>
          <a:solidFill>
            <a:srgbClr val="0E1D2E"/>
          </a:solidFill>
          <a:ln w="12700">
            <a:solidFill>
              <a:srgbClr val="6BB7FF"/>
            </a:solidFill>
            <a:prstDash val="solid"/>
          </a:ln>
        </p:spPr>
      </p:sp>
      <p:sp>
        <p:nvSpPr>
          <p:cNvPr id="9" name="Shape 7"/>
          <p:cNvSpPr/>
          <p:nvPr/>
        </p:nvSpPr>
        <p:spPr>
          <a:xfrm>
            <a:off x="896112" y="1490472"/>
            <a:ext cx="960120" cy="310896"/>
          </a:xfrm>
          <a:prstGeom prst="roundRect">
            <a:avLst/>
          </a:prstGeom>
          <a:solidFill>
            <a:srgbClr val="6BB7FF"/>
          </a:solidFill>
          <a:ln w="12700">
            <a:solidFill>
              <a:srgbClr val="6BB7FF">
                <a:alpha val="0"/>
              </a:srgbClr>
            </a:solidFill>
            <a:prstDash val="solid"/>
          </a:ln>
        </p:spPr>
      </p:sp>
      <p:sp>
        <p:nvSpPr>
          <p:cNvPr id="10" name="Text 8"/>
          <p:cNvSpPr txBox="1"/>
          <p:nvPr/>
        </p:nvSpPr>
        <p:spPr>
          <a:xfrm>
            <a:off x="969264" y="1559052"/>
            <a:ext cx="813816" cy="210312"/>
          </a:xfrm>
          <a:prstGeom prst="rect">
            <a:avLst/>
          </a:prstGeom>
          <a:noFill/>
          <a:ln/>
        </p:spPr>
        <p:txBody>
          <a:bodyPr wrap="square" lIns="0" tIns="0" rIns="0" bIns="0" rtlCol="0" anchor="ctr">
            <a:normAutofit/>
          </a:bodyPr>
          <a:lstStyle/>
          <a:p>
            <a:pPr algn="ctr" indent="0" marL="0">
              <a:buNone/>
            </a:pPr>
            <a:r>
              <a:rPr lang="en-US" sz="950" b="1" dirty="0">
                <a:solidFill>
                  <a:srgbClr val="07111F"/>
                </a:solidFill>
                <a:latin typeface="Aptos" pitchFamily="34" charset="0"/>
                <a:ea typeface="Aptos" pitchFamily="34" charset="-122"/>
                <a:cs typeface="Aptos" pitchFamily="34" charset="-120"/>
              </a:rPr>
              <a:t>MODE A</a:t>
            </a:r>
            <a:endParaRPr lang="en-US" sz="950" dirty="0"/>
          </a:p>
        </p:txBody>
      </p:sp>
      <p:sp>
        <p:nvSpPr>
          <p:cNvPr id="11" name="Text 9"/>
          <p:cNvSpPr txBox="1"/>
          <p:nvPr/>
        </p:nvSpPr>
        <p:spPr>
          <a:xfrm>
            <a:off x="1993392" y="1517904"/>
            <a:ext cx="1828800" cy="256032"/>
          </a:xfrm>
          <a:prstGeom prst="rect">
            <a:avLst/>
          </a:prstGeom>
          <a:noFill/>
          <a:ln/>
        </p:spPr>
        <p:txBody>
          <a:bodyPr wrap="square" lIns="0" tIns="0" rIns="0" bIns="0" rtlCol="0" anchor="t">
            <a:normAutofit/>
          </a:bodyPr>
          <a:lstStyle/>
          <a:p>
            <a:pPr algn="l" indent="0" marL="0">
              <a:buNone/>
            </a:pPr>
            <a:r>
              <a:rPr lang="en-US" sz="1500" b="1" dirty="0">
                <a:solidFill>
                  <a:srgbClr val="F5F7FA"/>
                </a:solidFill>
                <a:latin typeface="Microsoft JhengHei" pitchFamily="34" charset="0"/>
                <a:ea typeface="Microsoft JhengHei" pitchFamily="34" charset="-122"/>
                <a:cs typeface="Microsoft JhengHei" pitchFamily="34" charset="-120"/>
              </a:rPr>
              <a:t>一般自由訓練</a:t>
            </a:r>
            <a:endParaRPr lang="en-US" sz="1500" dirty="0"/>
          </a:p>
        </p:txBody>
      </p:sp>
      <p:sp>
        <p:nvSpPr>
          <p:cNvPr id="12" name="Text 10"/>
          <p:cNvSpPr txBox="1"/>
          <p:nvPr/>
        </p:nvSpPr>
        <p:spPr>
          <a:xfrm>
            <a:off x="896112" y="2048256"/>
            <a:ext cx="4526280" cy="320040"/>
          </a:xfrm>
          <a:prstGeom prst="rect">
            <a:avLst/>
          </a:prstGeom>
          <a:noFill/>
          <a:ln/>
        </p:spPr>
        <p:txBody>
          <a:bodyPr wrap="square" lIns="0" tIns="0" rIns="0" bIns="0" rtlCol="0" anchor="t">
            <a:normAutofit/>
          </a:bodyPr>
          <a:lstStyle/>
          <a:p>
            <a:pPr algn="l" indent="0" marL="0">
              <a:buNone/>
            </a:pPr>
            <a:r>
              <a:rPr lang="en-US" sz="1800" b="1" dirty="0">
                <a:solidFill>
                  <a:srgbClr val="9DD0FF"/>
                </a:solidFill>
                <a:latin typeface="Microsoft JhengHei" pitchFamily="34" charset="0"/>
                <a:ea typeface="Microsoft JhengHei" pitchFamily="34" charset="-122"/>
                <a:cs typeface="Microsoft JhengHei" pitchFamily="34" charset="-120"/>
              </a:rPr>
              <a:t>主標題：汗乳酸代謝負荷</a:t>
            </a:r>
            <a:endParaRPr lang="en-US" sz="1800" dirty="0"/>
          </a:p>
        </p:txBody>
      </p:sp>
      <p:sp>
        <p:nvSpPr>
          <p:cNvPr id="13" name="Shape 11"/>
          <p:cNvSpPr/>
          <p:nvPr/>
        </p:nvSpPr>
        <p:spPr>
          <a:xfrm>
            <a:off x="932688" y="2651760"/>
            <a:ext cx="128016" cy="128016"/>
          </a:xfrm>
          <a:prstGeom prst="ellipse">
            <a:avLst/>
          </a:prstGeom>
          <a:solidFill>
            <a:srgbClr val="6BB7FF"/>
          </a:solidFill>
          <a:ln w="12700">
            <a:solidFill>
              <a:srgbClr val="6BB7FF">
                <a:alpha val="0"/>
              </a:srgbClr>
            </a:solidFill>
            <a:prstDash val="solid"/>
          </a:ln>
        </p:spPr>
      </p:sp>
      <p:sp>
        <p:nvSpPr>
          <p:cNvPr id="14" name="Text 12"/>
          <p:cNvSpPr txBox="1"/>
          <p:nvPr/>
        </p:nvSpPr>
        <p:spPr>
          <a:xfrm>
            <a:off x="1143000" y="2615184"/>
            <a:ext cx="4306824"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顯示曲線，不硬判疲勞</a:t>
            </a:r>
            <a:endParaRPr lang="en-US" sz="1250" dirty="0"/>
          </a:p>
        </p:txBody>
      </p:sp>
      <p:sp>
        <p:nvSpPr>
          <p:cNvPr id="15" name="Text 13"/>
          <p:cNvSpPr txBox="1"/>
          <p:nvPr/>
        </p:nvSpPr>
        <p:spPr>
          <a:xfrm>
            <a:off x="1143000" y="2880360"/>
            <a:ext cx="4306824" cy="640080"/>
          </a:xfrm>
          <a:prstGeom prst="rect">
            <a:avLst/>
          </a:prstGeom>
          <a:noFill/>
          <a:ln/>
        </p:spPr>
        <p:txBody>
          <a:bodyPr wrap="square" lIns="0" tIns="0" rIns="0" bIns="0" rtlCol="0" anchor="t">
            <a:normAutofit/>
          </a:bodyPr>
          <a:lstStyle/>
          <a:p>
            <a:pPr algn="l" indent="0" marL="0">
              <a:buNone/>
            </a:pPr>
            <a:r>
              <a:rPr lang="en-US" sz="1030" dirty="0">
                <a:solidFill>
                  <a:srgbClr val="93A4B6"/>
                </a:solidFill>
                <a:latin typeface="Microsoft JhengHei" pitchFamily="34" charset="0"/>
                <a:ea typeface="Microsoft JhengHei" pitchFamily="34" charset="-122"/>
                <a:cs typeface="Microsoft JhengHei" pitchFamily="34" charset="-120"/>
              </a:rPr>
              <a:t>基準、峰值、ΔC、最大上升斜率、AUC⁺、恢復；同步功率／配速與心率。</a:t>
            </a:r>
            <a:endParaRPr lang="en-US" sz="1030" dirty="0"/>
          </a:p>
        </p:txBody>
      </p:sp>
      <p:sp>
        <p:nvSpPr>
          <p:cNvPr id="16" name="Shape 14"/>
          <p:cNvSpPr/>
          <p:nvPr/>
        </p:nvSpPr>
        <p:spPr>
          <a:xfrm>
            <a:off x="932688" y="3785616"/>
            <a:ext cx="128016" cy="128016"/>
          </a:xfrm>
          <a:prstGeom prst="ellipse">
            <a:avLst/>
          </a:prstGeom>
          <a:solidFill>
            <a:srgbClr val="20D4C7"/>
          </a:solidFill>
          <a:ln w="12700">
            <a:solidFill>
              <a:srgbClr val="20D4C7">
                <a:alpha val="0"/>
              </a:srgbClr>
            </a:solidFill>
            <a:prstDash val="solid"/>
          </a:ln>
        </p:spPr>
      </p:sp>
      <p:sp>
        <p:nvSpPr>
          <p:cNvPr id="17" name="Text 15"/>
          <p:cNvSpPr txBox="1"/>
          <p:nvPr/>
        </p:nvSpPr>
        <p:spPr>
          <a:xfrm>
            <a:off x="1143000" y="3749040"/>
            <a:ext cx="4306824"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品質優先</a:t>
            </a:r>
            <a:endParaRPr lang="en-US" sz="1250" dirty="0"/>
          </a:p>
        </p:txBody>
      </p:sp>
      <p:sp>
        <p:nvSpPr>
          <p:cNvPr id="18" name="Text 16"/>
          <p:cNvSpPr txBox="1"/>
          <p:nvPr/>
        </p:nvSpPr>
        <p:spPr>
          <a:xfrm>
            <a:off x="1143000" y="4014216"/>
            <a:ext cx="4306824" cy="530352"/>
          </a:xfrm>
          <a:prstGeom prst="rect">
            <a:avLst/>
          </a:prstGeom>
          <a:noFill/>
          <a:ln/>
        </p:spPr>
        <p:txBody>
          <a:bodyPr wrap="square" lIns="0" tIns="0" rIns="0" bIns="0" rtlCol="0" anchor="t">
            <a:normAutofit/>
          </a:bodyPr>
          <a:lstStyle/>
          <a:p>
            <a:pPr algn="l" indent="0" marL="0">
              <a:buNone/>
            </a:pPr>
            <a:r>
              <a:rPr lang="en-US" sz="1030" dirty="0">
                <a:solidFill>
                  <a:srgbClr val="93A4B6"/>
                </a:solidFill>
                <a:latin typeface="Microsoft JhengHei" pitchFamily="34" charset="0"/>
                <a:ea typeface="Microsoft JhengHei" pitchFamily="34" charset="-122"/>
                <a:cs typeface="Microsoft JhengHei" pitchFamily="34" charset="-120"/>
              </a:rPr>
              <a:t>不足出汗、斷訊、飽和、環境差異大時，顯示「不可判讀／低信心」。</a:t>
            </a:r>
            <a:endParaRPr lang="en-US" sz="1030" dirty="0"/>
          </a:p>
        </p:txBody>
      </p:sp>
      <p:sp>
        <p:nvSpPr>
          <p:cNvPr id="19" name="Shape 17"/>
          <p:cNvSpPr/>
          <p:nvPr/>
        </p:nvSpPr>
        <p:spPr>
          <a:xfrm>
            <a:off x="960120" y="4828032"/>
            <a:ext cx="4590288" cy="438912"/>
          </a:xfrm>
          <a:prstGeom prst="roundRect">
            <a:avLst>
              <a:gd name="adj" fmla="val 16667"/>
            </a:avLst>
          </a:prstGeom>
          <a:solidFill>
            <a:srgbClr val="102235"/>
          </a:solidFill>
          <a:ln w="12700">
            <a:solidFill>
              <a:srgbClr val="6BB7FF"/>
            </a:solidFill>
            <a:prstDash val="solid"/>
          </a:ln>
        </p:spPr>
      </p:sp>
      <p:sp>
        <p:nvSpPr>
          <p:cNvPr id="20" name="Text 18"/>
          <p:cNvSpPr txBox="1"/>
          <p:nvPr/>
        </p:nvSpPr>
        <p:spPr>
          <a:xfrm>
            <a:off x="1197864" y="4965192"/>
            <a:ext cx="4096512" cy="173736"/>
          </a:xfrm>
          <a:prstGeom prst="rect">
            <a:avLst/>
          </a:prstGeom>
          <a:noFill/>
          <a:ln/>
        </p:spPr>
        <p:txBody>
          <a:bodyPr wrap="square" lIns="0" tIns="0" rIns="0" bIns="0" rtlCol="0" anchor="t">
            <a:normAutofit/>
          </a:bodyPr>
          <a:lstStyle/>
          <a:p>
            <a:pPr algn="ctr" indent="0" marL="0">
              <a:buNone/>
            </a:pPr>
            <a:r>
              <a:rPr lang="en-US" sz="1080" b="1" dirty="0">
                <a:solidFill>
                  <a:srgbClr val="9DD0FF"/>
                </a:solidFill>
                <a:latin typeface="Microsoft JhengHei" pitchFamily="34" charset="0"/>
                <a:ea typeface="Microsoft JhengHei" pitchFamily="34" charset="-122"/>
                <a:cs typeface="Microsoft JhengHei" pitchFamily="34" charset="-120"/>
              </a:rPr>
              <a:t>不輸出單一「疲勞 0–100」</a:t>
            </a:r>
            <a:endParaRPr lang="en-US" sz="1080" dirty="0"/>
          </a:p>
        </p:txBody>
      </p:sp>
      <p:sp>
        <p:nvSpPr>
          <p:cNvPr id="21" name="Shape 19"/>
          <p:cNvSpPr/>
          <p:nvPr/>
        </p:nvSpPr>
        <p:spPr>
          <a:xfrm>
            <a:off x="6217920" y="1216152"/>
            <a:ext cx="5349240" cy="4425696"/>
          </a:xfrm>
          <a:prstGeom prst="roundRect">
            <a:avLst>
              <a:gd name="adj" fmla="val 1653"/>
            </a:avLst>
          </a:prstGeom>
          <a:solidFill>
            <a:srgbClr val="12263A"/>
          </a:solidFill>
          <a:ln w="12700">
            <a:solidFill>
              <a:srgbClr val="FF9B5E"/>
            </a:solidFill>
            <a:prstDash val="solid"/>
          </a:ln>
        </p:spPr>
      </p:sp>
      <p:sp>
        <p:nvSpPr>
          <p:cNvPr id="22" name="Shape 20"/>
          <p:cNvSpPr/>
          <p:nvPr/>
        </p:nvSpPr>
        <p:spPr>
          <a:xfrm>
            <a:off x="6492240" y="1490472"/>
            <a:ext cx="960120" cy="310896"/>
          </a:xfrm>
          <a:prstGeom prst="roundRect">
            <a:avLst/>
          </a:prstGeom>
          <a:solidFill>
            <a:srgbClr val="FF9B5E"/>
          </a:solidFill>
          <a:ln w="12700">
            <a:solidFill>
              <a:srgbClr val="FF9B5E">
                <a:alpha val="0"/>
              </a:srgbClr>
            </a:solidFill>
            <a:prstDash val="solid"/>
          </a:ln>
        </p:spPr>
      </p:sp>
      <p:sp>
        <p:nvSpPr>
          <p:cNvPr id="23" name="Text 21"/>
          <p:cNvSpPr txBox="1"/>
          <p:nvPr/>
        </p:nvSpPr>
        <p:spPr>
          <a:xfrm>
            <a:off x="6565392" y="1559052"/>
            <a:ext cx="813816" cy="210312"/>
          </a:xfrm>
          <a:prstGeom prst="rect">
            <a:avLst/>
          </a:prstGeom>
          <a:noFill/>
          <a:ln/>
        </p:spPr>
        <p:txBody>
          <a:bodyPr wrap="square" lIns="0" tIns="0" rIns="0" bIns="0" rtlCol="0" anchor="ctr">
            <a:normAutofit/>
          </a:bodyPr>
          <a:lstStyle/>
          <a:p>
            <a:pPr algn="ctr" indent="0" marL="0">
              <a:buNone/>
            </a:pPr>
            <a:r>
              <a:rPr lang="en-US" sz="950" b="1" dirty="0">
                <a:solidFill>
                  <a:srgbClr val="07111F"/>
                </a:solidFill>
                <a:latin typeface="Aptos" pitchFamily="34" charset="0"/>
                <a:ea typeface="Aptos" pitchFamily="34" charset="-122"/>
                <a:cs typeface="Aptos" pitchFamily="34" charset="-120"/>
              </a:rPr>
              <a:t>MODE B</a:t>
            </a:r>
            <a:endParaRPr lang="en-US" sz="950" dirty="0"/>
          </a:p>
        </p:txBody>
      </p:sp>
      <p:sp>
        <p:nvSpPr>
          <p:cNvPr id="24" name="Text 22"/>
          <p:cNvSpPr txBox="1"/>
          <p:nvPr/>
        </p:nvSpPr>
        <p:spPr>
          <a:xfrm>
            <a:off x="7589520" y="1517904"/>
            <a:ext cx="2103120" cy="256032"/>
          </a:xfrm>
          <a:prstGeom prst="rect">
            <a:avLst/>
          </a:prstGeom>
          <a:noFill/>
          <a:ln/>
        </p:spPr>
        <p:txBody>
          <a:bodyPr wrap="square" lIns="0" tIns="0" rIns="0" bIns="0" rtlCol="0" anchor="t">
            <a:normAutofit/>
          </a:bodyPr>
          <a:lstStyle/>
          <a:p>
            <a:pPr algn="l" indent="0" marL="0">
              <a:buNone/>
            </a:pPr>
            <a:r>
              <a:rPr lang="en-US" sz="1500" b="1" dirty="0">
                <a:solidFill>
                  <a:srgbClr val="F5F7FA"/>
                </a:solidFill>
                <a:latin typeface="Microsoft JhengHei" pitchFamily="34" charset="0"/>
                <a:ea typeface="Microsoft JhengHei" pitchFamily="34" charset="-122"/>
                <a:cs typeface="Microsoft JhengHei" pitchFamily="34" charset="-120"/>
              </a:rPr>
              <a:t>標準化比較測試</a:t>
            </a:r>
            <a:endParaRPr lang="en-US" sz="1500" dirty="0"/>
          </a:p>
        </p:txBody>
      </p:sp>
      <p:sp>
        <p:nvSpPr>
          <p:cNvPr id="25" name="Text 23"/>
          <p:cNvSpPr txBox="1"/>
          <p:nvPr/>
        </p:nvSpPr>
        <p:spPr>
          <a:xfrm>
            <a:off x="6492240" y="2048256"/>
            <a:ext cx="4553712" cy="320040"/>
          </a:xfrm>
          <a:prstGeom prst="rect">
            <a:avLst/>
          </a:prstGeom>
          <a:noFill/>
          <a:ln/>
        </p:spPr>
        <p:txBody>
          <a:bodyPr wrap="square" lIns="0" tIns="0" rIns="0" bIns="0" rtlCol="0" anchor="t">
            <a:normAutofit/>
          </a:bodyPr>
          <a:lstStyle/>
          <a:p>
            <a:pPr algn="l" indent="0" marL="0">
              <a:buNone/>
            </a:pPr>
            <a:r>
              <a:rPr lang="en-US" sz="1700" b="1" dirty="0">
                <a:solidFill>
                  <a:srgbClr val="FFC09B"/>
                </a:solidFill>
                <a:latin typeface="Microsoft JhengHei" pitchFamily="34" charset="0"/>
                <a:ea typeface="Microsoft JhengHei" pitchFamily="34" charset="-122"/>
                <a:cs typeface="Microsoft JhengHei" pitchFamily="34" charset="-120"/>
              </a:rPr>
              <a:t>主標題：急性代謝疲勞趨勢（實驗性）</a:t>
            </a:r>
            <a:endParaRPr lang="en-US" sz="1700" dirty="0"/>
          </a:p>
        </p:txBody>
      </p:sp>
      <p:sp>
        <p:nvSpPr>
          <p:cNvPr id="26" name="Shape 24"/>
          <p:cNvSpPr/>
          <p:nvPr/>
        </p:nvSpPr>
        <p:spPr>
          <a:xfrm>
            <a:off x="6528816" y="2651760"/>
            <a:ext cx="128016" cy="128016"/>
          </a:xfrm>
          <a:prstGeom prst="ellipse">
            <a:avLst/>
          </a:prstGeom>
          <a:solidFill>
            <a:srgbClr val="FF9B5E"/>
          </a:solidFill>
          <a:ln w="12700">
            <a:solidFill>
              <a:srgbClr val="FF9B5E">
                <a:alpha val="0"/>
              </a:srgbClr>
            </a:solidFill>
            <a:prstDash val="solid"/>
          </a:ln>
        </p:spPr>
      </p:sp>
      <p:sp>
        <p:nvSpPr>
          <p:cNvPr id="27" name="Text 25"/>
          <p:cNvSpPr txBox="1"/>
          <p:nvPr/>
        </p:nvSpPr>
        <p:spPr>
          <a:xfrm>
            <a:off x="6739128" y="2615184"/>
            <a:ext cx="4315968"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只做同人、同 protocol</a:t>
            </a:r>
            <a:endParaRPr lang="en-US" sz="1250" dirty="0"/>
          </a:p>
        </p:txBody>
      </p:sp>
      <p:sp>
        <p:nvSpPr>
          <p:cNvPr id="28" name="Text 26"/>
          <p:cNvSpPr txBox="1"/>
          <p:nvPr/>
        </p:nvSpPr>
        <p:spPr>
          <a:xfrm>
            <a:off x="6739128" y="2880360"/>
            <a:ext cx="4315968" cy="640080"/>
          </a:xfrm>
          <a:prstGeom prst="rect">
            <a:avLst/>
          </a:prstGeom>
          <a:noFill/>
          <a:ln/>
        </p:spPr>
        <p:txBody>
          <a:bodyPr wrap="square" lIns="0" tIns="0" rIns="0" bIns="0" rtlCol="0" anchor="t">
            <a:normAutofit/>
          </a:bodyPr>
          <a:lstStyle/>
          <a:p>
            <a:pPr algn="l" indent="0" marL="0">
              <a:buNone/>
            </a:pPr>
            <a:r>
              <a:rPr lang="en-US" sz="1030" dirty="0">
                <a:solidFill>
                  <a:srgbClr val="93A4B6"/>
                </a:solidFill>
                <a:latin typeface="Microsoft JhengHei" pitchFamily="34" charset="0"/>
                <a:ea typeface="Microsoft JhengHei" pitchFamily="34" charset="-122"/>
                <a:cs typeface="Microsoft JhengHei" pitchFamily="34" charset="-120"/>
              </a:rPr>
              <a:t>固定負荷：看反應提前時間、斜率、AUC；漸增負荷：看 sLT 的時間／功率位移。</a:t>
            </a:r>
            <a:endParaRPr lang="en-US" sz="1030" dirty="0"/>
          </a:p>
        </p:txBody>
      </p:sp>
      <p:sp>
        <p:nvSpPr>
          <p:cNvPr id="29" name="Shape 27"/>
          <p:cNvSpPr/>
          <p:nvPr/>
        </p:nvSpPr>
        <p:spPr>
          <a:xfrm>
            <a:off x="6528816" y="3785616"/>
            <a:ext cx="128016" cy="128016"/>
          </a:xfrm>
          <a:prstGeom prst="ellipse">
            <a:avLst/>
          </a:prstGeom>
          <a:solidFill>
            <a:srgbClr val="B7F06A"/>
          </a:solidFill>
          <a:ln w="12700">
            <a:solidFill>
              <a:srgbClr val="B7F06A">
                <a:alpha val="0"/>
              </a:srgbClr>
            </a:solidFill>
            <a:prstDash val="solid"/>
          </a:ln>
        </p:spPr>
      </p:sp>
      <p:sp>
        <p:nvSpPr>
          <p:cNvPr id="30" name="Text 28"/>
          <p:cNvSpPr txBox="1"/>
          <p:nvPr/>
        </p:nvSpPr>
        <p:spPr>
          <a:xfrm>
            <a:off x="6739128" y="3749040"/>
            <a:ext cx="4315968" cy="228600"/>
          </a:xfrm>
          <a:prstGeom prst="rect">
            <a:avLst/>
          </a:prstGeom>
          <a:noFill/>
          <a:ln/>
        </p:spPr>
        <p:txBody>
          <a:bodyPr wrap="square" lIns="0" tIns="0" rIns="0" bIns="0" rtlCol="0" anchor="t">
            <a:normAutofit/>
          </a:bodyPr>
          <a:lstStyle/>
          <a:p>
            <a:pPr algn="l" indent="0" marL="0">
              <a:buNone/>
            </a:pPr>
            <a:r>
              <a:rPr lang="en-US" sz="1250" b="1" dirty="0">
                <a:solidFill>
                  <a:srgbClr val="F5F7FA"/>
                </a:solidFill>
                <a:latin typeface="Microsoft JhengHei" pitchFamily="34" charset="0"/>
                <a:ea typeface="Microsoft JhengHei" pitchFamily="34" charset="-122"/>
                <a:cs typeface="Microsoft JhengHei" pitchFamily="34" charset="-120"/>
              </a:rPr>
              <a:t>輸出「狀態 + 原因 + 信心」</a:t>
            </a:r>
            <a:endParaRPr lang="en-US" sz="1250" dirty="0"/>
          </a:p>
        </p:txBody>
      </p:sp>
      <p:sp>
        <p:nvSpPr>
          <p:cNvPr id="31" name="Text 29"/>
          <p:cNvSpPr txBox="1"/>
          <p:nvPr/>
        </p:nvSpPr>
        <p:spPr>
          <a:xfrm>
            <a:off x="6739128" y="4014216"/>
            <a:ext cx="4315968" cy="566928"/>
          </a:xfrm>
          <a:prstGeom prst="rect">
            <a:avLst/>
          </a:prstGeom>
          <a:noFill/>
          <a:ln/>
        </p:spPr>
        <p:txBody>
          <a:bodyPr wrap="square" lIns="0" tIns="0" rIns="0" bIns="0" rtlCol="0" anchor="t">
            <a:normAutofit/>
          </a:bodyPr>
          <a:lstStyle/>
          <a:p>
            <a:pPr algn="l" indent="0" marL="0">
              <a:buNone/>
            </a:pPr>
            <a:r>
              <a:rPr lang="en-US" sz="1030" dirty="0">
                <a:solidFill>
                  <a:srgbClr val="93A4B6"/>
                </a:solidFill>
                <a:latin typeface="Microsoft JhengHei" pitchFamily="34" charset="0"/>
                <a:ea typeface="Microsoft JhengHei" pitchFamily="34" charset="-122"/>
                <a:cs typeface="Microsoft JhengHei" pitchFamily="34" charset="-120"/>
              </a:rPr>
              <a:t>例：反應提前 42 秒｜個人第 88 百分位｜可信度 B；環境差異使信心下降。</a:t>
            </a:r>
            <a:endParaRPr lang="en-US" sz="1030" dirty="0"/>
          </a:p>
        </p:txBody>
      </p:sp>
      <p:sp>
        <p:nvSpPr>
          <p:cNvPr id="32" name="Shape 30"/>
          <p:cNvSpPr/>
          <p:nvPr/>
        </p:nvSpPr>
        <p:spPr>
          <a:xfrm>
            <a:off x="6556248" y="4828032"/>
            <a:ext cx="4599432" cy="438912"/>
          </a:xfrm>
          <a:prstGeom prst="roundRect">
            <a:avLst>
              <a:gd name="adj" fmla="val 16667"/>
            </a:avLst>
          </a:prstGeom>
          <a:solidFill>
            <a:srgbClr val="102235"/>
          </a:solidFill>
          <a:ln w="12700">
            <a:solidFill>
              <a:srgbClr val="FF9B5E"/>
            </a:solidFill>
            <a:prstDash val="solid"/>
          </a:ln>
        </p:spPr>
      </p:sp>
      <p:sp>
        <p:nvSpPr>
          <p:cNvPr id="33" name="Text 31"/>
          <p:cNvSpPr txBox="1"/>
          <p:nvPr/>
        </p:nvSpPr>
        <p:spPr>
          <a:xfrm>
            <a:off x="6793992" y="4965192"/>
            <a:ext cx="4114800" cy="173736"/>
          </a:xfrm>
          <a:prstGeom prst="rect">
            <a:avLst/>
          </a:prstGeom>
          <a:noFill/>
          <a:ln/>
        </p:spPr>
        <p:txBody>
          <a:bodyPr wrap="square" lIns="0" tIns="0" rIns="0" bIns="0" rtlCol="0" anchor="t">
            <a:normAutofit/>
          </a:bodyPr>
          <a:lstStyle/>
          <a:p>
            <a:pPr algn="ctr" indent="0" marL="0">
              <a:buNone/>
            </a:pPr>
            <a:r>
              <a:rPr lang="en-US" sz="1020" b="1" dirty="0">
                <a:solidFill>
                  <a:srgbClr val="FFC09B"/>
                </a:solidFill>
                <a:latin typeface="Microsoft JhengHei" pitchFamily="34" charset="0"/>
                <a:ea typeface="Microsoft JhengHei" pitchFamily="34" charset="-122"/>
                <a:cs typeface="Microsoft JhengHei" pitchFamily="34" charset="-120"/>
              </a:rPr>
              <a:t>基準不足時：只顯示「建立個人基準中」</a:t>
            </a:r>
            <a:endParaRPr lang="en-US" sz="1020" dirty="0"/>
          </a:p>
        </p:txBody>
      </p:sp>
      <p:sp>
        <p:nvSpPr>
          <p:cNvPr id="34" name="Shape 32"/>
          <p:cNvSpPr/>
          <p:nvPr/>
        </p:nvSpPr>
        <p:spPr>
          <a:xfrm>
            <a:off x="1069848" y="5870448"/>
            <a:ext cx="10040112" cy="411480"/>
          </a:xfrm>
          <a:prstGeom prst="roundRect">
            <a:avLst>
              <a:gd name="adj" fmla="val 17778"/>
            </a:avLst>
          </a:prstGeom>
          <a:solidFill>
            <a:srgbClr val="12263A"/>
          </a:solidFill>
          <a:ln w="12700">
            <a:solidFill>
              <a:srgbClr val="FF6577"/>
            </a:solidFill>
            <a:prstDash val="solid"/>
          </a:ln>
        </p:spPr>
      </p:sp>
      <p:sp>
        <p:nvSpPr>
          <p:cNvPr id="35" name="Text 33"/>
          <p:cNvSpPr/>
          <p:nvPr/>
        </p:nvSpPr>
        <p:spPr>
          <a:xfrm>
            <a:off x="1316736" y="5980176"/>
            <a:ext cx="9528048" cy="182880"/>
          </a:xfrm>
          <a:prstGeom prst="rect">
            <a:avLst/>
          </a:prstGeom>
          <a:noFill/>
          <a:ln/>
        </p:spPr>
        <p:txBody>
          <a:bodyPr wrap="square" lIns="0" tIns="0" rIns="0" bIns="0" rtlCol="0" anchor="t">
            <a:normAutofit/>
          </a:bodyPr>
          <a:lstStyle/>
          <a:p>
            <a:pPr algn="ctr" indent="0" marL="0">
              <a:buNone/>
            </a:pPr>
            <a:r>
              <a:rPr lang="en-US" sz="1030" b="1" dirty="0">
                <a:solidFill>
                  <a:srgbClr val="FF6577"/>
                </a:solidFill>
                <a:latin typeface="Microsoft JhengHei" pitchFamily="34" charset="0"/>
                <a:ea typeface="Microsoft JhengHei" pitchFamily="34" charset="-122"/>
                <a:cs typeface="Microsoft JhengHei" pitchFamily="34" charset="-120"/>
              </a:rPr>
              <a:t>濃度-only 缺口：</a:t>
            </a:r>
            <a:pPr algn="ctr" indent="0" marL="0">
              <a:buNone/>
            </a:pPr>
            <a:r>
              <a:rPr lang="en-US" sz="1030" b="1" dirty="0">
                <a:solidFill>
                  <a:srgbClr val="F5F7FA"/>
                </a:solidFill>
                <a:latin typeface="Microsoft JhengHei" pitchFamily="34" charset="0"/>
                <a:ea typeface="Microsoft JhengHei" pitchFamily="34" charset="-122"/>
                <a:cs typeface="Microsoft JhengHei" pitchFamily="34" charset="-120"/>
              </a:rPr>
              <a:t>沒有汗率就無法重現研究 1 的「排出量」端點；至少記錄出汗起始、溫濕度、部位與資料品質。</a:t>
            </a:r>
            <a:endParaRPr lang="en-US" sz="103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0D4C7"/>
          </a:solidFill>
          <a:ln w="12700">
            <a:solidFill>
              <a:srgbClr val="20D4C7">
                <a:alpha val="0"/>
              </a:srgbClr>
            </a:solidFill>
            <a:prstDash val="solid"/>
          </a:ln>
        </p:spPr>
      </p:sp>
      <p:sp>
        <p:nvSpPr>
          <p:cNvPr id="3" name="Shape 1"/>
          <p:cNvSpPr/>
          <p:nvPr/>
        </p:nvSpPr>
        <p:spPr>
          <a:xfrm>
            <a:off x="10561320" y="-658368"/>
            <a:ext cx="2194560" cy="2194560"/>
          </a:xfrm>
          <a:prstGeom prst="ellipse">
            <a:avLst/>
          </a:prstGeom>
          <a:solidFill>
            <a:srgbClr val="20D4C7">
              <a:alpha val="8000"/>
            </a:srgbClr>
          </a:solidFill>
          <a:ln w="12700">
            <a:solidFill>
              <a:srgbClr val="20D4C7">
                <a:alpha val="0"/>
              </a:srgbClr>
            </a:solidFill>
            <a:prstDash val="solid"/>
          </a:ln>
        </p:spPr>
      </p:sp>
      <p:sp>
        <p:nvSpPr>
          <p:cNvPr id="4" name="Shape 2"/>
          <p:cNvSpPr/>
          <p:nvPr/>
        </p:nvSpPr>
        <p:spPr>
          <a:xfrm>
            <a:off x="502920" y="841248"/>
            <a:ext cx="11155680" cy="0"/>
          </a:xfrm>
          <a:prstGeom prst="line">
            <a:avLst/>
          </a:prstGeom>
          <a:noFill/>
          <a:ln w="12700">
            <a:solidFill>
              <a:srgbClr val="1E3A52"/>
            </a:solidFill>
            <a:prstDash val="solid"/>
          </a:ln>
        </p:spPr>
      </p:sp>
      <p:sp>
        <p:nvSpPr>
          <p:cNvPr id="5" name="Text 3"/>
          <p:cNvSpPr/>
          <p:nvPr/>
        </p:nvSpPr>
        <p:spPr>
          <a:xfrm>
            <a:off x="566928" y="237744"/>
            <a:ext cx="2926080" cy="219456"/>
          </a:xfrm>
          <a:prstGeom prst="rect">
            <a:avLst/>
          </a:prstGeom>
          <a:noFill/>
          <a:ln/>
        </p:spPr>
        <p:txBody>
          <a:bodyPr wrap="square" lIns="0" tIns="0" rIns="0" bIns="0" rtlCol="0" anchor="ctr">
            <a:normAutofit/>
          </a:bodyPr>
          <a:lstStyle/>
          <a:p>
            <a:pPr indent="0" marL="0">
              <a:buNone/>
            </a:pPr>
            <a:r>
              <a:rPr lang="en-US" sz="850" b="1" spc="130" kern="0" dirty="0">
                <a:solidFill>
                  <a:srgbClr val="20D4C7"/>
                </a:solidFill>
                <a:latin typeface="Aptos" pitchFamily="34" charset="0"/>
                <a:ea typeface="Aptos" pitchFamily="34" charset="-122"/>
                <a:cs typeface="Aptos" pitchFamily="34" charset="-120"/>
              </a:rPr>
              <a:t>VALIDATION ROADMAP</a:t>
            </a:r>
            <a:endParaRPr lang="en-US" sz="850" dirty="0"/>
          </a:p>
        </p:txBody>
      </p:sp>
      <p:sp>
        <p:nvSpPr>
          <p:cNvPr id="6" name="Text 4"/>
          <p:cNvSpPr/>
          <p:nvPr/>
        </p:nvSpPr>
        <p:spPr>
          <a:xfrm>
            <a:off x="566928" y="420624"/>
            <a:ext cx="10881360" cy="365760"/>
          </a:xfrm>
          <a:prstGeom prst="rect">
            <a:avLst/>
          </a:prstGeom>
          <a:noFill/>
          <a:ln/>
        </p:spPr>
        <p:txBody>
          <a:bodyPr wrap="square" lIns="0" tIns="0" rIns="0" bIns="0" rtlCol="0" anchor="ctr">
            <a:normAutofit/>
          </a:bodyPr>
          <a:lstStyle/>
          <a:p>
            <a:pPr indent="0" marL="0">
              <a:buNone/>
            </a:pPr>
            <a:r>
              <a:rPr lang="en-US" sz="2300" b="1" dirty="0">
                <a:solidFill>
                  <a:srgbClr val="F5F7FA"/>
                </a:solidFill>
                <a:latin typeface="Microsoft JhengHei" pitchFamily="34" charset="0"/>
                <a:ea typeface="Microsoft JhengHei" pitchFamily="34" charset="-122"/>
                <a:cs typeface="Microsoft JhengHei" pitchFamily="34" charset="-120"/>
              </a:rPr>
              <a:t>若要把研究變成 LA-01 功能：建議的驗證路線</a:t>
            </a:r>
            <a:endParaRPr lang="en-US" sz="2300" dirty="0"/>
          </a:p>
        </p:txBody>
      </p:sp>
      <p:sp>
        <p:nvSpPr>
          <p:cNvPr id="7" name="Text 5"/>
          <p:cNvSpPr/>
          <p:nvPr/>
        </p:nvSpPr>
        <p:spPr>
          <a:xfrm>
            <a:off x="11109960" y="6519672"/>
            <a:ext cx="502920" cy="164592"/>
          </a:xfrm>
          <a:prstGeom prst="rect">
            <a:avLst/>
          </a:prstGeom>
          <a:noFill/>
          <a:ln/>
        </p:spPr>
        <p:txBody>
          <a:bodyPr wrap="square" lIns="0" tIns="0" rIns="0" bIns="0" rtlCol="0" anchor="ctr"/>
          <a:lstStyle/>
          <a:p>
            <a:pPr algn="r" indent="0" marL="0">
              <a:buNone/>
            </a:pPr>
            <a:r>
              <a:rPr lang="en-US" sz="850" b="1" dirty="0">
                <a:solidFill>
                  <a:srgbClr val="20D4C7"/>
                </a:solidFill>
                <a:latin typeface="Aptos" pitchFamily="34" charset="0"/>
                <a:ea typeface="Aptos" pitchFamily="34" charset="-122"/>
                <a:cs typeface="Aptos" pitchFamily="34" charset="-120"/>
              </a:rPr>
              <a:t>15</a:t>
            </a:r>
            <a:endParaRPr lang="en-US" sz="850" dirty="0"/>
          </a:p>
        </p:txBody>
      </p:sp>
      <p:sp>
        <p:nvSpPr>
          <p:cNvPr id="8" name="Shape 6"/>
          <p:cNvSpPr/>
          <p:nvPr/>
        </p:nvSpPr>
        <p:spPr>
          <a:xfrm>
            <a:off x="612648" y="1344168"/>
            <a:ext cx="2062886" cy="3977640"/>
          </a:xfrm>
          <a:prstGeom prst="roundRect">
            <a:avLst>
              <a:gd name="adj" fmla="val 3546"/>
            </a:avLst>
          </a:prstGeom>
          <a:solidFill>
            <a:srgbClr val="0E1D2E"/>
          </a:solidFill>
          <a:ln w="15240">
            <a:solidFill>
              <a:srgbClr val="6BB7FF"/>
            </a:solidFill>
            <a:prstDash val="solid"/>
          </a:ln>
        </p:spPr>
      </p:sp>
      <p:sp>
        <p:nvSpPr>
          <p:cNvPr id="9" name="Shape 7"/>
          <p:cNvSpPr/>
          <p:nvPr/>
        </p:nvSpPr>
        <p:spPr>
          <a:xfrm>
            <a:off x="813816" y="1563624"/>
            <a:ext cx="475488" cy="475488"/>
          </a:xfrm>
          <a:prstGeom prst="ellipse">
            <a:avLst/>
          </a:prstGeom>
          <a:solidFill>
            <a:srgbClr val="6BB7FF"/>
          </a:solidFill>
          <a:ln w="12700">
            <a:solidFill>
              <a:srgbClr val="6BB7FF">
                <a:alpha val="0"/>
              </a:srgbClr>
            </a:solidFill>
            <a:prstDash val="solid"/>
          </a:ln>
        </p:spPr>
      </p:sp>
      <p:sp>
        <p:nvSpPr>
          <p:cNvPr id="10" name="Text 8"/>
          <p:cNvSpPr txBox="1"/>
          <p:nvPr/>
        </p:nvSpPr>
        <p:spPr>
          <a:xfrm>
            <a:off x="813816" y="1682496"/>
            <a:ext cx="475488" cy="155448"/>
          </a:xfrm>
          <a:prstGeom prst="rect">
            <a:avLst/>
          </a:prstGeom>
          <a:noFill/>
          <a:ln/>
        </p:spPr>
        <p:txBody>
          <a:bodyPr wrap="square" lIns="0" tIns="0" rIns="0" bIns="0" rtlCol="0" anchor="t">
            <a:normAutofit/>
          </a:bodyPr>
          <a:lstStyle/>
          <a:p>
            <a:pPr algn="ctr" indent="0" marL="0">
              <a:buNone/>
            </a:pPr>
            <a:r>
              <a:rPr lang="en-US" sz="950" b="1" dirty="0">
                <a:solidFill>
                  <a:srgbClr val="07111F"/>
                </a:solidFill>
                <a:latin typeface="Aptos" pitchFamily="34" charset="0"/>
                <a:ea typeface="Aptos" pitchFamily="34" charset="-122"/>
                <a:cs typeface="Aptos" pitchFamily="34" charset="-120"/>
              </a:rPr>
              <a:t>01</a:t>
            </a:r>
            <a:endParaRPr lang="en-US" sz="950" dirty="0"/>
          </a:p>
        </p:txBody>
      </p:sp>
      <p:sp>
        <p:nvSpPr>
          <p:cNvPr id="11" name="Text 9"/>
          <p:cNvSpPr txBox="1"/>
          <p:nvPr/>
        </p:nvSpPr>
        <p:spPr>
          <a:xfrm>
            <a:off x="813816" y="2286000"/>
            <a:ext cx="1660550" cy="502920"/>
          </a:xfrm>
          <a:prstGeom prst="rect">
            <a:avLst/>
          </a:prstGeom>
          <a:noFill/>
          <a:ln/>
        </p:spPr>
        <p:txBody>
          <a:bodyPr wrap="square" lIns="0" tIns="0" rIns="0" bIns="0" rtlCol="0" anchor="t">
            <a:normAutofit/>
          </a:bodyPr>
          <a:lstStyle/>
          <a:p>
            <a:pPr algn="ctr" indent="0" marL="0">
              <a:buNone/>
            </a:pPr>
            <a:r>
              <a:rPr lang="en-US" sz="1500" b="1" dirty="0">
                <a:solidFill>
                  <a:srgbClr val="6BB7FF"/>
                </a:solidFill>
                <a:latin typeface="Microsoft JhengHei" pitchFamily="34" charset="0"/>
                <a:ea typeface="Microsoft JhengHei" pitchFamily="34" charset="-122"/>
                <a:cs typeface="Microsoft JhengHei" pitchFamily="34" charset="-120"/>
              </a:rPr>
              <a:t>資料可用性</a:t>
            </a:r>
            <a:endParaRPr lang="en-US" sz="1500" dirty="0"/>
          </a:p>
        </p:txBody>
      </p:sp>
      <p:sp>
        <p:nvSpPr>
          <p:cNvPr id="12" name="Shape 10"/>
          <p:cNvSpPr/>
          <p:nvPr/>
        </p:nvSpPr>
        <p:spPr>
          <a:xfrm>
            <a:off x="868680" y="2962656"/>
            <a:ext cx="1550822" cy="0"/>
          </a:xfrm>
          <a:prstGeom prst="line">
            <a:avLst/>
          </a:prstGeom>
          <a:noFill/>
          <a:ln w="12700">
            <a:solidFill>
              <a:srgbClr val="1E3A52"/>
            </a:solidFill>
            <a:prstDash val="solid"/>
          </a:ln>
        </p:spPr>
      </p:sp>
      <p:sp>
        <p:nvSpPr>
          <p:cNvPr id="13" name="Text 11"/>
          <p:cNvSpPr txBox="1"/>
          <p:nvPr/>
        </p:nvSpPr>
        <p:spPr>
          <a:xfrm>
            <a:off x="832104" y="3227832"/>
            <a:ext cx="1623974" cy="1417320"/>
          </a:xfrm>
          <a:prstGeom prst="rect">
            <a:avLst/>
          </a:prstGeom>
          <a:noFill/>
          <a:ln/>
        </p:spPr>
        <p:txBody>
          <a:bodyPr wrap="square" lIns="0" tIns="0" rIns="0" bIns="0" rtlCol="0" anchor="t">
            <a:normAutofit/>
          </a:bodyPr>
          <a:lstStyle/>
          <a:p>
            <a:pPr algn="l" indent="0" marL="0">
              <a:buNone/>
            </a:pPr>
            <a:r>
              <a:rPr lang="en-US" sz="1020" dirty="0">
                <a:solidFill>
                  <a:srgbClr val="D8E2EC"/>
                </a:solidFill>
                <a:latin typeface="Microsoft JhengHei" pitchFamily="34" charset="0"/>
                <a:ea typeface="Microsoft JhengHei" pitchFamily="34" charset="-122"/>
                <a:cs typeface="Microsoft JhengHei" pitchFamily="34" charset="-120"/>
              </a:rPr>
              <a:t>確認連續取樣頻率、時間戳、校正、飽和與斷訊；先證明曲線可重現。</a:t>
            </a:r>
            <a:endParaRPr lang="en-US" sz="1020" dirty="0"/>
          </a:p>
        </p:txBody>
      </p:sp>
      <p:sp>
        <p:nvSpPr>
          <p:cNvPr id="14" name="Shape 12"/>
          <p:cNvSpPr/>
          <p:nvPr/>
        </p:nvSpPr>
        <p:spPr>
          <a:xfrm>
            <a:off x="2684678" y="3063240"/>
            <a:ext cx="137160" cy="384048"/>
          </a:xfrm>
          <a:prstGeom prst="chevron">
            <a:avLst/>
          </a:prstGeom>
          <a:solidFill>
            <a:srgbClr val="27435A"/>
          </a:solidFill>
          <a:ln w="12700">
            <a:solidFill>
              <a:srgbClr val="27435A">
                <a:alpha val="0"/>
              </a:srgbClr>
            </a:solidFill>
            <a:prstDash val="solid"/>
          </a:ln>
        </p:spPr>
      </p:sp>
      <p:sp>
        <p:nvSpPr>
          <p:cNvPr id="15" name="Shape 13"/>
          <p:cNvSpPr/>
          <p:nvPr/>
        </p:nvSpPr>
        <p:spPr>
          <a:xfrm>
            <a:off x="2840126" y="1344168"/>
            <a:ext cx="2062886" cy="3977640"/>
          </a:xfrm>
          <a:prstGeom prst="roundRect">
            <a:avLst>
              <a:gd name="adj" fmla="val 3546"/>
            </a:avLst>
          </a:prstGeom>
          <a:solidFill>
            <a:srgbClr val="12263A"/>
          </a:solidFill>
          <a:ln w="15240">
            <a:solidFill>
              <a:srgbClr val="20D4C7"/>
            </a:solidFill>
            <a:prstDash val="solid"/>
          </a:ln>
        </p:spPr>
      </p:sp>
      <p:sp>
        <p:nvSpPr>
          <p:cNvPr id="16" name="Shape 14"/>
          <p:cNvSpPr/>
          <p:nvPr/>
        </p:nvSpPr>
        <p:spPr>
          <a:xfrm>
            <a:off x="3041294" y="1563624"/>
            <a:ext cx="475488" cy="475488"/>
          </a:xfrm>
          <a:prstGeom prst="ellipse">
            <a:avLst/>
          </a:prstGeom>
          <a:solidFill>
            <a:srgbClr val="20D4C7"/>
          </a:solidFill>
          <a:ln w="12700">
            <a:solidFill>
              <a:srgbClr val="20D4C7">
                <a:alpha val="0"/>
              </a:srgbClr>
            </a:solidFill>
            <a:prstDash val="solid"/>
          </a:ln>
        </p:spPr>
      </p:sp>
      <p:sp>
        <p:nvSpPr>
          <p:cNvPr id="17" name="Text 15"/>
          <p:cNvSpPr txBox="1"/>
          <p:nvPr/>
        </p:nvSpPr>
        <p:spPr>
          <a:xfrm>
            <a:off x="3041294" y="1682496"/>
            <a:ext cx="475488" cy="155448"/>
          </a:xfrm>
          <a:prstGeom prst="rect">
            <a:avLst/>
          </a:prstGeom>
          <a:noFill/>
          <a:ln/>
        </p:spPr>
        <p:txBody>
          <a:bodyPr wrap="square" lIns="0" tIns="0" rIns="0" bIns="0" rtlCol="0" anchor="t">
            <a:normAutofit/>
          </a:bodyPr>
          <a:lstStyle/>
          <a:p>
            <a:pPr algn="ctr" indent="0" marL="0">
              <a:buNone/>
            </a:pPr>
            <a:r>
              <a:rPr lang="en-US" sz="950" b="1" dirty="0">
                <a:solidFill>
                  <a:srgbClr val="07111F"/>
                </a:solidFill>
                <a:latin typeface="Aptos" pitchFamily="34" charset="0"/>
                <a:ea typeface="Aptos" pitchFamily="34" charset="-122"/>
                <a:cs typeface="Aptos" pitchFamily="34" charset="-120"/>
              </a:rPr>
              <a:t>02</a:t>
            </a:r>
            <a:endParaRPr lang="en-US" sz="950" dirty="0"/>
          </a:p>
        </p:txBody>
      </p:sp>
      <p:sp>
        <p:nvSpPr>
          <p:cNvPr id="18" name="Text 16"/>
          <p:cNvSpPr txBox="1"/>
          <p:nvPr/>
        </p:nvSpPr>
        <p:spPr>
          <a:xfrm>
            <a:off x="3041294" y="2286000"/>
            <a:ext cx="1660550" cy="502920"/>
          </a:xfrm>
          <a:prstGeom prst="rect">
            <a:avLst/>
          </a:prstGeom>
          <a:noFill/>
          <a:ln/>
        </p:spPr>
        <p:txBody>
          <a:bodyPr wrap="square" lIns="0" tIns="0" rIns="0" bIns="0" rtlCol="0" anchor="t">
            <a:normAutofit/>
          </a:bodyPr>
          <a:lstStyle/>
          <a:p>
            <a:pPr algn="ctr" indent="0" marL="0">
              <a:buNone/>
            </a:pPr>
            <a:r>
              <a:rPr lang="en-US" sz="1500" b="1" dirty="0">
                <a:solidFill>
                  <a:srgbClr val="20D4C7"/>
                </a:solidFill>
                <a:latin typeface="Microsoft JhengHei" pitchFamily="34" charset="0"/>
                <a:ea typeface="Microsoft JhengHei" pitchFamily="34" charset="-122"/>
                <a:cs typeface="Microsoft JhengHei" pitchFamily="34" charset="-120"/>
              </a:rPr>
              <a:t>個人基準／重測</a:t>
            </a:r>
            <a:endParaRPr lang="en-US" sz="1500" dirty="0"/>
          </a:p>
        </p:txBody>
      </p:sp>
      <p:sp>
        <p:nvSpPr>
          <p:cNvPr id="19" name="Shape 17"/>
          <p:cNvSpPr/>
          <p:nvPr/>
        </p:nvSpPr>
        <p:spPr>
          <a:xfrm>
            <a:off x="3096158" y="2962656"/>
            <a:ext cx="1550822" cy="0"/>
          </a:xfrm>
          <a:prstGeom prst="line">
            <a:avLst/>
          </a:prstGeom>
          <a:noFill/>
          <a:ln w="12700">
            <a:solidFill>
              <a:srgbClr val="1E3A52"/>
            </a:solidFill>
            <a:prstDash val="solid"/>
          </a:ln>
        </p:spPr>
      </p:sp>
      <p:sp>
        <p:nvSpPr>
          <p:cNvPr id="20" name="Text 18"/>
          <p:cNvSpPr txBox="1"/>
          <p:nvPr/>
        </p:nvSpPr>
        <p:spPr>
          <a:xfrm>
            <a:off x="3059582" y="3227832"/>
            <a:ext cx="1623974" cy="1417320"/>
          </a:xfrm>
          <a:prstGeom prst="rect">
            <a:avLst/>
          </a:prstGeom>
          <a:noFill/>
          <a:ln/>
        </p:spPr>
        <p:txBody>
          <a:bodyPr wrap="square" lIns="0" tIns="0" rIns="0" bIns="0" rtlCol="0" anchor="t">
            <a:normAutofit/>
          </a:bodyPr>
          <a:lstStyle/>
          <a:p>
            <a:pPr algn="l" indent="0" marL="0">
              <a:buNone/>
            </a:pPr>
            <a:r>
              <a:rPr lang="en-US" sz="1020" dirty="0">
                <a:solidFill>
                  <a:srgbClr val="D8E2EC"/>
                </a:solidFill>
                <a:latin typeface="Microsoft JhengHei" pitchFamily="34" charset="0"/>
                <a:ea typeface="Microsoft JhengHei" pitchFamily="34" charset="-122"/>
                <a:cs typeface="Microsoft JhengHei" pitchFamily="34" charset="-120"/>
              </a:rPr>
              <a:t>每人至少 3 次休息良好、同時段、同 protocol 測試；估 ICC、CV、SEM、個人 MDC。</a:t>
            </a:r>
            <a:endParaRPr lang="en-US" sz="1020" dirty="0"/>
          </a:p>
        </p:txBody>
      </p:sp>
      <p:sp>
        <p:nvSpPr>
          <p:cNvPr id="21" name="Shape 19"/>
          <p:cNvSpPr/>
          <p:nvPr/>
        </p:nvSpPr>
        <p:spPr>
          <a:xfrm>
            <a:off x="4912157" y="3063240"/>
            <a:ext cx="137160" cy="384048"/>
          </a:xfrm>
          <a:prstGeom prst="chevron">
            <a:avLst/>
          </a:prstGeom>
          <a:solidFill>
            <a:srgbClr val="27435A"/>
          </a:solidFill>
          <a:ln w="12700">
            <a:solidFill>
              <a:srgbClr val="27435A">
                <a:alpha val="0"/>
              </a:srgbClr>
            </a:solidFill>
            <a:prstDash val="solid"/>
          </a:ln>
        </p:spPr>
      </p:sp>
      <p:sp>
        <p:nvSpPr>
          <p:cNvPr id="22" name="Shape 20"/>
          <p:cNvSpPr/>
          <p:nvPr/>
        </p:nvSpPr>
        <p:spPr>
          <a:xfrm>
            <a:off x="5067605" y="1344168"/>
            <a:ext cx="2062886" cy="3977640"/>
          </a:xfrm>
          <a:prstGeom prst="roundRect">
            <a:avLst>
              <a:gd name="adj" fmla="val 3546"/>
            </a:avLst>
          </a:prstGeom>
          <a:solidFill>
            <a:srgbClr val="0E1D2E"/>
          </a:solidFill>
          <a:ln w="15240">
            <a:solidFill>
              <a:srgbClr val="FF9B5E"/>
            </a:solidFill>
            <a:prstDash val="solid"/>
          </a:ln>
        </p:spPr>
      </p:sp>
      <p:sp>
        <p:nvSpPr>
          <p:cNvPr id="23" name="Shape 21"/>
          <p:cNvSpPr/>
          <p:nvPr/>
        </p:nvSpPr>
        <p:spPr>
          <a:xfrm>
            <a:off x="5268773" y="1563624"/>
            <a:ext cx="475488" cy="475488"/>
          </a:xfrm>
          <a:prstGeom prst="ellipse">
            <a:avLst/>
          </a:prstGeom>
          <a:solidFill>
            <a:srgbClr val="FF9B5E"/>
          </a:solidFill>
          <a:ln w="12700">
            <a:solidFill>
              <a:srgbClr val="FF9B5E">
                <a:alpha val="0"/>
              </a:srgbClr>
            </a:solidFill>
            <a:prstDash val="solid"/>
          </a:ln>
        </p:spPr>
      </p:sp>
      <p:sp>
        <p:nvSpPr>
          <p:cNvPr id="24" name="Text 22"/>
          <p:cNvSpPr txBox="1"/>
          <p:nvPr/>
        </p:nvSpPr>
        <p:spPr>
          <a:xfrm>
            <a:off x="5268773" y="1682496"/>
            <a:ext cx="475488" cy="155448"/>
          </a:xfrm>
          <a:prstGeom prst="rect">
            <a:avLst/>
          </a:prstGeom>
          <a:noFill/>
          <a:ln/>
        </p:spPr>
        <p:txBody>
          <a:bodyPr wrap="square" lIns="0" tIns="0" rIns="0" bIns="0" rtlCol="0" anchor="t">
            <a:normAutofit/>
          </a:bodyPr>
          <a:lstStyle/>
          <a:p>
            <a:pPr algn="ctr" indent="0" marL="0">
              <a:buNone/>
            </a:pPr>
            <a:r>
              <a:rPr lang="en-US" sz="950" b="1" dirty="0">
                <a:solidFill>
                  <a:srgbClr val="07111F"/>
                </a:solidFill>
                <a:latin typeface="Aptos" pitchFamily="34" charset="0"/>
                <a:ea typeface="Aptos" pitchFamily="34" charset="-122"/>
                <a:cs typeface="Aptos" pitchFamily="34" charset="-120"/>
              </a:rPr>
              <a:t>03</a:t>
            </a:r>
            <a:endParaRPr lang="en-US" sz="950" dirty="0"/>
          </a:p>
        </p:txBody>
      </p:sp>
      <p:sp>
        <p:nvSpPr>
          <p:cNvPr id="25" name="Text 23"/>
          <p:cNvSpPr txBox="1"/>
          <p:nvPr/>
        </p:nvSpPr>
        <p:spPr>
          <a:xfrm>
            <a:off x="5268773" y="2286000"/>
            <a:ext cx="1660550" cy="502920"/>
          </a:xfrm>
          <a:prstGeom prst="rect">
            <a:avLst/>
          </a:prstGeom>
          <a:noFill/>
          <a:ln/>
        </p:spPr>
        <p:txBody>
          <a:bodyPr wrap="square" lIns="0" tIns="0" rIns="0" bIns="0" rtlCol="0" anchor="t">
            <a:normAutofit/>
          </a:bodyPr>
          <a:lstStyle/>
          <a:p>
            <a:pPr algn="ctr" indent="0" marL="0">
              <a:buNone/>
            </a:pPr>
            <a:r>
              <a:rPr lang="en-US" sz="1500" b="1" dirty="0">
                <a:solidFill>
                  <a:srgbClr val="FF9B5E"/>
                </a:solidFill>
                <a:latin typeface="Microsoft JhengHei" pitchFamily="34" charset="0"/>
                <a:ea typeface="Microsoft JhengHei" pitchFamily="34" charset="-122"/>
                <a:cs typeface="Microsoft JhengHei" pitchFamily="34" charset="-120"/>
              </a:rPr>
              <a:t>控制疲勞實驗</a:t>
            </a:r>
            <a:endParaRPr lang="en-US" sz="1500" dirty="0"/>
          </a:p>
        </p:txBody>
      </p:sp>
      <p:sp>
        <p:nvSpPr>
          <p:cNvPr id="26" name="Shape 24"/>
          <p:cNvSpPr/>
          <p:nvPr/>
        </p:nvSpPr>
        <p:spPr>
          <a:xfrm>
            <a:off x="5323637" y="2962656"/>
            <a:ext cx="1550822" cy="0"/>
          </a:xfrm>
          <a:prstGeom prst="line">
            <a:avLst/>
          </a:prstGeom>
          <a:noFill/>
          <a:ln w="12700">
            <a:solidFill>
              <a:srgbClr val="1E3A52"/>
            </a:solidFill>
            <a:prstDash val="solid"/>
          </a:ln>
        </p:spPr>
      </p:sp>
      <p:sp>
        <p:nvSpPr>
          <p:cNvPr id="27" name="Text 25"/>
          <p:cNvSpPr txBox="1"/>
          <p:nvPr/>
        </p:nvSpPr>
        <p:spPr>
          <a:xfrm>
            <a:off x="5287061" y="3227832"/>
            <a:ext cx="1623974" cy="1417320"/>
          </a:xfrm>
          <a:prstGeom prst="rect">
            <a:avLst/>
          </a:prstGeom>
          <a:noFill/>
          <a:ln/>
        </p:spPr>
        <p:txBody>
          <a:bodyPr wrap="square" lIns="0" tIns="0" rIns="0" bIns="0" rtlCol="0" anchor="t">
            <a:normAutofit/>
          </a:bodyPr>
          <a:lstStyle/>
          <a:p>
            <a:pPr algn="l" indent="0" marL="0">
              <a:buNone/>
            </a:pPr>
            <a:r>
              <a:rPr lang="en-US" sz="1020" dirty="0">
                <a:solidFill>
                  <a:srgbClr val="D8E2EC"/>
                </a:solidFill>
                <a:latin typeface="Microsoft JhengHei" pitchFamily="34" charset="0"/>
                <a:ea typeface="Microsoft JhengHei" pitchFamily="34" charset="-122"/>
                <a:cs typeface="Microsoft JhengHei" pitchFamily="34" charset="-120"/>
              </a:rPr>
              <a:t>疲勞 vs 控制採隨機／交叉順序；同負荷比較。驗證子樣本同步汗率。</a:t>
            </a:r>
            <a:endParaRPr lang="en-US" sz="1020" dirty="0"/>
          </a:p>
        </p:txBody>
      </p:sp>
      <p:sp>
        <p:nvSpPr>
          <p:cNvPr id="28" name="Shape 26"/>
          <p:cNvSpPr/>
          <p:nvPr/>
        </p:nvSpPr>
        <p:spPr>
          <a:xfrm>
            <a:off x="7139635" y="3063240"/>
            <a:ext cx="137160" cy="384048"/>
          </a:xfrm>
          <a:prstGeom prst="chevron">
            <a:avLst/>
          </a:prstGeom>
          <a:solidFill>
            <a:srgbClr val="27435A"/>
          </a:solidFill>
          <a:ln w="12700">
            <a:solidFill>
              <a:srgbClr val="27435A">
                <a:alpha val="0"/>
              </a:srgbClr>
            </a:solidFill>
            <a:prstDash val="solid"/>
          </a:ln>
        </p:spPr>
      </p:sp>
      <p:sp>
        <p:nvSpPr>
          <p:cNvPr id="29" name="Shape 27"/>
          <p:cNvSpPr/>
          <p:nvPr/>
        </p:nvSpPr>
        <p:spPr>
          <a:xfrm>
            <a:off x="7295083" y="1344168"/>
            <a:ext cx="2062886" cy="3977640"/>
          </a:xfrm>
          <a:prstGeom prst="roundRect">
            <a:avLst>
              <a:gd name="adj" fmla="val 3546"/>
            </a:avLst>
          </a:prstGeom>
          <a:solidFill>
            <a:srgbClr val="12263A"/>
          </a:solidFill>
          <a:ln w="15240">
            <a:solidFill>
              <a:srgbClr val="B7F06A"/>
            </a:solidFill>
            <a:prstDash val="solid"/>
          </a:ln>
        </p:spPr>
      </p:sp>
      <p:sp>
        <p:nvSpPr>
          <p:cNvPr id="30" name="Shape 28"/>
          <p:cNvSpPr/>
          <p:nvPr/>
        </p:nvSpPr>
        <p:spPr>
          <a:xfrm>
            <a:off x="7496251" y="1563624"/>
            <a:ext cx="475488" cy="475488"/>
          </a:xfrm>
          <a:prstGeom prst="ellipse">
            <a:avLst/>
          </a:prstGeom>
          <a:solidFill>
            <a:srgbClr val="B7F06A"/>
          </a:solidFill>
          <a:ln w="12700">
            <a:solidFill>
              <a:srgbClr val="B7F06A">
                <a:alpha val="0"/>
              </a:srgbClr>
            </a:solidFill>
            <a:prstDash val="solid"/>
          </a:ln>
        </p:spPr>
      </p:sp>
      <p:sp>
        <p:nvSpPr>
          <p:cNvPr id="31" name="Text 29"/>
          <p:cNvSpPr txBox="1"/>
          <p:nvPr/>
        </p:nvSpPr>
        <p:spPr>
          <a:xfrm>
            <a:off x="7496251" y="1682496"/>
            <a:ext cx="475488" cy="155448"/>
          </a:xfrm>
          <a:prstGeom prst="rect">
            <a:avLst/>
          </a:prstGeom>
          <a:noFill/>
          <a:ln/>
        </p:spPr>
        <p:txBody>
          <a:bodyPr wrap="square" lIns="0" tIns="0" rIns="0" bIns="0" rtlCol="0" anchor="t">
            <a:normAutofit/>
          </a:bodyPr>
          <a:lstStyle/>
          <a:p>
            <a:pPr algn="ctr" indent="0" marL="0">
              <a:buNone/>
            </a:pPr>
            <a:r>
              <a:rPr lang="en-US" sz="950" b="1" dirty="0">
                <a:solidFill>
                  <a:srgbClr val="07111F"/>
                </a:solidFill>
                <a:latin typeface="Aptos" pitchFamily="34" charset="0"/>
                <a:ea typeface="Aptos" pitchFamily="34" charset="-122"/>
                <a:cs typeface="Aptos" pitchFamily="34" charset="-120"/>
              </a:rPr>
              <a:t>04</a:t>
            </a:r>
            <a:endParaRPr lang="en-US" sz="950" dirty="0"/>
          </a:p>
        </p:txBody>
      </p:sp>
      <p:sp>
        <p:nvSpPr>
          <p:cNvPr id="32" name="Text 30"/>
          <p:cNvSpPr txBox="1"/>
          <p:nvPr/>
        </p:nvSpPr>
        <p:spPr>
          <a:xfrm>
            <a:off x="7496251" y="2286000"/>
            <a:ext cx="1660550" cy="502920"/>
          </a:xfrm>
          <a:prstGeom prst="rect">
            <a:avLst/>
          </a:prstGeom>
          <a:noFill/>
          <a:ln/>
        </p:spPr>
        <p:txBody>
          <a:bodyPr wrap="square" lIns="0" tIns="0" rIns="0" bIns="0" rtlCol="0" anchor="t">
            <a:normAutofit/>
          </a:bodyPr>
          <a:lstStyle/>
          <a:p>
            <a:pPr algn="ctr" indent="0" marL="0">
              <a:buNone/>
            </a:pPr>
            <a:r>
              <a:rPr lang="en-US" sz="1500" b="1" dirty="0">
                <a:solidFill>
                  <a:srgbClr val="B7F06A"/>
                </a:solidFill>
                <a:latin typeface="Microsoft JhengHei" pitchFamily="34" charset="0"/>
                <a:ea typeface="Microsoft JhengHei" pitchFamily="34" charset="-122"/>
                <a:cs typeface="Microsoft JhengHei" pitchFamily="34" charset="-120"/>
              </a:rPr>
              <a:t>多指標效度</a:t>
            </a:r>
            <a:endParaRPr lang="en-US" sz="1500" dirty="0"/>
          </a:p>
        </p:txBody>
      </p:sp>
      <p:sp>
        <p:nvSpPr>
          <p:cNvPr id="33" name="Shape 31"/>
          <p:cNvSpPr/>
          <p:nvPr/>
        </p:nvSpPr>
        <p:spPr>
          <a:xfrm>
            <a:off x="7551115" y="2962656"/>
            <a:ext cx="1550822" cy="0"/>
          </a:xfrm>
          <a:prstGeom prst="line">
            <a:avLst/>
          </a:prstGeom>
          <a:noFill/>
          <a:ln w="12700">
            <a:solidFill>
              <a:srgbClr val="1E3A52"/>
            </a:solidFill>
            <a:prstDash val="solid"/>
          </a:ln>
        </p:spPr>
      </p:sp>
      <p:sp>
        <p:nvSpPr>
          <p:cNvPr id="34" name="Text 32"/>
          <p:cNvSpPr txBox="1"/>
          <p:nvPr/>
        </p:nvSpPr>
        <p:spPr>
          <a:xfrm>
            <a:off x="7514539" y="3227832"/>
            <a:ext cx="1623974" cy="1417320"/>
          </a:xfrm>
          <a:prstGeom prst="rect">
            <a:avLst/>
          </a:prstGeom>
          <a:noFill/>
          <a:ln/>
        </p:spPr>
        <p:txBody>
          <a:bodyPr wrap="square" lIns="0" tIns="0" rIns="0" bIns="0" rtlCol="0" anchor="t">
            <a:normAutofit/>
          </a:bodyPr>
          <a:lstStyle/>
          <a:p>
            <a:pPr algn="l" indent="0" marL="0">
              <a:buNone/>
            </a:pPr>
            <a:r>
              <a:rPr lang="en-US" sz="1020" dirty="0">
                <a:solidFill>
                  <a:srgbClr val="D8E2EC"/>
                </a:solidFill>
                <a:latin typeface="Microsoft JhengHei" pitchFamily="34" charset="0"/>
                <a:ea typeface="Microsoft JhengHei" pitchFamily="34" charset="-122"/>
                <a:cs typeface="Microsoft JhengHei" pitchFamily="34" charset="-120"/>
              </a:rPr>
              <a:t>同步功率、HR、RPE；可加入 CMJ、HRV 與恢復問卷。預先指定主要終點。</a:t>
            </a:r>
            <a:endParaRPr lang="en-US" sz="1020" dirty="0"/>
          </a:p>
        </p:txBody>
      </p:sp>
      <p:sp>
        <p:nvSpPr>
          <p:cNvPr id="35" name="Shape 33"/>
          <p:cNvSpPr/>
          <p:nvPr/>
        </p:nvSpPr>
        <p:spPr>
          <a:xfrm>
            <a:off x="9367114" y="3063240"/>
            <a:ext cx="137160" cy="384048"/>
          </a:xfrm>
          <a:prstGeom prst="chevron">
            <a:avLst/>
          </a:prstGeom>
          <a:solidFill>
            <a:srgbClr val="27435A"/>
          </a:solidFill>
          <a:ln w="12700">
            <a:solidFill>
              <a:srgbClr val="27435A">
                <a:alpha val="0"/>
              </a:srgbClr>
            </a:solidFill>
            <a:prstDash val="solid"/>
          </a:ln>
        </p:spPr>
      </p:sp>
      <p:sp>
        <p:nvSpPr>
          <p:cNvPr id="36" name="Shape 34"/>
          <p:cNvSpPr/>
          <p:nvPr/>
        </p:nvSpPr>
        <p:spPr>
          <a:xfrm>
            <a:off x="9522562" y="1344168"/>
            <a:ext cx="2062886" cy="3977640"/>
          </a:xfrm>
          <a:prstGeom prst="roundRect">
            <a:avLst>
              <a:gd name="adj" fmla="val 3546"/>
            </a:avLst>
          </a:prstGeom>
          <a:solidFill>
            <a:srgbClr val="0E1D2E"/>
          </a:solidFill>
          <a:ln w="15240">
            <a:solidFill>
              <a:srgbClr val="FFD166"/>
            </a:solidFill>
            <a:prstDash val="solid"/>
          </a:ln>
        </p:spPr>
      </p:sp>
      <p:sp>
        <p:nvSpPr>
          <p:cNvPr id="37" name="Shape 35"/>
          <p:cNvSpPr/>
          <p:nvPr/>
        </p:nvSpPr>
        <p:spPr>
          <a:xfrm>
            <a:off x="9723730" y="1563624"/>
            <a:ext cx="475488" cy="475488"/>
          </a:xfrm>
          <a:prstGeom prst="ellipse">
            <a:avLst/>
          </a:prstGeom>
          <a:solidFill>
            <a:srgbClr val="FFD166"/>
          </a:solidFill>
          <a:ln w="12700">
            <a:solidFill>
              <a:srgbClr val="FFD166">
                <a:alpha val="0"/>
              </a:srgbClr>
            </a:solidFill>
            <a:prstDash val="solid"/>
          </a:ln>
        </p:spPr>
      </p:sp>
      <p:sp>
        <p:nvSpPr>
          <p:cNvPr id="38" name="Text 36"/>
          <p:cNvSpPr txBox="1"/>
          <p:nvPr/>
        </p:nvSpPr>
        <p:spPr>
          <a:xfrm>
            <a:off x="9723730" y="1682496"/>
            <a:ext cx="475488" cy="155448"/>
          </a:xfrm>
          <a:prstGeom prst="rect">
            <a:avLst/>
          </a:prstGeom>
          <a:noFill/>
          <a:ln/>
        </p:spPr>
        <p:txBody>
          <a:bodyPr wrap="square" lIns="0" tIns="0" rIns="0" bIns="0" rtlCol="0" anchor="t">
            <a:normAutofit/>
          </a:bodyPr>
          <a:lstStyle/>
          <a:p>
            <a:pPr algn="ctr" indent="0" marL="0">
              <a:buNone/>
            </a:pPr>
            <a:r>
              <a:rPr lang="en-US" sz="950" b="1" dirty="0">
                <a:solidFill>
                  <a:srgbClr val="07111F"/>
                </a:solidFill>
                <a:latin typeface="Aptos" pitchFamily="34" charset="0"/>
                <a:ea typeface="Aptos" pitchFamily="34" charset="-122"/>
                <a:cs typeface="Aptos" pitchFamily="34" charset="-120"/>
              </a:rPr>
              <a:t>05</a:t>
            </a:r>
            <a:endParaRPr lang="en-US" sz="950" dirty="0"/>
          </a:p>
        </p:txBody>
      </p:sp>
      <p:sp>
        <p:nvSpPr>
          <p:cNvPr id="39" name="Text 37"/>
          <p:cNvSpPr txBox="1"/>
          <p:nvPr/>
        </p:nvSpPr>
        <p:spPr>
          <a:xfrm>
            <a:off x="9723730" y="2286000"/>
            <a:ext cx="1660550" cy="502920"/>
          </a:xfrm>
          <a:prstGeom prst="rect">
            <a:avLst/>
          </a:prstGeom>
          <a:noFill/>
          <a:ln/>
        </p:spPr>
        <p:txBody>
          <a:bodyPr wrap="square" lIns="0" tIns="0" rIns="0" bIns="0" rtlCol="0" anchor="t">
            <a:normAutofit/>
          </a:bodyPr>
          <a:lstStyle/>
          <a:p>
            <a:pPr algn="ctr" indent="0" marL="0">
              <a:buNone/>
            </a:pPr>
            <a:r>
              <a:rPr lang="en-US" sz="1500" b="1" dirty="0">
                <a:solidFill>
                  <a:srgbClr val="FFD166"/>
                </a:solidFill>
                <a:latin typeface="Microsoft JhengHei" pitchFamily="34" charset="0"/>
                <a:ea typeface="Microsoft JhengHei" pitchFamily="34" charset="-122"/>
                <a:cs typeface="Microsoft JhengHei" pitchFamily="34" charset="-120"/>
              </a:rPr>
              <a:t>場域外部驗證</a:t>
            </a:r>
            <a:endParaRPr lang="en-US" sz="1500" dirty="0"/>
          </a:p>
        </p:txBody>
      </p:sp>
      <p:sp>
        <p:nvSpPr>
          <p:cNvPr id="40" name="Shape 38"/>
          <p:cNvSpPr/>
          <p:nvPr/>
        </p:nvSpPr>
        <p:spPr>
          <a:xfrm>
            <a:off x="9778594" y="2962656"/>
            <a:ext cx="1550822" cy="0"/>
          </a:xfrm>
          <a:prstGeom prst="line">
            <a:avLst/>
          </a:prstGeom>
          <a:noFill/>
          <a:ln w="12700">
            <a:solidFill>
              <a:srgbClr val="1E3A52"/>
            </a:solidFill>
            <a:prstDash val="solid"/>
          </a:ln>
        </p:spPr>
      </p:sp>
      <p:sp>
        <p:nvSpPr>
          <p:cNvPr id="41" name="Text 39"/>
          <p:cNvSpPr txBox="1"/>
          <p:nvPr/>
        </p:nvSpPr>
        <p:spPr>
          <a:xfrm>
            <a:off x="9742018" y="3227832"/>
            <a:ext cx="1623974" cy="1417320"/>
          </a:xfrm>
          <a:prstGeom prst="rect">
            <a:avLst/>
          </a:prstGeom>
          <a:noFill/>
          <a:ln/>
        </p:spPr>
        <p:txBody>
          <a:bodyPr wrap="square" lIns="0" tIns="0" rIns="0" bIns="0" rtlCol="0" anchor="t">
            <a:normAutofit/>
          </a:bodyPr>
          <a:lstStyle/>
          <a:p>
            <a:pPr algn="l" indent="0" marL="0">
              <a:buNone/>
            </a:pPr>
            <a:r>
              <a:rPr lang="en-US" sz="1020" dirty="0">
                <a:solidFill>
                  <a:srgbClr val="D8E2EC"/>
                </a:solidFill>
                <a:latin typeface="Microsoft JhengHei" pitchFamily="34" charset="0"/>
                <a:ea typeface="Microsoft JhengHei" pitchFamily="34" charset="-122"/>
                <a:cs typeface="Microsoft JhengHei" pitchFamily="34" charset="-120"/>
              </a:rPr>
              <a:t>不同性別、年齡、運動；賽前／24 h／48 h；用獨立隊伍與盲化演算法驗證。</a:t>
            </a:r>
            <a:endParaRPr lang="en-US" sz="1020" dirty="0"/>
          </a:p>
        </p:txBody>
      </p:sp>
      <p:sp>
        <p:nvSpPr>
          <p:cNvPr id="42" name="Shape 40"/>
          <p:cNvSpPr/>
          <p:nvPr/>
        </p:nvSpPr>
        <p:spPr>
          <a:xfrm>
            <a:off x="960120" y="5596128"/>
            <a:ext cx="10250424" cy="603504"/>
          </a:xfrm>
          <a:prstGeom prst="roundRect">
            <a:avLst>
              <a:gd name="adj" fmla="val 12121"/>
            </a:avLst>
          </a:prstGeom>
          <a:solidFill>
            <a:srgbClr val="102235"/>
          </a:solidFill>
          <a:ln w="12700">
            <a:solidFill>
              <a:srgbClr val="20D4C7"/>
            </a:solidFill>
            <a:prstDash val="solid"/>
          </a:ln>
        </p:spPr>
      </p:sp>
      <p:sp>
        <p:nvSpPr>
          <p:cNvPr id="43" name="Text 41"/>
          <p:cNvSpPr/>
          <p:nvPr/>
        </p:nvSpPr>
        <p:spPr>
          <a:xfrm>
            <a:off x="1243584" y="5779008"/>
            <a:ext cx="9692640" cy="219456"/>
          </a:xfrm>
          <a:prstGeom prst="rect">
            <a:avLst/>
          </a:prstGeom>
          <a:noFill/>
          <a:ln/>
        </p:spPr>
        <p:txBody>
          <a:bodyPr wrap="square" lIns="0" tIns="0" rIns="0" bIns="0" rtlCol="0" anchor="t">
            <a:normAutofit/>
          </a:bodyPr>
          <a:lstStyle/>
          <a:p>
            <a:pPr algn="ctr" indent="0" marL="0">
              <a:buNone/>
            </a:pPr>
            <a:r>
              <a:rPr lang="en-US" sz="1180" b="1" dirty="0">
                <a:solidFill>
                  <a:srgbClr val="78EAE0"/>
                </a:solidFill>
                <a:latin typeface="Microsoft JhengHei" pitchFamily="34" charset="0"/>
                <a:ea typeface="Microsoft JhengHei" pitchFamily="34" charset="-122"/>
                <a:cs typeface="Microsoft JhengHei" pitchFamily="34" charset="-120"/>
              </a:rPr>
              <a:t>建議主要終點：</a:t>
            </a:r>
            <a:pPr algn="ctr" indent="0" marL="0">
              <a:buNone/>
            </a:pPr>
            <a:r>
              <a:rPr lang="en-US" sz="1180" b="1" dirty="0">
                <a:solidFill>
                  <a:srgbClr val="F5F7FA"/>
                </a:solidFill>
                <a:latin typeface="Microsoft JhengHei" pitchFamily="34" charset="0"/>
                <a:ea typeface="Microsoft JhengHei" pitchFamily="34" charset="-122"/>
                <a:cs typeface="Microsoft JhengHei" pitchFamily="34" charset="-120"/>
              </a:rPr>
              <a:t>固定負荷的反應提前時間／漸增負荷的 sLT 時間與功率位移。</a:t>
            </a:r>
            <a:pPr algn="ctr" indent="0" marL="0">
              <a:buNone/>
            </a:pPr>
            <a:r>
              <a:rPr lang="en-US" sz="1180" dirty="0">
                <a:solidFill>
                  <a:srgbClr val="FFC09B"/>
                </a:solidFill>
                <a:latin typeface="Microsoft JhengHei" pitchFamily="34" charset="0"/>
                <a:ea typeface="Microsoft JhengHei" pitchFamily="34" charset="-122"/>
                <a:cs typeface="Microsoft JhengHei" pitchFamily="34" charset="-120"/>
              </a:rPr>
              <a:t> 絕對濃度只作次要探索。</a:t>
            </a:r>
            <a:endParaRPr lang="en-US" sz="11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0D4C7"/>
          </a:solidFill>
          <a:ln w="12700">
            <a:solidFill>
              <a:srgbClr val="20D4C7">
                <a:alpha val="0"/>
              </a:srgbClr>
            </a:solidFill>
            <a:prstDash val="solid"/>
          </a:ln>
        </p:spPr>
      </p:sp>
      <p:sp>
        <p:nvSpPr>
          <p:cNvPr id="3" name="Shape 1"/>
          <p:cNvSpPr/>
          <p:nvPr/>
        </p:nvSpPr>
        <p:spPr>
          <a:xfrm>
            <a:off x="10561320" y="-658368"/>
            <a:ext cx="2194560" cy="2194560"/>
          </a:xfrm>
          <a:prstGeom prst="ellipse">
            <a:avLst/>
          </a:prstGeom>
          <a:solidFill>
            <a:srgbClr val="20D4C7">
              <a:alpha val="8000"/>
            </a:srgbClr>
          </a:solidFill>
          <a:ln w="12700">
            <a:solidFill>
              <a:srgbClr val="20D4C7">
                <a:alpha val="0"/>
              </a:srgbClr>
            </a:solidFill>
            <a:prstDash val="solid"/>
          </a:ln>
        </p:spPr>
      </p:sp>
      <p:sp>
        <p:nvSpPr>
          <p:cNvPr id="4" name="Shape 2"/>
          <p:cNvSpPr/>
          <p:nvPr/>
        </p:nvSpPr>
        <p:spPr>
          <a:xfrm>
            <a:off x="502920" y="841248"/>
            <a:ext cx="11155680" cy="0"/>
          </a:xfrm>
          <a:prstGeom prst="line">
            <a:avLst/>
          </a:prstGeom>
          <a:noFill/>
          <a:ln w="12700">
            <a:solidFill>
              <a:srgbClr val="1E3A52"/>
            </a:solidFill>
            <a:prstDash val="solid"/>
          </a:ln>
        </p:spPr>
      </p:sp>
      <p:sp>
        <p:nvSpPr>
          <p:cNvPr id="5" name="Text 3"/>
          <p:cNvSpPr/>
          <p:nvPr/>
        </p:nvSpPr>
        <p:spPr>
          <a:xfrm>
            <a:off x="566928" y="237744"/>
            <a:ext cx="2926080" cy="219456"/>
          </a:xfrm>
          <a:prstGeom prst="rect">
            <a:avLst/>
          </a:prstGeom>
          <a:noFill/>
          <a:ln/>
        </p:spPr>
        <p:txBody>
          <a:bodyPr wrap="square" lIns="0" tIns="0" rIns="0" bIns="0" rtlCol="0" anchor="ctr">
            <a:normAutofit/>
          </a:bodyPr>
          <a:lstStyle/>
          <a:p>
            <a:pPr indent="0" marL="0">
              <a:buNone/>
            </a:pPr>
            <a:r>
              <a:rPr lang="en-US" sz="850" b="1" spc="130" kern="0" dirty="0">
                <a:solidFill>
                  <a:srgbClr val="20D4C7"/>
                </a:solidFill>
                <a:latin typeface="Aptos" pitchFamily="34" charset="0"/>
                <a:ea typeface="Aptos" pitchFamily="34" charset="-122"/>
                <a:cs typeface="Aptos" pitchFamily="34" charset="-120"/>
              </a:rPr>
              <a:t>DECISION SUMMARY</a:t>
            </a:r>
            <a:endParaRPr lang="en-US" sz="850" dirty="0"/>
          </a:p>
        </p:txBody>
      </p:sp>
      <p:sp>
        <p:nvSpPr>
          <p:cNvPr id="6" name="Text 4"/>
          <p:cNvSpPr/>
          <p:nvPr/>
        </p:nvSpPr>
        <p:spPr>
          <a:xfrm>
            <a:off x="566928" y="420624"/>
            <a:ext cx="10881360" cy="365760"/>
          </a:xfrm>
          <a:prstGeom prst="rect">
            <a:avLst/>
          </a:prstGeom>
          <a:noFill/>
          <a:ln/>
        </p:spPr>
        <p:txBody>
          <a:bodyPr wrap="square" lIns="0" tIns="0" rIns="0" bIns="0" rtlCol="0" anchor="ctr">
            <a:normAutofit/>
          </a:bodyPr>
          <a:lstStyle/>
          <a:p>
            <a:pPr indent="0" marL="0">
              <a:buNone/>
            </a:pPr>
            <a:r>
              <a:rPr lang="en-US" sz="2300" b="1" dirty="0">
                <a:solidFill>
                  <a:srgbClr val="F5F7FA"/>
                </a:solidFill>
                <a:latin typeface="Microsoft JhengHei" pitchFamily="34" charset="0"/>
                <a:ea typeface="Microsoft JhengHei" pitchFamily="34" charset="-122"/>
                <a:cs typeface="Microsoft JhengHei" pitchFamily="34" charset="-120"/>
              </a:rPr>
              <a:t>最後帶走 5 件事</a:t>
            </a:r>
            <a:endParaRPr lang="en-US" sz="2300" dirty="0"/>
          </a:p>
        </p:txBody>
      </p:sp>
      <p:sp>
        <p:nvSpPr>
          <p:cNvPr id="7" name="Text 5"/>
          <p:cNvSpPr/>
          <p:nvPr/>
        </p:nvSpPr>
        <p:spPr>
          <a:xfrm>
            <a:off x="11109960" y="6519672"/>
            <a:ext cx="502920" cy="164592"/>
          </a:xfrm>
          <a:prstGeom prst="rect">
            <a:avLst/>
          </a:prstGeom>
          <a:noFill/>
          <a:ln/>
        </p:spPr>
        <p:txBody>
          <a:bodyPr wrap="square" lIns="0" tIns="0" rIns="0" bIns="0" rtlCol="0" anchor="ctr"/>
          <a:lstStyle/>
          <a:p>
            <a:pPr algn="r" indent="0" marL="0">
              <a:buNone/>
            </a:pPr>
            <a:r>
              <a:rPr lang="en-US" sz="850" b="1" dirty="0">
                <a:solidFill>
                  <a:srgbClr val="20D4C7"/>
                </a:solidFill>
                <a:latin typeface="Aptos" pitchFamily="34" charset="0"/>
                <a:ea typeface="Aptos" pitchFamily="34" charset="-122"/>
                <a:cs typeface="Aptos" pitchFamily="34" charset="-120"/>
              </a:rPr>
              <a:t>16</a:t>
            </a:r>
            <a:endParaRPr lang="en-US" sz="850" dirty="0"/>
          </a:p>
        </p:txBody>
      </p:sp>
      <p:sp>
        <p:nvSpPr>
          <p:cNvPr id="8" name="Shape 6"/>
          <p:cNvSpPr/>
          <p:nvPr/>
        </p:nvSpPr>
        <p:spPr>
          <a:xfrm>
            <a:off x="685800" y="1197864"/>
            <a:ext cx="10808208" cy="786384"/>
          </a:xfrm>
          <a:prstGeom prst="roundRect">
            <a:avLst>
              <a:gd name="adj" fmla="val 9302"/>
            </a:avLst>
          </a:prstGeom>
          <a:solidFill>
            <a:srgbClr val="0E1D2E"/>
          </a:solidFill>
          <a:ln w="12700">
            <a:solidFill>
              <a:srgbClr val="20D4C7"/>
            </a:solidFill>
            <a:prstDash val="solid"/>
          </a:ln>
        </p:spPr>
      </p:sp>
      <p:sp>
        <p:nvSpPr>
          <p:cNvPr id="9" name="Shape 7"/>
          <p:cNvSpPr/>
          <p:nvPr/>
        </p:nvSpPr>
        <p:spPr>
          <a:xfrm>
            <a:off x="859536" y="1344168"/>
            <a:ext cx="566928" cy="484632"/>
          </a:xfrm>
          <a:prstGeom prst="roundRect">
            <a:avLst/>
          </a:prstGeom>
          <a:solidFill>
            <a:srgbClr val="20D4C7"/>
          </a:solidFill>
          <a:ln w="12700">
            <a:solidFill>
              <a:srgbClr val="20D4C7">
                <a:alpha val="0"/>
              </a:srgbClr>
            </a:solidFill>
            <a:prstDash val="solid"/>
          </a:ln>
        </p:spPr>
      </p:sp>
      <p:sp>
        <p:nvSpPr>
          <p:cNvPr id="10" name="Text 8"/>
          <p:cNvSpPr txBox="1"/>
          <p:nvPr/>
        </p:nvSpPr>
        <p:spPr>
          <a:xfrm>
            <a:off x="859536" y="1481328"/>
            <a:ext cx="566928" cy="155448"/>
          </a:xfrm>
          <a:prstGeom prst="rect">
            <a:avLst/>
          </a:prstGeom>
          <a:noFill/>
          <a:ln/>
        </p:spPr>
        <p:txBody>
          <a:bodyPr wrap="square" lIns="0" tIns="0" rIns="0" bIns="0" rtlCol="0" anchor="t">
            <a:normAutofit/>
          </a:bodyPr>
          <a:lstStyle/>
          <a:p>
            <a:pPr algn="ctr" indent="0" marL="0">
              <a:buNone/>
            </a:pPr>
            <a:r>
              <a:rPr lang="en-US" sz="1000" b="1" dirty="0">
                <a:solidFill>
                  <a:srgbClr val="07111F"/>
                </a:solidFill>
                <a:latin typeface="Aptos" pitchFamily="34" charset="0"/>
                <a:ea typeface="Aptos" pitchFamily="34" charset="-122"/>
                <a:cs typeface="Aptos" pitchFamily="34" charset="-120"/>
              </a:rPr>
              <a:t>01</a:t>
            </a:r>
            <a:endParaRPr lang="en-US" sz="1000" dirty="0"/>
          </a:p>
        </p:txBody>
      </p:sp>
      <p:sp>
        <p:nvSpPr>
          <p:cNvPr id="11" name="Text 9"/>
          <p:cNvSpPr txBox="1"/>
          <p:nvPr/>
        </p:nvSpPr>
        <p:spPr>
          <a:xfrm>
            <a:off x="1700784" y="1362456"/>
            <a:ext cx="2743200" cy="246888"/>
          </a:xfrm>
          <a:prstGeom prst="rect">
            <a:avLst/>
          </a:prstGeom>
          <a:noFill/>
          <a:ln/>
        </p:spPr>
        <p:txBody>
          <a:bodyPr wrap="square" lIns="0" tIns="0" rIns="0" bIns="0" rtlCol="0" anchor="t">
            <a:normAutofit/>
          </a:bodyPr>
          <a:lstStyle/>
          <a:p>
            <a:pPr algn="l" indent="0" marL="0">
              <a:buNone/>
            </a:pPr>
            <a:r>
              <a:rPr lang="en-US" sz="1450" b="1" dirty="0">
                <a:solidFill>
                  <a:srgbClr val="20D4C7"/>
                </a:solidFill>
                <a:latin typeface="Microsoft JhengHei" pitchFamily="34" charset="0"/>
                <a:ea typeface="Microsoft JhengHei" pitchFamily="34" charset="-122"/>
                <a:cs typeface="Microsoft JhengHei" pitchFamily="34" charset="-120"/>
              </a:rPr>
              <a:t>看曲線位置，不看單點</a:t>
            </a:r>
            <a:endParaRPr lang="en-US" sz="1450" dirty="0"/>
          </a:p>
        </p:txBody>
      </p:sp>
      <p:sp>
        <p:nvSpPr>
          <p:cNvPr id="12" name="Text 10"/>
          <p:cNvSpPr txBox="1"/>
          <p:nvPr/>
        </p:nvSpPr>
        <p:spPr>
          <a:xfrm>
            <a:off x="4553712" y="1335024"/>
            <a:ext cx="6583680" cy="438912"/>
          </a:xfrm>
          <a:prstGeom prst="rect">
            <a:avLst/>
          </a:prstGeom>
          <a:noFill/>
          <a:ln/>
        </p:spPr>
        <p:txBody>
          <a:bodyPr wrap="square" lIns="0" tIns="0" rIns="0" bIns="0" rtlCol="0" anchor="ctr">
            <a:normAutofit/>
          </a:bodyPr>
          <a:lstStyle/>
          <a:p>
            <a:pPr algn="l" indent="0" marL="0">
              <a:buNone/>
            </a:pPr>
            <a:r>
              <a:rPr lang="en-US" sz="1050" dirty="0">
                <a:solidFill>
                  <a:srgbClr val="D8E2EC"/>
                </a:solidFill>
                <a:latin typeface="Microsoft JhengHei" pitchFamily="34" charset="0"/>
                <a:ea typeface="Microsoft JhengHei" pitchFamily="34" charset="-122"/>
                <a:cs typeface="Microsoft JhengHei" pitchFamily="34" charset="-120"/>
              </a:rPr>
              <a:t>兩篇共同訊息是「提早／較低負荷出現」，不是峰值越高就越疲勞。</a:t>
            </a:r>
            <a:endParaRPr lang="en-US" sz="1050" dirty="0"/>
          </a:p>
        </p:txBody>
      </p:sp>
      <p:sp>
        <p:nvSpPr>
          <p:cNvPr id="13" name="Shape 11"/>
          <p:cNvSpPr/>
          <p:nvPr/>
        </p:nvSpPr>
        <p:spPr>
          <a:xfrm>
            <a:off x="685800" y="2185416"/>
            <a:ext cx="10808208" cy="786384"/>
          </a:xfrm>
          <a:prstGeom prst="roundRect">
            <a:avLst>
              <a:gd name="adj" fmla="val 9302"/>
            </a:avLst>
          </a:prstGeom>
          <a:solidFill>
            <a:srgbClr val="12263A"/>
          </a:solidFill>
          <a:ln w="12700">
            <a:solidFill>
              <a:srgbClr val="6BB7FF"/>
            </a:solidFill>
            <a:prstDash val="solid"/>
          </a:ln>
        </p:spPr>
      </p:sp>
      <p:sp>
        <p:nvSpPr>
          <p:cNvPr id="14" name="Shape 12"/>
          <p:cNvSpPr/>
          <p:nvPr/>
        </p:nvSpPr>
        <p:spPr>
          <a:xfrm>
            <a:off x="859536" y="2331720"/>
            <a:ext cx="566928" cy="484632"/>
          </a:xfrm>
          <a:prstGeom prst="roundRect">
            <a:avLst/>
          </a:prstGeom>
          <a:solidFill>
            <a:srgbClr val="6BB7FF"/>
          </a:solidFill>
          <a:ln w="12700">
            <a:solidFill>
              <a:srgbClr val="6BB7FF">
                <a:alpha val="0"/>
              </a:srgbClr>
            </a:solidFill>
            <a:prstDash val="solid"/>
          </a:ln>
        </p:spPr>
      </p:sp>
      <p:sp>
        <p:nvSpPr>
          <p:cNvPr id="15" name="Text 13"/>
          <p:cNvSpPr txBox="1"/>
          <p:nvPr/>
        </p:nvSpPr>
        <p:spPr>
          <a:xfrm>
            <a:off x="859536" y="2468880"/>
            <a:ext cx="566928" cy="155448"/>
          </a:xfrm>
          <a:prstGeom prst="rect">
            <a:avLst/>
          </a:prstGeom>
          <a:noFill/>
          <a:ln/>
        </p:spPr>
        <p:txBody>
          <a:bodyPr wrap="square" lIns="0" tIns="0" rIns="0" bIns="0" rtlCol="0" anchor="t">
            <a:normAutofit/>
          </a:bodyPr>
          <a:lstStyle/>
          <a:p>
            <a:pPr algn="ctr" indent="0" marL="0">
              <a:buNone/>
            </a:pPr>
            <a:r>
              <a:rPr lang="en-US" sz="1000" b="1" dirty="0">
                <a:solidFill>
                  <a:srgbClr val="07111F"/>
                </a:solidFill>
                <a:latin typeface="Aptos" pitchFamily="34" charset="0"/>
                <a:ea typeface="Aptos" pitchFamily="34" charset="-122"/>
                <a:cs typeface="Aptos" pitchFamily="34" charset="-120"/>
              </a:rPr>
              <a:t>02</a:t>
            </a:r>
            <a:endParaRPr lang="en-US" sz="1000" dirty="0"/>
          </a:p>
        </p:txBody>
      </p:sp>
      <p:sp>
        <p:nvSpPr>
          <p:cNvPr id="16" name="Text 14"/>
          <p:cNvSpPr txBox="1"/>
          <p:nvPr/>
        </p:nvSpPr>
        <p:spPr>
          <a:xfrm>
            <a:off x="1700784" y="2350008"/>
            <a:ext cx="2743200" cy="246888"/>
          </a:xfrm>
          <a:prstGeom prst="rect">
            <a:avLst/>
          </a:prstGeom>
          <a:noFill/>
          <a:ln/>
        </p:spPr>
        <p:txBody>
          <a:bodyPr wrap="square" lIns="0" tIns="0" rIns="0" bIns="0" rtlCol="0" anchor="t">
            <a:normAutofit/>
          </a:bodyPr>
          <a:lstStyle/>
          <a:p>
            <a:pPr algn="l" indent="0" marL="0">
              <a:buNone/>
            </a:pPr>
            <a:r>
              <a:rPr lang="en-US" sz="1450" b="1" dirty="0">
                <a:solidFill>
                  <a:srgbClr val="6BB7FF"/>
                </a:solidFill>
                <a:latin typeface="Microsoft JhengHei" pitchFamily="34" charset="0"/>
                <a:ea typeface="Microsoft JhengHei" pitchFamily="34" charset="-122"/>
                <a:cs typeface="Microsoft JhengHei" pitchFamily="34" charset="-120"/>
              </a:rPr>
              <a:t>只能同人、同條件比較</a:t>
            </a:r>
            <a:endParaRPr lang="en-US" sz="1450" dirty="0"/>
          </a:p>
        </p:txBody>
      </p:sp>
      <p:sp>
        <p:nvSpPr>
          <p:cNvPr id="17" name="Text 15"/>
          <p:cNvSpPr txBox="1"/>
          <p:nvPr/>
        </p:nvSpPr>
        <p:spPr>
          <a:xfrm>
            <a:off x="4553712" y="2322576"/>
            <a:ext cx="6583680" cy="438912"/>
          </a:xfrm>
          <a:prstGeom prst="rect">
            <a:avLst/>
          </a:prstGeom>
          <a:noFill/>
          <a:ln/>
        </p:spPr>
        <p:txBody>
          <a:bodyPr wrap="square" lIns="0" tIns="0" rIns="0" bIns="0" rtlCol="0" anchor="ctr">
            <a:normAutofit/>
          </a:bodyPr>
          <a:lstStyle/>
          <a:p>
            <a:pPr algn="l" indent="0" marL="0">
              <a:buNone/>
            </a:pPr>
            <a:r>
              <a:rPr lang="en-US" sz="1050" dirty="0">
                <a:solidFill>
                  <a:srgbClr val="D8E2EC"/>
                </a:solidFill>
                <a:latin typeface="Microsoft JhengHei" pitchFamily="34" charset="0"/>
                <a:ea typeface="Microsoft JhengHei" pitchFamily="34" charset="-122"/>
                <a:cs typeface="Microsoft JhengHei" pitchFamily="34" charset="-120"/>
              </a:rPr>
              <a:t>自由訓練條件不同時，先呈現代謝負荷；標準化測試才談疲勞趨勢。</a:t>
            </a:r>
            <a:endParaRPr lang="en-US" sz="1050" dirty="0"/>
          </a:p>
        </p:txBody>
      </p:sp>
      <p:sp>
        <p:nvSpPr>
          <p:cNvPr id="18" name="Shape 16"/>
          <p:cNvSpPr/>
          <p:nvPr/>
        </p:nvSpPr>
        <p:spPr>
          <a:xfrm>
            <a:off x="685800" y="3172968"/>
            <a:ext cx="10808208" cy="786384"/>
          </a:xfrm>
          <a:prstGeom prst="roundRect">
            <a:avLst>
              <a:gd name="adj" fmla="val 9302"/>
            </a:avLst>
          </a:prstGeom>
          <a:solidFill>
            <a:srgbClr val="0E1D2E"/>
          </a:solidFill>
          <a:ln w="12700">
            <a:solidFill>
              <a:srgbClr val="FF9B5E"/>
            </a:solidFill>
            <a:prstDash val="solid"/>
          </a:ln>
        </p:spPr>
      </p:sp>
      <p:sp>
        <p:nvSpPr>
          <p:cNvPr id="19" name="Shape 17"/>
          <p:cNvSpPr/>
          <p:nvPr/>
        </p:nvSpPr>
        <p:spPr>
          <a:xfrm>
            <a:off x="859536" y="3319272"/>
            <a:ext cx="566928" cy="484632"/>
          </a:xfrm>
          <a:prstGeom prst="roundRect">
            <a:avLst/>
          </a:prstGeom>
          <a:solidFill>
            <a:srgbClr val="FF9B5E"/>
          </a:solidFill>
          <a:ln w="12700">
            <a:solidFill>
              <a:srgbClr val="FF9B5E">
                <a:alpha val="0"/>
              </a:srgbClr>
            </a:solidFill>
            <a:prstDash val="solid"/>
          </a:ln>
        </p:spPr>
      </p:sp>
      <p:sp>
        <p:nvSpPr>
          <p:cNvPr id="20" name="Text 18"/>
          <p:cNvSpPr txBox="1"/>
          <p:nvPr/>
        </p:nvSpPr>
        <p:spPr>
          <a:xfrm>
            <a:off x="859536" y="3456432"/>
            <a:ext cx="566928" cy="155448"/>
          </a:xfrm>
          <a:prstGeom prst="rect">
            <a:avLst/>
          </a:prstGeom>
          <a:noFill/>
          <a:ln/>
        </p:spPr>
        <p:txBody>
          <a:bodyPr wrap="square" lIns="0" tIns="0" rIns="0" bIns="0" rtlCol="0" anchor="t">
            <a:normAutofit/>
          </a:bodyPr>
          <a:lstStyle/>
          <a:p>
            <a:pPr algn="ctr" indent="0" marL="0">
              <a:buNone/>
            </a:pPr>
            <a:r>
              <a:rPr lang="en-US" sz="1000" b="1" dirty="0">
                <a:solidFill>
                  <a:srgbClr val="07111F"/>
                </a:solidFill>
                <a:latin typeface="Aptos" pitchFamily="34" charset="0"/>
                <a:ea typeface="Aptos" pitchFamily="34" charset="-122"/>
                <a:cs typeface="Aptos" pitchFamily="34" charset="-120"/>
              </a:rPr>
              <a:t>03</a:t>
            </a:r>
            <a:endParaRPr lang="en-US" sz="1000" dirty="0"/>
          </a:p>
        </p:txBody>
      </p:sp>
      <p:sp>
        <p:nvSpPr>
          <p:cNvPr id="21" name="Text 19"/>
          <p:cNvSpPr txBox="1"/>
          <p:nvPr/>
        </p:nvSpPr>
        <p:spPr>
          <a:xfrm>
            <a:off x="1700784" y="3337560"/>
            <a:ext cx="2743200" cy="246888"/>
          </a:xfrm>
          <a:prstGeom prst="rect">
            <a:avLst/>
          </a:prstGeom>
          <a:noFill/>
          <a:ln/>
        </p:spPr>
        <p:txBody>
          <a:bodyPr wrap="square" lIns="0" tIns="0" rIns="0" bIns="0" rtlCol="0" anchor="t">
            <a:normAutofit/>
          </a:bodyPr>
          <a:lstStyle/>
          <a:p>
            <a:pPr algn="l" indent="0" marL="0">
              <a:buNone/>
            </a:pPr>
            <a:r>
              <a:rPr lang="en-US" sz="1450" b="1" dirty="0">
                <a:solidFill>
                  <a:srgbClr val="FF9B5E"/>
                </a:solidFill>
                <a:latin typeface="Microsoft JhengHei" pitchFamily="34" charset="0"/>
                <a:ea typeface="Microsoft JhengHei" pitchFamily="34" charset="-122"/>
                <a:cs typeface="Microsoft JhengHei" pitchFamily="34" charset="-120"/>
              </a:rPr>
              <a:t>研究 1 含汗率</a:t>
            </a:r>
            <a:endParaRPr lang="en-US" sz="1450" dirty="0"/>
          </a:p>
        </p:txBody>
      </p:sp>
      <p:sp>
        <p:nvSpPr>
          <p:cNvPr id="22" name="Text 20"/>
          <p:cNvSpPr txBox="1"/>
          <p:nvPr/>
        </p:nvSpPr>
        <p:spPr>
          <a:xfrm>
            <a:off x="4553712" y="3310128"/>
            <a:ext cx="6583680" cy="438912"/>
          </a:xfrm>
          <a:prstGeom prst="rect">
            <a:avLst/>
          </a:prstGeom>
          <a:noFill/>
          <a:ln/>
        </p:spPr>
        <p:txBody>
          <a:bodyPr wrap="square" lIns="0" tIns="0" rIns="0" bIns="0" rtlCol="0" anchor="ctr">
            <a:normAutofit/>
          </a:bodyPr>
          <a:lstStyle/>
          <a:p>
            <a:pPr algn="l" indent="0" marL="0">
              <a:buNone/>
            </a:pPr>
            <a:r>
              <a:rPr lang="en-US" sz="1050" dirty="0">
                <a:solidFill>
                  <a:srgbClr val="D8E2EC"/>
                </a:solidFill>
                <a:latin typeface="Microsoft JhengHei" pitchFamily="34" charset="0"/>
                <a:ea typeface="Microsoft JhengHei" pitchFamily="34" charset="-122"/>
                <a:cs typeface="Microsoft JhengHei" pitchFamily="34" charset="-120"/>
              </a:rPr>
              <a:t>只收濃度的 LA-01 不能聲稱完全複製左移研究的主要端點。</a:t>
            </a:r>
            <a:endParaRPr lang="en-US" sz="1050" dirty="0"/>
          </a:p>
        </p:txBody>
      </p:sp>
      <p:sp>
        <p:nvSpPr>
          <p:cNvPr id="23" name="Shape 21"/>
          <p:cNvSpPr/>
          <p:nvPr/>
        </p:nvSpPr>
        <p:spPr>
          <a:xfrm>
            <a:off x="685800" y="4160520"/>
            <a:ext cx="10808208" cy="786384"/>
          </a:xfrm>
          <a:prstGeom prst="roundRect">
            <a:avLst>
              <a:gd name="adj" fmla="val 9302"/>
            </a:avLst>
          </a:prstGeom>
          <a:solidFill>
            <a:srgbClr val="12263A"/>
          </a:solidFill>
          <a:ln w="12700">
            <a:solidFill>
              <a:srgbClr val="B7F06A"/>
            </a:solidFill>
            <a:prstDash val="solid"/>
          </a:ln>
        </p:spPr>
      </p:sp>
      <p:sp>
        <p:nvSpPr>
          <p:cNvPr id="24" name="Shape 22"/>
          <p:cNvSpPr/>
          <p:nvPr/>
        </p:nvSpPr>
        <p:spPr>
          <a:xfrm>
            <a:off x="859536" y="4306824"/>
            <a:ext cx="566928" cy="484632"/>
          </a:xfrm>
          <a:prstGeom prst="roundRect">
            <a:avLst/>
          </a:prstGeom>
          <a:solidFill>
            <a:srgbClr val="B7F06A"/>
          </a:solidFill>
          <a:ln w="12700">
            <a:solidFill>
              <a:srgbClr val="B7F06A">
                <a:alpha val="0"/>
              </a:srgbClr>
            </a:solidFill>
            <a:prstDash val="solid"/>
          </a:ln>
        </p:spPr>
      </p:sp>
      <p:sp>
        <p:nvSpPr>
          <p:cNvPr id="25" name="Text 23"/>
          <p:cNvSpPr txBox="1"/>
          <p:nvPr/>
        </p:nvSpPr>
        <p:spPr>
          <a:xfrm>
            <a:off x="859536" y="4443984"/>
            <a:ext cx="566928" cy="155448"/>
          </a:xfrm>
          <a:prstGeom prst="rect">
            <a:avLst/>
          </a:prstGeom>
          <a:noFill/>
          <a:ln/>
        </p:spPr>
        <p:txBody>
          <a:bodyPr wrap="square" lIns="0" tIns="0" rIns="0" bIns="0" rtlCol="0" anchor="t">
            <a:normAutofit/>
          </a:bodyPr>
          <a:lstStyle/>
          <a:p>
            <a:pPr algn="ctr" indent="0" marL="0">
              <a:buNone/>
            </a:pPr>
            <a:r>
              <a:rPr lang="en-US" sz="1000" b="1" dirty="0">
                <a:solidFill>
                  <a:srgbClr val="07111F"/>
                </a:solidFill>
                <a:latin typeface="Aptos" pitchFamily="34" charset="0"/>
                <a:ea typeface="Aptos" pitchFamily="34" charset="-122"/>
                <a:cs typeface="Aptos" pitchFamily="34" charset="-120"/>
              </a:rPr>
              <a:t>04</a:t>
            </a:r>
            <a:endParaRPr lang="en-US" sz="1000" dirty="0"/>
          </a:p>
        </p:txBody>
      </p:sp>
      <p:sp>
        <p:nvSpPr>
          <p:cNvPr id="26" name="Text 24"/>
          <p:cNvSpPr txBox="1"/>
          <p:nvPr/>
        </p:nvSpPr>
        <p:spPr>
          <a:xfrm>
            <a:off x="1700784" y="4325112"/>
            <a:ext cx="2743200" cy="246888"/>
          </a:xfrm>
          <a:prstGeom prst="rect">
            <a:avLst/>
          </a:prstGeom>
          <a:noFill/>
          <a:ln/>
        </p:spPr>
        <p:txBody>
          <a:bodyPr wrap="square" lIns="0" tIns="0" rIns="0" bIns="0" rtlCol="0" anchor="t">
            <a:normAutofit/>
          </a:bodyPr>
          <a:lstStyle/>
          <a:p>
            <a:pPr algn="l" indent="0" marL="0">
              <a:buNone/>
            </a:pPr>
            <a:r>
              <a:rPr lang="en-US" sz="1450" b="1" dirty="0">
                <a:solidFill>
                  <a:srgbClr val="B7F06A"/>
                </a:solidFill>
                <a:latin typeface="Microsoft JhengHei" pitchFamily="34" charset="0"/>
                <a:ea typeface="Microsoft JhengHei" pitchFamily="34" charset="-122"/>
                <a:cs typeface="Microsoft JhengHei" pitchFamily="34" charset="-120"/>
              </a:rPr>
              <a:t>MDC 是誤差線，不是疲勞線</a:t>
            </a:r>
            <a:endParaRPr lang="en-US" sz="1450" dirty="0"/>
          </a:p>
        </p:txBody>
      </p:sp>
      <p:sp>
        <p:nvSpPr>
          <p:cNvPr id="27" name="Text 25"/>
          <p:cNvSpPr txBox="1"/>
          <p:nvPr/>
        </p:nvSpPr>
        <p:spPr>
          <a:xfrm>
            <a:off x="4553712" y="4297680"/>
            <a:ext cx="6583680" cy="438912"/>
          </a:xfrm>
          <a:prstGeom prst="rect">
            <a:avLst/>
          </a:prstGeom>
          <a:noFill/>
          <a:ln/>
        </p:spPr>
        <p:txBody>
          <a:bodyPr wrap="square" lIns="0" tIns="0" rIns="0" bIns="0" rtlCol="0" anchor="ctr">
            <a:normAutofit/>
          </a:bodyPr>
          <a:lstStyle/>
          <a:p>
            <a:pPr algn="l" indent="0" marL="0">
              <a:buNone/>
            </a:pPr>
            <a:r>
              <a:rPr lang="en-US" sz="1050" dirty="0">
                <a:solidFill>
                  <a:srgbClr val="D8E2EC"/>
                </a:solidFill>
                <a:latin typeface="Microsoft JhengHei" pitchFamily="34" charset="0"/>
                <a:ea typeface="Microsoft JhengHei" pitchFamily="34" charset="-122"/>
                <a:cs typeface="Microsoft JhengHei" pitchFamily="34" charset="-120"/>
              </a:rPr>
              <a:t>25 秒／10.5 W 只能描述該研究；產品需建立自己的個人基準與 MDC。</a:t>
            </a:r>
            <a:endParaRPr lang="en-US" sz="1050" dirty="0"/>
          </a:p>
        </p:txBody>
      </p:sp>
      <p:sp>
        <p:nvSpPr>
          <p:cNvPr id="28" name="Shape 26"/>
          <p:cNvSpPr/>
          <p:nvPr/>
        </p:nvSpPr>
        <p:spPr>
          <a:xfrm>
            <a:off x="685800" y="5148072"/>
            <a:ext cx="10808208" cy="786384"/>
          </a:xfrm>
          <a:prstGeom prst="roundRect">
            <a:avLst>
              <a:gd name="adj" fmla="val 9302"/>
            </a:avLst>
          </a:prstGeom>
          <a:solidFill>
            <a:srgbClr val="0E1D2E"/>
          </a:solidFill>
          <a:ln w="12700">
            <a:solidFill>
              <a:srgbClr val="FFD166"/>
            </a:solidFill>
            <a:prstDash val="solid"/>
          </a:ln>
        </p:spPr>
      </p:sp>
      <p:sp>
        <p:nvSpPr>
          <p:cNvPr id="29" name="Shape 27"/>
          <p:cNvSpPr/>
          <p:nvPr/>
        </p:nvSpPr>
        <p:spPr>
          <a:xfrm>
            <a:off x="859536" y="5294376"/>
            <a:ext cx="566928" cy="484632"/>
          </a:xfrm>
          <a:prstGeom prst="roundRect">
            <a:avLst/>
          </a:prstGeom>
          <a:solidFill>
            <a:srgbClr val="FFD166"/>
          </a:solidFill>
          <a:ln w="12700">
            <a:solidFill>
              <a:srgbClr val="FFD166">
                <a:alpha val="0"/>
              </a:srgbClr>
            </a:solidFill>
            <a:prstDash val="solid"/>
          </a:ln>
        </p:spPr>
      </p:sp>
      <p:sp>
        <p:nvSpPr>
          <p:cNvPr id="30" name="Text 28"/>
          <p:cNvSpPr txBox="1"/>
          <p:nvPr/>
        </p:nvSpPr>
        <p:spPr>
          <a:xfrm>
            <a:off x="859536" y="5431536"/>
            <a:ext cx="566928" cy="155448"/>
          </a:xfrm>
          <a:prstGeom prst="rect">
            <a:avLst/>
          </a:prstGeom>
          <a:noFill/>
          <a:ln/>
        </p:spPr>
        <p:txBody>
          <a:bodyPr wrap="square" lIns="0" tIns="0" rIns="0" bIns="0" rtlCol="0" anchor="t">
            <a:normAutofit/>
          </a:bodyPr>
          <a:lstStyle/>
          <a:p>
            <a:pPr algn="ctr" indent="0" marL="0">
              <a:buNone/>
            </a:pPr>
            <a:r>
              <a:rPr lang="en-US" sz="1000" b="1" dirty="0">
                <a:solidFill>
                  <a:srgbClr val="07111F"/>
                </a:solidFill>
                <a:latin typeface="Aptos" pitchFamily="34" charset="0"/>
                <a:ea typeface="Aptos" pitchFamily="34" charset="-122"/>
                <a:cs typeface="Aptos" pitchFamily="34" charset="-120"/>
              </a:rPr>
              <a:t>05</a:t>
            </a:r>
            <a:endParaRPr lang="en-US" sz="1000" dirty="0"/>
          </a:p>
        </p:txBody>
      </p:sp>
      <p:sp>
        <p:nvSpPr>
          <p:cNvPr id="31" name="Text 29"/>
          <p:cNvSpPr txBox="1"/>
          <p:nvPr/>
        </p:nvSpPr>
        <p:spPr>
          <a:xfrm>
            <a:off x="1700784" y="5312664"/>
            <a:ext cx="2743200" cy="246888"/>
          </a:xfrm>
          <a:prstGeom prst="rect">
            <a:avLst/>
          </a:prstGeom>
          <a:noFill/>
          <a:ln/>
        </p:spPr>
        <p:txBody>
          <a:bodyPr wrap="square" lIns="0" tIns="0" rIns="0" bIns="0" rtlCol="0" anchor="t">
            <a:normAutofit/>
          </a:bodyPr>
          <a:lstStyle/>
          <a:p>
            <a:pPr algn="l" indent="0" marL="0">
              <a:buNone/>
            </a:pPr>
            <a:r>
              <a:rPr lang="en-US" sz="1450" b="1" dirty="0">
                <a:solidFill>
                  <a:srgbClr val="FFD166"/>
                </a:solidFill>
                <a:latin typeface="Microsoft JhengHei" pitchFamily="34" charset="0"/>
                <a:ea typeface="Microsoft JhengHei" pitchFamily="34" charset="-122"/>
                <a:cs typeface="Microsoft JhengHei" pitchFamily="34" charset="-120"/>
              </a:rPr>
              <a:t>產品宣稱要保守</a:t>
            </a:r>
            <a:endParaRPr lang="en-US" sz="1450" dirty="0"/>
          </a:p>
        </p:txBody>
      </p:sp>
      <p:sp>
        <p:nvSpPr>
          <p:cNvPr id="32" name="Text 30"/>
          <p:cNvSpPr txBox="1"/>
          <p:nvPr/>
        </p:nvSpPr>
        <p:spPr>
          <a:xfrm>
            <a:off x="4553712" y="5285232"/>
            <a:ext cx="6583680" cy="438912"/>
          </a:xfrm>
          <a:prstGeom prst="rect">
            <a:avLst/>
          </a:prstGeom>
          <a:noFill/>
          <a:ln/>
        </p:spPr>
        <p:txBody>
          <a:bodyPr wrap="square" lIns="0" tIns="0" rIns="0" bIns="0" rtlCol="0" anchor="ctr">
            <a:normAutofit/>
          </a:bodyPr>
          <a:lstStyle/>
          <a:p>
            <a:pPr algn="l" indent="0" marL="0">
              <a:buNone/>
            </a:pPr>
            <a:r>
              <a:rPr lang="en-US" sz="1050" dirty="0">
                <a:solidFill>
                  <a:srgbClr val="D8E2EC"/>
                </a:solidFill>
                <a:latin typeface="Microsoft JhengHei" pitchFamily="34" charset="0"/>
                <a:ea typeface="Microsoft JhengHei" pitchFamily="34" charset="-122"/>
                <a:cs typeface="Microsoft JhengHei" pitchFamily="34" charset="-120"/>
              </a:rPr>
              <a:t>使用「急性代謝疲勞趨勢（實驗性）＋可信度＋原因」，不做完整疲勞診斷。</a:t>
            </a:r>
            <a:endParaRPr lang="en-US" sz="1050" dirty="0"/>
          </a:p>
        </p:txBody>
      </p:sp>
      <p:sp>
        <p:nvSpPr>
          <p:cNvPr id="33" name="Shape 31"/>
          <p:cNvSpPr/>
          <p:nvPr/>
        </p:nvSpPr>
        <p:spPr>
          <a:xfrm>
            <a:off x="2212848" y="6153912"/>
            <a:ext cx="7763256" cy="265176"/>
          </a:xfrm>
          <a:prstGeom prst="roundRect">
            <a:avLst>
              <a:gd name="adj" fmla="val 27586"/>
            </a:avLst>
          </a:prstGeom>
          <a:solidFill>
            <a:srgbClr val="20D4C7"/>
          </a:solidFill>
          <a:ln w="12700">
            <a:solidFill>
              <a:srgbClr val="20D4C7"/>
            </a:solidFill>
            <a:prstDash val="solid"/>
          </a:ln>
        </p:spPr>
      </p:sp>
      <p:sp>
        <p:nvSpPr>
          <p:cNvPr id="34" name="Text 32"/>
          <p:cNvSpPr txBox="1"/>
          <p:nvPr/>
        </p:nvSpPr>
        <p:spPr>
          <a:xfrm>
            <a:off x="2423160" y="6208776"/>
            <a:ext cx="7342632" cy="146304"/>
          </a:xfrm>
          <a:prstGeom prst="rect">
            <a:avLst/>
          </a:prstGeom>
          <a:noFill/>
          <a:ln/>
        </p:spPr>
        <p:txBody>
          <a:bodyPr wrap="square" lIns="0" tIns="0" rIns="0" bIns="0" rtlCol="0" anchor="t">
            <a:normAutofit/>
          </a:bodyPr>
          <a:lstStyle/>
          <a:p>
            <a:pPr algn="ctr" indent="0" marL="0">
              <a:buNone/>
            </a:pPr>
            <a:r>
              <a:rPr lang="en-US" sz="1060" b="1" dirty="0">
                <a:solidFill>
                  <a:srgbClr val="07111F"/>
                </a:solidFill>
                <a:latin typeface="Microsoft JhengHei" pitchFamily="34" charset="0"/>
                <a:ea typeface="Microsoft JhengHei" pitchFamily="34" charset="-122"/>
                <a:cs typeface="Microsoft JhengHei" pitchFamily="34" charset="-120"/>
              </a:rPr>
              <a:t>研究值得做成產品假設；還不值得做成無條件的疲勞診斷。</a:t>
            </a:r>
            <a:endParaRPr lang="en-US" sz="106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0D4C7"/>
          </a:solidFill>
          <a:ln w="12700">
            <a:solidFill>
              <a:srgbClr val="20D4C7">
                <a:alpha val="0"/>
              </a:srgbClr>
            </a:solidFill>
            <a:prstDash val="solid"/>
          </a:ln>
        </p:spPr>
      </p:sp>
      <p:sp>
        <p:nvSpPr>
          <p:cNvPr id="3" name="Shape 1"/>
          <p:cNvSpPr/>
          <p:nvPr/>
        </p:nvSpPr>
        <p:spPr>
          <a:xfrm>
            <a:off x="10561320" y="-658368"/>
            <a:ext cx="2194560" cy="2194560"/>
          </a:xfrm>
          <a:prstGeom prst="ellipse">
            <a:avLst/>
          </a:prstGeom>
          <a:solidFill>
            <a:srgbClr val="20D4C7">
              <a:alpha val="8000"/>
            </a:srgbClr>
          </a:solidFill>
          <a:ln w="12700">
            <a:solidFill>
              <a:srgbClr val="20D4C7">
                <a:alpha val="0"/>
              </a:srgbClr>
            </a:solidFill>
            <a:prstDash val="solid"/>
          </a:ln>
        </p:spPr>
      </p:sp>
      <p:sp>
        <p:nvSpPr>
          <p:cNvPr id="4" name="Shape 2"/>
          <p:cNvSpPr/>
          <p:nvPr/>
        </p:nvSpPr>
        <p:spPr>
          <a:xfrm>
            <a:off x="502920" y="841248"/>
            <a:ext cx="11155680" cy="0"/>
          </a:xfrm>
          <a:prstGeom prst="line">
            <a:avLst/>
          </a:prstGeom>
          <a:noFill/>
          <a:ln w="12700">
            <a:solidFill>
              <a:srgbClr val="1E3A52"/>
            </a:solidFill>
            <a:prstDash val="solid"/>
          </a:ln>
        </p:spPr>
      </p:sp>
      <p:sp>
        <p:nvSpPr>
          <p:cNvPr id="5" name="Text 3"/>
          <p:cNvSpPr/>
          <p:nvPr/>
        </p:nvSpPr>
        <p:spPr>
          <a:xfrm>
            <a:off x="566928" y="237744"/>
            <a:ext cx="2926080" cy="219456"/>
          </a:xfrm>
          <a:prstGeom prst="rect">
            <a:avLst/>
          </a:prstGeom>
          <a:noFill/>
          <a:ln/>
        </p:spPr>
        <p:txBody>
          <a:bodyPr wrap="square" lIns="0" tIns="0" rIns="0" bIns="0" rtlCol="0" anchor="ctr">
            <a:normAutofit/>
          </a:bodyPr>
          <a:lstStyle/>
          <a:p>
            <a:pPr indent="0" marL="0">
              <a:buNone/>
            </a:pPr>
            <a:r>
              <a:rPr lang="en-US" sz="850" b="1" spc="130" kern="0" dirty="0">
                <a:solidFill>
                  <a:srgbClr val="20D4C7"/>
                </a:solidFill>
                <a:latin typeface="Aptos" pitchFamily="34" charset="0"/>
                <a:ea typeface="Aptos" pitchFamily="34" charset="-122"/>
                <a:cs typeface="Aptos" pitchFamily="34" charset="-120"/>
              </a:rPr>
              <a:t>ORIGINAL ABSTRACT 01</a:t>
            </a:r>
            <a:endParaRPr lang="en-US" sz="850" dirty="0"/>
          </a:p>
        </p:txBody>
      </p:sp>
      <p:sp>
        <p:nvSpPr>
          <p:cNvPr id="6" name="Text 4"/>
          <p:cNvSpPr/>
          <p:nvPr/>
        </p:nvSpPr>
        <p:spPr>
          <a:xfrm>
            <a:off x="566928" y="420624"/>
            <a:ext cx="10881360" cy="365760"/>
          </a:xfrm>
          <a:prstGeom prst="rect">
            <a:avLst/>
          </a:prstGeom>
          <a:noFill/>
          <a:ln/>
        </p:spPr>
        <p:txBody>
          <a:bodyPr wrap="square" lIns="0" tIns="0" rIns="0" bIns="0" rtlCol="0" anchor="ctr">
            <a:normAutofit/>
          </a:bodyPr>
          <a:lstStyle/>
          <a:p>
            <a:pPr indent="0" marL="0">
              <a:buNone/>
            </a:pPr>
            <a:r>
              <a:rPr lang="en-US" sz="2300" b="1" dirty="0">
                <a:solidFill>
                  <a:srgbClr val="F5F7FA"/>
                </a:solidFill>
                <a:latin typeface="Microsoft JhengHei" pitchFamily="34" charset="0"/>
                <a:ea typeface="Microsoft JhengHei" pitchFamily="34" charset="-122"/>
                <a:cs typeface="Microsoft JhengHei" pitchFamily="34" charset="-120"/>
              </a:rPr>
              <a:t>附錄｜研究 1 原文摘要（全文）</a:t>
            </a:r>
            <a:endParaRPr lang="en-US" sz="2300" dirty="0"/>
          </a:p>
        </p:txBody>
      </p:sp>
      <p:sp>
        <p:nvSpPr>
          <p:cNvPr id="7" name="Text 5"/>
          <p:cNvSpPr/>
          <p:nvPr/>
        </p:nvSpPr>
        <p:spPr>
          <a:xfrm>
            <a:off x="11109960" y="6519672"/>
            <a:ext cx="502920" cy="164592"/>
          </a:xfrm>
          <a:prstGeom prst="rect">
            <a:avLst/>
          </a:prstGeom>
          <a:noFill/>
          <a:ln/>
        </p:spPr>
        <p:txBody>
          <a:bodyPr wrap="square" lIns="0" tIns="0" rIns="0" bIns="0" rtlCol="0" anchor="ctr"/>
          <a:lstStyle/>
          <a:p>
            <a:pPr algn="r" indent="0" marL="0">
              <a:buNone/>
            </a:pPr>
            <a:r>
              <a:rPr lang="en-US" sz="850" b="1" dirty="0">
                <a:solidFill>
                  <a:srgbClr val="20D4C7"/>
                </a:solidFill>
                <a:latin typeface="Aptos" pitchFamily="34" charset="0"/>
                <a:ea typeface="Aptos" pitchFamily="34" charset="-122"/>
                <a:cs typeface="Aptos" pitchFamily="34" charset="-120"/>
              </a:rPr>
              <a:t>17</a:t>
            </a:r>
            <a:endParaRPr lang="en-US" sz="850" dirty="0"/>
          </a:p>
        </p:txBody>
      </p:sp>
      <p:sp>
        <p:nvSpPr>
          <p:cNvPr id="8" name="Text 6"/>
          <p:cNvSpPr/>
          <p:nvPr/>
        </p:nvSpPr>
        <p:spPr>
          <a:xfrm>
            <a:off x="566928" y="6492240"/>
            <a:ext cx="9966960" cy="182880"/>
          </a:xfrm>
          <a:prstGeom prst="rect">
            <a:avLst/>
          </a:prstGeom>
          <a:noFill/>
          <a:ln/>
        </p:spPr>
        <p:txBody>
          <a:bodyPr wrap="square" lIns="0" tIns="0" rIns="0" bIns="0" rtlCol="0" anchor="ctr">
            <a:normAutofit/>
          </a:bodyPr>
          <a:lstStyle/>
          <a:p>
            <a:pPr indent="0" marL="0">
              <a:buNone/>
            </a:pPr>
            <a:r>
              <a:rPr lang="en-US" sz="730" dirty="0">
                <a:solidFill>
                  <a:srgbClr val="93A4B6"/>
                </a:solidFill>
                <a:latin typeface="Microsoft JhengHei" pitchFamily="34" charset="0"/>
                <a:ea typeface="Microsoft JhengHei" pitchFamily="34" charset="-122"/>
                <a:cs typeface="Microsoft JhengHei" pitchFamily="34" charset="-120"/>
              </a:rPr>
              <a:t>Okawara H, et al. (2022) · CC BY 4.0 · DOI 10.14814/phy2.15169</a:t>
            </a:r>
            <a:endParaRPr lang="en-US" sz="730" dirty="0"/>
          </a:p>
        </p:txBody>
      </p:sp>
      <p:sp>
        <p:nvSpPr>
          <p:cNvPr id="9" name="Shape 7"/>
          <p:cNvSpPr/>
          <p:nvPr/>
        </p:nvSpPr>
        <p:spPr>
          <a:xfrm>
            <a:off x="8887968" y="228600"/>
            <a:ext cx="2194560" cy="310896"/>
          </a:xfrm>
          <a:prstGeom prst="roundRect">
            <a:avLst/>
          </a:prstGeom>
          <a:solidFill>
            <a:srgbClr val="20D4C7"/>
          </a:solidFill>
          <a:ln w="12700">
            <a:solidFill>
              <a:srgbClr val="20D4C7">
                <a:alpha val="0"/>
              </a:srgbClr>
            </a:solidFill>
            <a:prstDash val="solid"/>
          </a:ln>
        </p:spPr>
      </p:sp>
      <p:sp>
        <p:nvSpPr>
          <p:cNvPr id="10" name="Text 8"/>
          <p:cNvSpPr txBox="1"/>
          <p:nvPr/>
        </p:nvSpPr>
        <p:spPr>
          <a:xfrm>
            <a:off x="8961120" y="297180"/>
            <a:ext cx="2048256" cy="210312"/>
          </a:xfrm>
          <a:prstGeom prst="rect">
            <a:avLst/>
          </a:prstGeom>
          <a:noFill/>
          <a:ln/>
        </p:spPr>
        <p:txBody>
          <a:bodyPr wrap="square" lIns="0" tIns="0" rIns="0" bIns="0" rtlCol="0" anchor="ctr">
            <a:normAutofit/>
          </a:bodyPr>
          <a:lstStyle/>
          <a:p>
            <a:pPr algn="ctr" indent="0" marL="0">
              <a:buNone/>
            </a:pPr>
            <a:r>
              <a:rPr lang="en-US" sz="860" b="1" dirty="0">
                <a:solidFill>
                  <a:srgbClr val="07111F"/>
                </a:solidFill>
                <a:latin typeface="Aptos" pitchFamily="34" charset="0"/>
                <a:ea typeface="Aptos" pitchFamily="34" charset="-122"/>
                <a:cs typeface="Aptos" pitchFamily="34" charset="-120"/>
              </a:rPr>
              <a:t>OPEN ACCESS · CC BY 4.0</a:t>
            </a:r>
            <a:endParaRPr lang="en-US" sz="860" dirty="0"/>
          </a:p>
        </p:txBody>
      </p:sp>
      <p:sp>
        <p:nvSpPr>
          <p:cNvPr id="11" name="Text 9"/>
          <p:cNvSpPr txBox="1"/>
          <p:nvPr/>
        </p:nvSpPr>
        <p:spPr>
          <a:xfrm>
            <a:off x="676656" y="1097280"/>
            <a:ext cx="10835640" cy="429768"/>
          </a:xfrm>
          <a:prstGeom prst="rect">
            <a:avLst/>
          </a:prstGeom>
          <a:noFill/>
          <a:ln/>
        </p:spPr>
        <p:txBody>
          <a:bodyPr wrap="square" lIns="0" tIns="0" rIns="0" bIns="0" rtlCol="0" anchor="t">
            <a:normAutofit/>
          </a:bodyPr>
          <a:lstStyle/>
          <a:p>
            <a:pPr algn="ctr" indent="0" marL="0">
              <a:buNone/>
            </a:pPr>
            <a:r>
              <a:rPr lang="en-US" sz="1680" b="1" dirty="0">
                <a:solidFill>
                  <a:srgbClr val="78EAE0"/>
                </a:solidFill>
                <a:latin typeface="Aptos" pitchFamily="34" charset="0"/>
                <a:ea typeface="Aptos" pitchFamily="34" charset="-122"/>
                <a:cs typeface="Aptos" pitchFamily="34" charset="-120"/>
              </a:rPr>
              <a:t>Kinetic changes in sweat lactate following fatigue during constant workload exercise</a:t>
            </a:r>
            <a:endParaRPr lang="en-US" sz="1680" dirty="0"/>
          </a:p>
        </p:txBody>
      </p:sp>
      <p:sp>
        <p:nvSpPr>
          <p:cNvPr id="12" name="Shape 10"/>
          <p:cNvSpPr/>
          <p:nvPr/>
        </p:nvSpPr>
        <p:spPr>
          <a:xfrm>
            <a:off x="676656" y="1709928"/>
            <a:ext cx="5340096" cy="4425696"/>
          </a:xfrm>
          <a:prstGeom prst="roundRect">
            <a:avLst>
              <a:gd name="adj" fmla="val 1653"/>
            </a:avLst>
          </a:prstGeom>
          <a:solidFill>
            <a:srgbClr val="0E1D2E"/>
          </a:solidFill>
          <a:ln w="12700">
            <a:solidFill>
              <a:srgbClr val="1E3A52"/>
            </a:solidFill>
            <a:prstDash val="solid"/>
          </a:ln>
        </p:spPr>
      </p:sp>
      <p:sp>
        <p:nvSpPr>
          <p:cNvPr id="13" name="Shape 11"/>
          <p:cNvSpPr/>
          <p:nvPr/>
        </p:nvSpPr>
        <p:spPr>
          <a:xfrm>
            <a:off x="6172200" y="1709928"/>
            <a:ext cx="5340096" cy="4425696"/>
          </a:xfrm>
          <a:prstGeom prst="roundRect">
            <a:avLst>
              <a:gd name="adj" fmla="val 1653"/>
            </a:avLst>
          </a:prstGeom>
          <a:solidFill>
            <a:srgbClr val="12263A"/>
          </a:solidFill>
          <a:ln w="12700">
            <a:solidFill>
              <a:srgbClr val="1E3A52"/>
            </a:solidFill>
            <a:prstDash val="solid"/>
          </a:ln>
        </p:spPr>
      </p:sp>
      <p:sp>
        <p:nvSpPr>
          <p:cNvPr id="14" name="Text 12"/>
          <p:cNvSpPr txBox="1"/>
          <p:nvPr/>
        </p:nvSpPr>
        <p:spPr>
          <a:xfrm>
            <a:off x="987552" y="2029968"/>
            <a:ext cx="4709160" cy="3685032"/>
          </a:xfrm>
          <a:prstGeom prst="rect">
            <a:avLst/>
          </a:prstGeom>
          <a:noFill/>
          <a:ln/>
        </p:spPr>
        <p:txBody>
          <a:bodyPr wrap="square" lIns="0" tIns="0" rIns="0" bIns="0" rtlCol="0" anchor="t">
            <a:normAutofit/>
          </a:bodyPr>
          <a:lstStyle/>
          <a:p>
            <a:pPr algn="l" indent="0" marL="0">
              <a:buNone/>
            </a:pPr>
            <a:r>
              <a:rPr lang="en-US" sz="1540" dirty="0">
                <a:solidFill>
                  <a:srgbClr val="D8E2EC"/>
                </a:solidFill>
                <a:latin typeface="Aptos" pitchFamily="34" charset="0"/>
                <a:ea typeface="Aptos" pitchFamily="34" charset="-122"/>
                <a:cs typeface="Aptos" pitchFamily="34" charset="-120"/>
              </a:rPr>
              <a:t>It is useful to investigate various physiological responses induced by fatigue in athletes. Moreover, wearable noninvasive sensors, including sweat sensors, are compatible with fatigue evaluation because of their ease of use, and ability to measure repeatedly and continual data. This cross-sectional study aimed to clarify how sweat lactate elimination curves obtained during constant workload exercise changed following fatigue. Seventeen recreationally trained males (average age, 20.6 ± 0.8 years) completed two consecutive constant workload exercise tests (at 25% peak power) with rest intervals; the participants were encouraged to perform Test 1 until exhaustion and Test 2 only for 10 min. Subjective fatigue (numerical rating scale with face rating scale), sweat lactate, and sweat rate were measured for 10 min in each test.</a:t>
            </a:r>
            <a:endParaRPr lang="en-US" sz="1540" dirty="0"/>
          </a:p>
        </p:txBody>
      </p:sp>
      <p:sp>
        <p:nvSpPr>
          <p:cNvPr id="15" name="Text 13"/>
          <p:cNvSpPr txBox="1"/>
          <p:nvPr/>
        </p:nvSpPr>
        <p:spPr>
          <a:xfrm>
            <a:off x="6483096" y="2029968"/>
            <a:ext cx="4709160" cy="3685032"/>
          </a:xfrm>
          <a:prstGeom prst="rect">
            <a:avLst/>
          </a:prstGeom>
          <a:noFill/>
          <a:ln/>
        </p:spPr>
        <p:txBody>
          <a:bodyPr wrap="square" lIns="0" tIns="0" rIns="0" bIns="0" rtlCol="0" anchor="t">
            <a:normAutofit/>
          </a:bodyPr>
          <a:lstStyle/>
          <a:p>
            <a:pPr algn="l" indent="0" marL="0">
              <a:buNone/>
            </a:pPr>
            <a:r>
              <a:rPr lang="en-US" sz="1540" dirty="0">
                <a:solidFill>
                  <a:srgbClr val="D8E2EC"/>
                </a:solidFill>
                <a:latin typeface="Aptos" pitchFamily="34" charset="0"/>
                <a:ea typeface="Aptos" pitchFamily="34" charset="-122"/>
                <a:cs typeface="Aptos" pitchFamily="34" charset="-120"/>
              </a:rPr>
              <a:t>Subjective fatigue was compared using the Wilcoxon signed-rank test and time to each constant value between Tests 1 and 2 was compared using paired t-test. Subjective fatigue significantly increased during Test 2 compared with that during Test 1. After Test 1, the sweat lactate elimination curve demonstrated a leftward shift, as proved by the significantly sooner observation of the peak and constant values of sweat lactate (2, 3, and 4 μA) (p &lt; 0.01). Our preliminary results suggest that the sweat lactate elimination curve is different in the fatigue state. Further research may provide insight in the application of this curve to the evaluation for fatigue.</a:t>
            </a:r>
            <a:endParaRPr lang="en-US" sz="1540" dirty="0"/>
          </a:p>
        </p:txBody>
      </p:sp>
      <p:sp>
        <p:nvSpPr>
          <p:cNvPr id="16" name="Text 14"/>
          <p:cNvSpPr txBox="1"/>
          <p:nvPr/>
        </p:nvSpPr>
        <p:spPr>
          <a:xfrm>
            <a:off x="4608576" y="6217920"/>
            <a:ext cx="2962656" cy="173736"/>
          </a:xfrm>
          <a:prstGeom prst="rect">
            <a:avLst/>
          </a:prstGeom>
          <a:noFill/>
          <a:ln/>
        </p:spPr>
        <p:txBody>
          <a:bodyPr wrap="square" lIns="0" tIns="0" rIns="0" bIns="0" rtlCol="0" anchor="t">
            <a:normAutofit/>
          </a:bodyPr>
          <a:lstStyle/>
          <a:p>
            <a:pPr algn="ctr" indent="0" marL="0">
              <a:buNone/>
            </a:pPr>
            <a:r>
              <a:rPr lang="en-US" sz="850" dirty="0">
                <a:solidFill>
                  <a:srgbClr val="93A4B6"/>
                </a:solidFill>
                <a:latin typeface="Microsoft JhengHei" pitchFamily="34" charset="0"/>
                <a:ea typeface="Microsoft JhengHei" pitchFamily="34" charset="-122"/>
                <a:cs typeface="Microsoft JhengHei" pitchFamily="34" charset="-120"/>
              </a:rPr>
              <a:t>原文照錄；僅分欄與排版。</a:t>
            </a:r>
            <a:endParaRPr lang="en-US" sz="850" dirty="0"/>
          </a:p>
        </p:txBody>
      </p:sp>
      <p:sp>
        <p:nvSpPr>
          <p:cNvPr id="17" name="Text 15"/>
          <p:cNvSpPr/>
          <p:nvPr/>
        </p:nvSpPr>
        <p:spPr>
          <a:xfrm>
            <a:off x="8869680" y="6190488"/>
            <a:ext cx="2487168" cy="201168"/>
          </a:xfrm>
          <a:prstGeom prst="rect">
            <a:avLst/>
          </a:prstGeom>
          <a:noFill/>
          <a:ln/>
        </p:spPr>
        <p:txBody>
          <a:bodyPr wrap="square" lIns="0" tIns="0" rIns="0" bIns="0" rtlCol="0" anchor="ctr">
            <a:normAutofit/>
          </a:bodyPr>
          <a:lstStyle/>
          <a:p>
            <a:pPr indent="0" marL="0">
              <a:buNone/>
            </a:pPr>
            <a:r>
              <a:rPr lang="en-US" sz="900" b="1" u="sng" dirty="0">
                <a:solidFill>
                  <a:srgbClr val="78EAE0"/>
                </a:solidFill>
                <a:uFill>
                  <a:solidFill>
                    <a:srgbClr val="78EAE0"/>
                  </a:solidFill>
                </a:u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FULL ARTICLE ↗</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0D4C7"/>
          </a:solidFill>
          <a:ln w="12700">
            <a:solidFill>
              <a:srgbClr val="20D4C7">
                <a:alpha val="0"/>
              </a:srgbClr>
            </a:solidFill>
            <a:prstDash val="solid"/>
          </a:ln>
        </p:spPr>
      </p:sp>
      <p:sp>
        <p:nvSpPr>
          <p:cNvPr id="3" name="Shape 1"/>
          <p:cNvSpPr/>
          <p:nvPr/>
        </p:nvSpPr>
        <p:spPr>
          <a:xfrm>
            <a:off x="10561320" y="-658368"/>
            <a:ext cx="2194560" cy="2194560"/>
          </a:xfrm>
          <a:prstGeom prst="ellipse">
            <a:avLst/>
          </a:prstGeom>
          <a:solidFill>
            <a:srgbClr val="20D4C7">
              <a:alpha val="8000"/>
            </a:srgbClr>
          </a:solidFill>
          <a:ln w="12700">
            <a:solidFill>
              <a:srgbClr val="20D4C7">
                <a:alpha val="0"/>
              </a:srgbClr>
            </a:solidFill>
            <a:prstDash val="solid"/>
          </a:ln>
        </p:spPr>
      </p:sp>
      <p:sp>
        <p:nvSpPr>
          <p:cNvPr id="4" name="Shape 2"/>
          <p:cNvSpPr/>
          <p:nvPr/>
        </p:nvSpPr>
        <p:spPr>
          <a:xfrm>
            <a:off x="502920" y="841248"/>
            <a:ext cx="11155680" cy="0"/>
          </a:xfrm>
          <a:prstGeom prst="line">
            <a:avLst/>
          </a:prstGeom>
          <a:noFill/>
          <a:ln w="12700">
            <a:solidFill>
              <a:srgbClr val="1E3A52"/>
            </a:solidFill>
            <a:prstDash val="solid"/>
          </a:ln>
        </p:spPr>
      </p:sp>
      <p:sp>
        <p:nvSpPr>
          <p:cNvPr id="5" name="Text 3"/>
          <p:cNvSpPr/>
          <p:nvPr/>
        </p:nvSpPr>
        <p:spPr>
          <a:xfrm>
            <a:off x="566928" y="237744"/>
            <a:ext cx="2926080" cy="219456"/>
          </a:xfrm>
          <a:prstGeom prst="rect">
            <a:avLst/>
          </a:prstGeom>
          <a:noFill/>
          <a:ln/>
        </p:spPr>
        <p:txBody>
          <a:bodyPr wrap="square" lIns="0" tIns="0" rIns="0" bIns="0" rtlCol="0" anchor="ctr">
            <a:normAutofit/>
          </a:bodyPr>
          <a:lstStyle/>
          <a:p>
            <a:pPr indent="0" marL="0">
              <a:buNone/>
            </a:pPr>
            <a:r>
              <a:rPr lang="en-US" sz="850" b="1" spc="130" kern="0" dirty="0">
                <a:solidFill>
                  <a:srgbClr val="20D4C7"/>
                </a:solidFill>
                <a:latin typeface="Aptos" pitchFamily="34" charset="0"/>
                <a:ea typeface="Aptos" pitchFamily="34" charset="-122"/>
                <a:cs typeface="Aptos" pitchFamily="34" charset="-120"/>
              </a:rPr>
              <a:t>ORIGINAL ABSTRACT 02</a:t>
            </a:r>
            <a:endParaRPr lang="en-US" sz="850" dirty="0"/>
          </a:p>
        </p:txBody>
      </p:sp>
      <p:sp>
        <p:nvSpPr>
          <p:cNvPr id="6" name="Text 4"/>
          <p:cNvSpPr/>
          <p:nvPr/>
        </p:nvSpPr>
        <p:spPr>
          <a:xfrm>
            <a:off x="566928" y="420624"/>
            <a:ext cx="10881360" cy="365760"/>
          </a:xfrm>
          <a:prstGeom prst="rect">
            <a:avLst/>
          </a:prstGeom>
          <a:noFill/>
          <a:ln/>
        </p:spPr>
        <p:txBody>
          <a:bodyPr wrap="square" lIns="0" tIns="0" rIns="0" bIns="0" rtlCol="0" anchor="ctr">
            <a:normAutofit/>
          </a:bodyPr>
          <a:lstStyle/>
          <a:p>
            <a:pPr indent="0" marL="0">
              <a:buNone/>
            </a:pPr>
            <a:r>
              <a:rPr lang="en-US" sz="2300" b="1" dirty="0">
                <a:solidFill>
                  <a:srgbClr val="F5F7FA"/>
                </a:solidFill>
                <a:latin typeface="Microsoft JhengHei" pitchFamily="34" charset="0"/>
                <a:ea typeface="Microsoft JhengHei" pitchFamily="34" charset="-122"/>
                <a:cs typeface="Microsoft JhengHei" pitchFamily="34" charset="-120"/>
              </a:rPr>
              <a:t>附錄｜研究 2 原文摘要（全文）</a:t>
            </a:r>
            <a:endParaRPr lang="en-US" sz="2300" dirty="0"/>
          </a:p>
        </p:txBody>
      </p:sp>
      <p:sp>
        <p:nvSpPr>
          <p:cNvPr id="7" name="Text 5"/>
          <p:cNvSpPr/>
          <p:nvPr/>
        </p:nvSpPr>
        <p:spPr>
          <a:xfrm>
            <a:off x="11109960" y="6519672"/>
            <a:ext cx="502920" cy="164592"/>
          </a:xfrm>
          <a:prstGeom prst="rect">
            <a:avLst/>
          </a:prstGeom>
          <a:noFill/>
          <a:ln/>
        </p:spPr>
        <p:txBody>
          <a:bodyPr wrap="square" lIns="0" tIns="0" rIns="0" bIns="0" rtlCol="0" anchor="ctr"/>
          <a:lstStyle/>
          <a:p>
            <a:pPr algn="r" indent="0" marL="0">
              <a:buNone/>
            </a:pPr>
            <a:r>
              <a:rPr lang="en-US" sz="850" b="1" dirty="0">
                <a:solidFill>
                  <a:srgbClr val="20D4C7"/>
                </a:solidFill>
                <a:latin typeface="Aptos" pitchFamily="34" charset="0"/>
                <a:ea typeface="Aptos" pitchFamily="34" charset="-122"/>
                <a:cs typeface="Aptos" pitchFamily="34" charset="-120"/>
              </a:rPr>
              <a:t>18</a:t>
            </a:r>
            <a:endParaRPr lang="en-US" sz="850" dirty="0"/>
          </a:p>
        </p:txBody>
      </p:sp>
      <p:sp>
        <p:nvSpPr>
          <p:cNvPr id="8" name="Text 6"/>
          <p:cNvSpPr/>
          <p:nvPr/>
        </p:nvSpPr>
        <p:spPr>
          <a:xfrm>
            <a:off x="566928" y="6492240"/>
            <a:ext cx="9966960" cy="182880"/>
          </a:xfrm>
          <a:prstGeom prst="rect">
            <a:avLst/>
          </a:prstGeom>
          <a:noFill/>
          <a:ln/>
        </p:spPr>
        <p:txBody>
          <a:bodyPr wrap="square" lIns="0" tIns="0" rIns="0" bIns="0" rtlCol="0" anchor="ctr">
            <a:normAutofit/>
          </a:bodyPr>
          <a:lstStyle/>
          <a:p>
            <a:pPr indent="0" marL="0">
              <a:buNone/>
            </a:pPr>
            <a:r>
              <a:rPr lang="en-US" sz="730" dirty="0">
                <a:solidFill>
                  <a:srgbClr val="93A4B6"/>
                </a:solidFill>
                <a:latin typeface="Microsoft JhengHei" pitchFamily="34" charset="0"/>
                <a:ea typeface="Microsoft JhengHei" pitchFamily="34" charset="-122"/>
                <a:cs typeface="Microsoft JhengHei" pitchFamily="34" charset="-120"/>
              </a:rPr>
              <a:t>Takemoto A, et al. · online 2025 / Vol 14(1), 2026 · CC BY 4.0 · DOI 10.1080/21641846.2025.2554557</a:t>
            </a:r>
            <a:endParaRPr lang="en-US" sz="730" dirty="0"/>
          </a:p>
        </p:txBody>
      </p:sp>
      <p:sp>
        <p:nvSpPr>
          <p:cNvPr id="9" name="Shape 7"/>
          <p:cNvSpPr/>
          <p:nvPr/>
        </p:nvSpPr>
        <p:spPr>
          <a:xfrm>
            <a:off x="8887968" y="228600"/>
            <a:ext cx="2194560" cy="310896"/>
          </a:xfrm>
          <a:prstGeom prst="roundRect">
            <a:avLst/>
          </a:prstGeom>
          <a:solidFill>
            <a:srgbClr val="20D4C7"/>
          </a:solidFill>
          <a:ln w="12700">
            <a:solidFill>
              <a:srgbClr val="20D4C7">
                <a:alpha val="0"/>
              </a:srgbClr>
            </a:solidFill>
            <a:prstDash val="solid"/>
          </a:ln>
        </p:spPr>
      </p:sp>
      <p:sp>
        <p:nvSpPr>
          <p:cNvPr id="10" name="Text 8"/>
          <p:cNvSpPr txBox="1"/>
          <p:nvPr/>
        </p:nvSpPr>
        <p:spPr>
          <a:xfrm>
            <a:off x="8961120" y="297180"/>
            <a:ext cx="2048256" cy="210312"/>
          </a:xfrm>
          <a:prstGeom prst="rect">
            <a:avLst/>
          </a:prstGeom>
          <a:noFill/>
          <a:ln/>
        </p:spPr>
        <p:txBody>
          <a:bodyPr wrap="square" lIns="0" tIns="0" rIns="0" bIns="0" rtlCol="0" anchor="ctr">
            <a:normAutofit/>
          </a:bodyPr>
          <a:lstStyle/>
          <a:p>
            <a:pPr algn="ctr" indent="0" marL="0">
              <a:buNone/>
            </a:pPr>
            <a:r>
              <a:rPr lang="en-US" sz="860" b="1" dirty="0">
                <a:solidFill>
                  <a:srgbClr val="07111F"/>
                </a:solidFill>
                <a:latin typeface="Aptos" pitchFamily="34" charset="0"/>
                <a:ea typeface="Aptos" pitchFamily="34" charset="-122"/>
                <a:cs typeface="Aptos" pitchFamily="34" charset="-120"/>
              </a:rPr>
              <a:t>OPEN ACCESS · CC BY 4.0</a:t>
            </a:r>
            <a:endParaRPr lang="en-US" sz="860" dirty="0"/>
          </a:p>
        </p:txBody>
      </p:sp>
      <p:sp>
        <p:nvSpPr>
          <p:cNvPr id="11" name="Text 9"/>
          <p:cNvSpPr txBox="1"/>
          <p:nvPr/>
        </p:nvSpPr>
        <p:spPr>
          <a:xfrm>
            <a:off x="676656" y="1051560"/>
            <a:ext cx="10835640" cy="411480"/>
          </a:xfrm>
          <a:prstGeom prst="rect">
            <a:avLst/>
          </a:prstGeom>
          <a:noFill/>
          <a:ln/>
        </p:spPr>
        <p:txBody>
          <a:bodyPr wrap="square" lIns="0" tIns="0" rIns="0" bIns="0" rtlCol="0" anchor="t">
            <a:normAutofit/>
          </a:bodyPr>
          <a:lstStyle/>
          <a:p>
            <a:pPr algn="ctr" indent="0" marL="0">
              <a:buNone/>
            </a:pPr>
            <a:r>
              <a:rPr lang="en-US" sz="1680" b="1" dirty="0">
                <a:solidFill>
                  <a:srgbClr val="78EAE0"/>
                </a:solidFill>
                <a:latin typeface="Aptos" pitchFamily="34" charset="0"/>
                <a:ea typeface="Aptos" pitchFamily="34" charset="-122"/>
                <a:cs typeface="Aptos" pitchFamily="34" charset="-120"/>
              </a:rPr>
              <a:t>A novel fatigue monitoring system using sweat lactate: a preliminary study</a:t>
            </a:r>
            <a:endParaRPr lang="en-US" sz="1680" dirty="0"/>
          </a:p>
        </p:txBody>
      </p:sp>
      <p:sp>
        <p:nvSpPr>
          <p:cNvPr id="12" name="Shape 10"/>
          <p:cNvSpPr/>
          <p:nvPr/>
        </p:nvSpPr>
        <p:spPr>
          <a:xfrm>
            <a:off x="676656" y="1645920"/>
            <a:ext cx="5504688" cy="4343400"/>
          </a:xfrm>
          <a:prstGeom prst="roundRect">
            <a:avLst>
              <a:gd name="adj" fmla="val 1684"/>
            </a:avLst>
          </a:prstGeom>
          <a:solidFill>
            <a:srgbClr val="0E1D2E"/>
          </a:solidFill>
          <a:ln w="12700">
            <a:solidFill>
              <a:srgbClr val="6BB7FF"/>
            </a:solidFill>
            <a:prstDash val="solid"/>
          </a:ln>
        </p:spPr>
      </p:sp>
      <p:sp>
        <p:nvSpPr>
          <p:cNvPr id="13" name="Text 11"/>
          <p:cNvSpPr txBox="1"/>
          <p:nvPr/>
        </p:nvSpPr>
        <p:spPr>
          <a:xfrm>
            <a:off x="896112" y="1819656"/>
            <a:ext cx="5065776" cy="219456"/>
          </a:xfrm>
          <a:prstGeom prst="rect">
            <a:avLst/>
          </a:prstGeom>
          <a:noFill/>
          <a:ln/>
        </p:spPr>
        <p:txBody>
          <a:bodyPr wrap="square" lIns="0" tIns="0" rIns="0" bIns="0" rtlCol="0" anchor="t">
            <a:normAutofit/>
          </a:bodyPr>
          <a:lstStyle/>
          <a:p>
            <a:pPr algn="l" indent="0" marL="0">
              <a:buNone/>
            </a:pPr>
            <a:r>
              <a:rPr lang="en-US" sz="930" b="1" spc="100" kern="0" dirty="0">
                <a:solidFill>
                  <a:srgbClr val="6BB7FF"/>
                </a:solidFill>
                <a:latin typeface="Aptos" pitchFamily="34" charset="0"/>
                <a:ea typeface="Aptos" pitchFamily="34" charset="-122"/>
                <a:cs typeface="Aptos" pitchFamily="34" charset="-120"/>
              </a:rPr>
              <a:t>METHODS</a:t>
            </a:r>
            <a:endParaRPr lang="en-US" sz="930" dirty="0"/>
          </a:p>
        </p:txBody>
      </p:sp>
      <p:sp>
        <p:nvSpPr>
          <p:cNvPr id="14" name="Text 12"/>
          <p:cNvSpPr txBox="1"/>
          <p:nvPr/>
        </p:nvSpPr>
        <p:spPr>
          <a:xfrm>
            <a:off x="896112" y="2157984"/>
            <a:ext cx="5065776" cy="3675888"/>
          </a:xfrm>
          <a:prstGeom prst="rect">
            <a:avLst/>
          </a:prstGeom>
          <a:noFill/>
          <a:ln/>
        </p:spPr>
        <p:txBody>
          <a:bodyPr wrap="square" lIns="0" tIns="0" rIns="0" bIns="0" rtlCol="0" anchor="t">
            <a:normAutofit/>
          </a:bodyPr>
          <a:lstStyle/>
          <a:p>
            <a:pPr algn="l" indent="0" marL="0">
              <a:buNone/>
            </a:pPr>
            <a:r>
              <a:rPr lang="en-US" sz="1320" dirty="0">
                <a:solidFill>
                  <a:srgbClr val="D8E2EC"/>
                </a:solidFill>
                <a:latin typeface="Aptos" pitchFamily="34" charset="0"/>
                <a:ea typeface="Aptos" pitchFamily="34" charset="-122"/>
                <a:cs typeface="Aptos" pitchFamily="34" charset="-120"/>
              </a:rPr>
              <a:t>Eighteen college soccer players (mean age: 21 years; range: 19–23 years) underwent incremental exercise tests conducted until 2 min after the putative ventilation threshold (VT) – determined in real-time. Each player performed two tests before and one 2 days after the soccer match, yielding a sweat lactate threshold (sLT) and VT in each test. The pre-match test-retest measurement was used to investigate the interclass correlation coefficients (ICCs) and minimal detectable change with 95% confidence (MDC95) for sLT and VT. The relationships between match demands and changes in sLT or VT from pre- to post-match were analyzed as a fatigue indicator.</a:t>
            </a:r>
            <a:endParaRPr lang="en-US" sz="1320" dirty="0"/>
          </a:p>
        </p:txBody>
      </p:sp>
      <p:sp>
        <p:nvSpPr>
          <p:cNvPr id="15" name="Shape 13"/>
          <p:cNvSpPr/>
          <p:nvPr/>
        </p:nvSpPr>
        <p:spPr>
          <a:xfrm>
            <a:off x="6364224" y="1645920"/>
            <a:ext cx="5148072" cy="1170432"/>
          </a:xfrm>
          <a:prstGeom prst="roundRect">
            <a:avLst>
              <a:gd name="adj" fmla="val 6250"/>
            </a:avLst>
          </a:prstGeom>
          <a:solidFill>
            <a:srgbClr val="12263A"/>
          </a:solidFill>
          <a:ln w="12700">
            <a:solidFill>
              <a:srgbClr val="20D4C7"/>
            </a:solidFill>
            <a:prstDash val="solid"/>
          </a:ln>
        </p:spPr>
      </p:sp>
      <p:sp>
        <p:nvSpPr>
          <p:cNvPr id="16" name="Text 14"/>
          <p:cNvSpPr txBox="1"/>
          <p:nvPr/>
        </p:nvSpPr>
        <p:spPr>
          <a:xfrm>
            <a:off x="6583680" y="1819656"/>
            <a:ext cx="4709160" cy="219456"/>
          </a:xfrm>
          <a:prstGeom prst="rect">
            <a:avLst/>
          </a:prstGeom>
          <a:noFill/>
          <a:ln/>
        </p:spPr>
        <p:txBody>
          <a:bodyPr wrap="square" lIns="0" tIns="0" rIns="0" bIns="0" rtlCol="0" anchor="t">
            <a:normAutofit/>
          </a:bodyPr>
          <a:lstStyle/>
          <a:p>
            <a:pPr algn="l" indent="0" marL="0">
              <a:buNone/>
            </a:pPr>
            <a:r>
              <a:rPr lang="en-US" sz="930" b="1" spc="100" kern="0" dirty="0">
                <a:solidFill>
                  <a:srgbClr val="20D4C7"/>
                </a:solidFill>
                <a:latin typeface="Aptos" pitchFamily="34" charset="0"/>
                <a:ea typeface="Aptos" pitchFamily="34" charset="-122"/>
                <a:cs typeface="Aptos" pitchFamily="34" charset="-120"/>
              </a:rPr>
              <a:t>OBJECTIVE</a:t>
            </a:r>
            <a:endParaRPr lang="en-US" sz="930" dirty="0"/>
          </a:p>
        </p:txBody>
      </p:sp>
      <p:sp>
        <p:nvSpPr>
          <p:cNvPr id="17" name="Text 15"/>
          <p:cNvSpPr txBox="1"/>
          <p:nvPr/>
        </p:nvSpPr>
        <p:spPr>
          <a:xfrm>
            <a:off x="6583680" y="2157984"/>
            <a:ext cx="4709160" cy="502920"/>
          </a:xfrm>
          <a:prstGeom prst="rect">
            <a:avLst/>
          </a:prstGeom>
          <a:noFill/>
          <a:ln/>
        </p:spPr>
        <p:txBody>
          <a:bodyPr wrap="square" lIns="0" tIns="0" rIns="0" bIns="0" rtlCol="0" anchor="t">
            <a:normAutofit/>
          </a:bodyPr>
          <a:lstStyle/>
          <a:p>
            <a:pPr algn="l" indent="0" marL="0">
              <a:buNone/>
            </a:pPr>
            <a:r>
              <a:rPr lang="en-US" sz="1380" dirty="0">
                <a:solidFill>
                  <a:srgbClr val="D8E2EC"/>
                </a:solidFill>
                <a:latin typeface="Aptos" pitchFamily="34" charset="0"/>
                <a:ea typeface="Aptos" pitchFamily="34" charset="-122"/>
                <a:cs typeface="Aptos" pitchFamily="34" charset="-120"/>
              </a:rPr>
              <a:t>To elucidate the feasibility of a novel fatigue-monitoring system in athletes using sweat lactate (sLA) sensors.</a:t>
            </a:r>
            <a:endParaRPr lang="en-US" sz="1380" dirty="0"/>
          </a:p>
        </p:txBody>
      </p:sp>
      <p:sp>
        <p:nvSpPr>
          <p:cNvPr id="18" name="Shape 16"/>
          <p:cNvSpPr/>
          <p:nvPr/>
        </p:nvSpPr>
        <p:spPr>
          <a:xfrm>
            <a:off x="6364224" y="2980944"/>
            <a:ext cx="5148072" cy="1911096"/>
          </a:xfrm>
          <a:prstGeom prst="roundRect">
            <a:avLst>
              <a:gd name="adj" fmla="val 3828"/>
            </a:avLst>
          </a:prstGeom>
          <a:solidFill>
            <a:srgbClr val="12263A"/>
          </a:solidFill>
          <a:ln w="12700">
            <a:solidFill>
              <a:srgbClr val="FF9B5E"/>
            </a:solidFill>
            <a:prstDash val="solid"/>
          </a:ln>
        </p:spPr>
      </p:sp>
      <p:sp>
        <p:nvSpPr>
          <p:cNvPr id="19" name="Text 17"/>
          <p:cNvSpPr txBox="1"/>
          <p:nvPr/>
        </p:nvSpPr>
        <p:spPr>
          <a:xfrm>
            <a:off x="6583680" y="3154680"/>
            <a:ext cx="4709160" cy="219456"/>
          </a:xfrm>
          <a:prstGeom prst="rect">
            <a:avLst/>
          </a:prstGeom>
          <a:noFill/>
          <a:ln/>
        </p:spPr>
        <p:txBody>
          <a:bodyPr wrap="square" lIns="0" tIns="0" rIns="0" bIns="0" rtlCol="0" anchor="t">
            <a:normAutofit/>
          </a:bodyPr>
          <a:lstStyle/>
          <a:p>
            <a:pPr algn="l" indent="0" marL="0">
              <a:buNone/>
            </a:pPr>
            <a:r>
              <a:rPr lang="en-US" sz="930" b="1" spc="100" kern="0" dirty="0">
                <a:solidFill>
                  <a:srgbClr val="FF9B5E"/>
                </a:solidFill>
                <a:latin typeface="Aptos" pitchFamily="34" charset="0"/>
                <a:ea typeface="Aptos" pitchFamily="34" charset="-122"/>
                <a:cs typeface="Aptos" pitchFamily="34" charset="-120"/>
              </a:rPr>
              <a:t>RESULTS</a:t>
            </a:r>
            <a:endParaRPr lang="en-US" sz="930" dirty="0"/>
          </a:p>
        </p:txBody>
      </p:sp>
      <p:sp>
        <p:nvSpPr>
          <p:cNvPr id="20" name="Text 18"/>
          <p:cNvSpPr txBox="1"/>
          <p:nvPr/>
        </p:nvSpPr>
        <p:spPr>
          <a:xfrm>
            <a:off x="6583680" y="3493008"/>
            <a:ext cx="4709160" cy="1243584"/>
          </a:xfrm>
          <a:prstGeom prst="rect">
            <a:avLst/>
          </a:prstGeom>
          <a:noFill/>
          <a:ln/>
        </p:spPr>
        <p:txBody>
          <a:bodyPr wrap="square" lIns="0" tIns="0" rIns="0" bIns="0" rtlCol="0" anchor="t">
            <a:normAutofit/>
          </a:bodyPr>
          <a:lstStyle/>
          <a:p>
            <a:pPr algn="l" indent="0" marL="0">
              <a:buNone/>
            </a:pPr>
            <a:r>
              <a:rPr lang="en-US" sz="1380" dirty="0">
                <a:solidFill>
                  <a:srgbClr val="D8E2EC"/>
                </a:solidFill>
                <a:latin typeface="Aptos" pitchFamily="34" charset="0"/>
                <a:ea typeface="Aptos" pitchFamily="34" charset="-122"/>
                <a:cs typeface="Aptos" pitchFamily="34" charset="-120"/>
              </a:rPr>
              <a:t>The ICCs with 95% confidence intervals for the VT and sLT were 0.719 (0.401–0.884) and 0.777 (0.506–0.910), respectively. sLT changes moderately correlated with high-speed distance (r = 0.64, p &lt; 0.05) and VT change (r = 0.77, p &lt; 0.05). sLT changes above each MDC95 also exhibited moderate correlation with high-speed distance (VT: r = 0.64, p = 0.01; sLT: r = 0.63, p = 0.02).</a:t>
            </a:r>
            <a:endParaRPr lang="en-US" sz="1380" dirty="0"/>
          </a:p>
        </p:txBody>
      </p:sp>
      <p:sp>
        <p:nvSpPr>
          <p:cNvPr id="21" name="Shape 19"/>
          <p:cNvSpPr/>
          <p:nvPr/>
        </p:nvSpPr>
        <p:spPr>
          <a:xfrm>
            <a:off x="6364224" y="5056632"/>
            <a:ext cx="5148072" cy="932688"/>
          </a:xfrm>
          <a:prstGeom prst="roundRect">
            <a:avLst>
              <a:gd name="adj" fmla="val 7843"/>
            </a:avLst>
          </a:prstGeom>
          <a:solidFill>
            <a:srgbClr val="12263A"/>
          </a:solidFill>
          <a:ln w="12700">
            <a:solidFill>
              <a:srgbClr val="B7F06A"/>
            </a:solidFill>
            <a:prstDash val="solid"/>
          </a:ln>
        </p:spPr>
      </p:sp>
      <p:sp>
        <p:nvSpPr>
          <p:cNvPr id="22" name="Text 20"/>
          <p:cNvSpPr txBox="1"/>
          <p:nvPr/>
        </p:nvSpPr>
        <p:spPr>
          <a:xfrm>
            <a:off x="6583680" y="5230368"/>
            <a:ext cx="4709160" cy="219456"/>
          </a:xfrm>
          <a:prstGeom prst="rect">
            <a:avLst/>
          </a:prstGeom>
          <a:noFill/>
          <a:ln/>
        </p:spPr>
        <p:txBody>
          <a:bodyPr wrap="square" lIns="0" tIns="0" rIns="0" bIns="0" rtlCol="0" anchor="t">
            <a:normAutofit/>
          </a:bodyPr>
          <a:lstStyle/>
          <a:p>
            <a:pPr algn="l" indent="0" marL="0">
              <a:buNone/>
            </a:pPr>
            <a:r>
              <a:rPr lang="en-US" sz="930" b="1" spc="100" kern="0" dirty="0">
                <a:solidFill>
                  <a:srgbClr val="B7F06A"/>
                </a:solidFill>
                <a:latin typeface="Aptos" pitchFamily="34" charset="0"/>
                <a:ea typeface="Aptos" pitchFamily="34" charset="-122"/>
                <a:cs typeface="Aptos" pitchFamily="34" charset="-120"/>
              </a:rPr>
              <a:t>CONCLUSIONS</a:t>
            </a:r>
            <a:endParaRPr lang="en-US" sz="930" dirty="0"/>
          </a:p>
        </p:txBody>
      </p:sp>
      <p:sp>
        <p:nvSpPr>
          <p:cNvPr id="23" name="Text 21"/>
          <p:cNvSpPr txBox="1"/>
          <p:nvPr/>
        </p:nvSpPr>
        <p:spPr>
          <a:xfrm>
            <a:off x="6583680" y="5568696"/>
            <a:ext cx="4709160" cy="265176"/>
          </a:xfrm>
          <a:prstGeom prst="rect">
            <a:avLst/>
          </a:prstGeom>
          <a:noFill/>
          <a:ln/>
        </p:spPr>
        <p:txBody>
          <a:bodyPr wrap="square" lIns="0" tIns="0" rIns="0" bIns="0" rtlCol="0" anchor="t">
            <a:normAutofit/>
          </a:bodyPr>
          <a:lstStyle/>
          <a:p>
            <a:pPr algn="l" indent="0" marL="0">
              <a:buNone/>
            </a:pPr>
            <a:r>
              <a:rPr lang="en-US" sz="1380" dirty="0">
                <a:solidFill>
                  <a:srgbClr val="D8E2EC"/>
                </a:solidFill>
                <a:latin typeface="Aptos" pitchFamily="34" charset="0"/>
                <a:ea typeface="Aptos" pitchFamily="34" charset="-122"/>
                <a:cs typeface="Aptos" pitchFamily="34" charset="-120"/>
              </a:rPr>
              <a:t>These findings demonstrate the capability of continuous sLT assessment for fatigue monitoring, expanding its potential applications in injury prevention and optimizing training strategies.</a:t>
            </a:r>
            <a:endParaRPr lang="en-US" sz="1380" dirty="0"/>
          </a:p>
        </p:txBody>
      </p:sp>
      <p:sp>
        <p:nvSpPr>
          <p:cNvPr id="24" name="Text 22"/>
          <p:cNvSpPr txBox="1"/>
          <p:nvPr/>
        </p:nvSpPr>
        <p:spPr>
          <a:xfrm>
            <a:off x="3282696" y="6172200"/>
            <a:ext cx="5532120" cy="173736"/>
          </a:xfrm>
          <a:prstGeom prst="rect">
            <a:avLst/>
          </a:prstGeom>
          <a:noFill/>
          <a:ln/>
        </p:spPr>
        <p:txBody>
          <a:bodyPr wrap="square" lIns="0" tIns="0" rIns="0" bIns="0" rtlCol="0" anchor="t">
            <a:normAutofit/>
          </a:bodyPr>
          <a:lstStyle/>
          <a:p>
            <a:pPr algn="ctr" indent="0" marL="0">
              <a:buNone/>
            </a:pPr>
            <a:r>
              <a:rPr lang="en-US" sz="830" dirty="0">
                <a:solidFill>
                  <a:srgbClr val="93A4B6"/>
                </a:solidFill>
                <a:latin typeface="Microsoft JhengHei" pitchFamily="34" charset="0"/>
                <a:ea typeface="Microsoft JhengHei" pitchFamily="34" charset="-122"/>
                <a:cs typeface="Microsoft JhengHei" pitchFamily="34" charset="-120"/>
              </a:rPr>
              <a:t>原文照錄；僅依 Objective / Methods / Results / Conclusions 分區排版。</a:t>
            </a:r>
            <a:endParaRPr lang="en-US" sz="830" dirty="0"/>
          </a:p>
        </p:txBody>
      </p:sp>
      <p:sp>
        <p:nvSpPr>
          <p:cNvPr id="25" name="Text 23"/>
          <p:cNvSpPr/>
          <p:nvPr/>
        </p:nvSpPr>
        <p:spPr>
          <a:xfrm>
            <a:off x="8887968" y="6153912"/>
            <a:ext cx="2468880" cy="201168"/>
          </a:xfrm>
          <a:prstGeom prst="rect">
            <a:avLst/>
          </a:prstGeom>
          <a:noFill/>
          <a:ln/>
        </p:spPr>
        <p:txBody>
          <a:bodyPr wrap="square" lIns="0" tIns="0" rIns="0" bIns="0" rtlCol="0" anchor="ctr">
            <a:normAutofit/>
          </a:bodyPr>
          <a:lstStyle/>
          <a:p>
            <a:pPr indent="0" marL="0">
              <a:buNone/>
            </a:pPr>
            <a:r>
              <a:rPr lang="en-US" sz="900" b="1" u="sng" dirty="0">
                <a:solidFill>
                  <a:srgbClr val="78EAE0"/>
                </a:solidFill>
                <a:uFill>
                  <a:solidFill>
                    <a:srgbClr val="78EAE0"/>
                  </a:solidFill>
                </a:u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FULL ARTICLE ↗</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0D4C7"/>
          </a:solidFill>
          <a:ln w="12700">
            <a:solidFill>
              <a:srgbClr val="20D4C7">
                <a:alpha val="0"/>
              </a:srgbClr>
            </a:solidFill>
            <a:prstDash val="solid"/>
          </a:ln>
        </p:spPr>
      </p:sp>
      <p:sp>
        <p:nvSpPr>
          <p:cNvPr id="3" name="Shape 1"/>
          <p:cNvSpPr/>
          <p:nvPr/>
        </p:nvSpPr>
        <p:spPr>
          <a:xfrm>
            <a:off x="10561320" y="-658368"/>
            <a:ext cx="2194560" cy="2194560"/>
          </a:xfrm>
          <a:prstGeom prst="ellipse">
            <a:avLst/>
          </a:prstGeom>
          <a:solidFill>
            <a:srgbClr val="20D4C7">
              <a:alpha val="8000"/>
            </a:srgbClr>
          </a:solidFill>
          <a:ln w="12700">
            <a:solidFill>
              <a:srgbClr val="20D4C7">
                <a:alpha val="0"/>
              </a:srgbClr>
            </a:solidFill>
            <a:prstDash val="solid"/>
          </a:ln>
        </p:spPr>
      </p:sp>
      <p:sp>
        <p:nvSpPr>
          <p:cNvPr id="4" name="Shape 2"/>
          <p:cNvSpPr/>
          <p:nvPr/>
        </p:nvSpPr>
        <p:spPr>
          <a:xfrm>
            <a:off x="502920" y="841248"/>
            <a:ext cx="11155680" cy="0"/>
          </a:xfrm>
          <a:prstGeom prst="line">
            <a:avLst/>
          </a:prstGeom>
          <a:noFill/>
          <a:ln w="12700">
            <a:solidFill>
              <a:srgbClr val="1E3A52"/>
            </a:solidFill>
            <a:prstDash val="solid"/>
          </a:ln>
        </p:spPr>
      </p:sp>
      <p:sp>
        <p:nvSpPr>
          <p:cNvPr id="5" name="Text 3"/>
          <p:cNvSpPr/>
          <p:nvPr/>
        </p:nvSpPr>
        <p:spPr>
          <a:xfrm>
            <a:off x="566928" y="237744"/>
            <a:ext cx="2926080" cy="219456"/>
          </a:xfrm>
          <a:prstGeom prst="rect">
            <a:avLst/>
          </a:prstGeom>
          <a:noFill/>
          <a:ln/>
        </p:spPr>
        <p:txBody>
          <a:bodyPr wrap="square" lIns="0" tIns="0" rIns="0" bIns="0" rtlCol="0" anchor="ctr">
            <a:normAutofit/>
          </a:bodyPr>
          <a:lstStyle/>
          <a:p>
            <a:pPr indent="0" marL="0">
              <a:buNone/>
            </a:pPr>
            <a:r>
              <a:rPr lang="en-US" sz="850" b="1" spc="130" kern="0" dirty="0">
                <a:solidFill>
                  <a:srgbClr val="20D4C7"/>
                </a:solidFill>
                <a:latin typeface="Aptos" pitchFamily="34" charset="0"/>
                <a:ea typeface="Aptos" pitchFamily="34" charset="-122"/>
                <a:cs typeface="Aptos" pitchFamily="34" charset="-120"/>
              </a:rPr>
              <a:t>REFERENCES &amp; NOTES</a:t>
            </a:r>
            <a:endParaRPr lang="en-US" sz="850" dirty="0"/>
          </a:p>
        </p:txBody>
      </p:sp>
      <p:sp>
        <p:nvSpPr>
          <p:cNvPr id="6" name="Text 4"/>
          <p:cNvSpPr/>
          <p:nvPr/>
        </p:nvSpPr>
        <p:spPr>
          <a:xfrm>
            <a:off x="566928" y="420624"/>
            <a:ext cx="10881360" cy="365760"/>
          </a:xfrm>
          <a:prstGeom prst="rect">
            <a:avLst/>
          </a:prstGeom>
          <a:noFill/>
          <a:ln/>
        </p:spPr>
        <p:txBody>
          <a:bodyPr wrap="square" lIns="0" tIns="0" rIns="0" bIns="0" rtlCol="0" anchor="ctr">
            <a:normAutofit/>
          </a:bodyPr>
          <a:lstStyle/>
          <a:p>
            <a:pPr indent="0" marL="0">
              <a:buNone/>
            </a:pPr>
            <a:r>
              <a:rPr lang="en-US" sz="2300" b="1" dirty="0">
                <a:solidFill>
                  <a:srgbClr val="F5F7FA"/>
                </a:solidFill>
                <a:latin typeface="Microsoft JhengHei" pitchFamily="34" charset="0"/>
                <a:ea typeface="Microsoft JhengHei" pitchFamily="34" charset="-122"/>
                <a:cs typeface="Microsoft JhengHei" pitchFamily="34" charset="-120"/>
              </a:rPr>
              <a:t>資料來源、授權與圖表註記</a:t>
            </a:r>
            <a:endParaRPr lang="en-US" sz="2300" dirty="0"/>
          </a:p>
        </p:txBody>
      </p:sp>
      <p:sp>
        <p:nvSpPr>
          <p:cNvPr id="7" name="Text 5"/>
          <p:cNvSpPr/>
          <p:nvPr/>
        </p:nvSpPr>
        <p:spPr>
          <a:xfrm>
            <a:off x="11109960" y="6519672"/>
            <a:ext cx="502920" cy="164592"/>
          </a:xfrm>
          <a:prstGeom prst="rect">
            <a:avLst/>
          </a:prstGeom>
          <a:noFill/>
          <a:ln/>
        </p:spPr>
        <p:txBody>
          <a:bodyPr wrap="square" lIns="0" tIns="0" rIns="0" bIns="0" rtlCol="0" anchor="ctr"/>
          <a:lstStyle/>
          <a:p>
            <a:pPr algn="r" indent="0" marL="0">
              <a:buNone/>
            </a:pPr>
            <a:r>
              <a:rPr lang="en-US" sz="850" b="1" dirty="0">
                <a:solidFill>
                  <a:srgbClr val="20D4C7"/>
                </a:solidFill>
                <a:latin typeface="Aptos" pitchFamily="34" charset="0"/>
                <a:ea typeface="Aptos" pitchFamily="34" charset="-122"/>
                <a:cs typeface="Aptos" pitchFamily="34" charset="-120"/>
              </a:rPr>
              <a:t>19</a:t>
            </a:r>
            <a:endParaRPr lang="en-US" sz="850" dirty="0"/>
          </a:p>
        </p:txBody>
      </p:sp>
      <p:sp>
        <p:nvSpPr>
          <p:cNvPr id="8" name="Shape 6"/>
          <p:cNvSpPr/>
          <p:nvPr/>
        </p:nvSpPr>
        <p:spPr>
          <a:xfrm>
            <a:off x="640080" y="1188720"/>
            <a:ext cx="10972800" cy="1901952"/>
          </a:xfrm>
          <a:prstGeom prst="roundRect">
            <a:avLst>
              <a:gd name="adj" fmla="val 3846"/>
            </a:avLst>
          </a:prstGeom>
          <a:solidFill>
            <a:srgbClr val="0E1D2E"/>
          </a:solidFill>
          <a:ln w="12700">
            <a:solidFill>
              <a:srgbClr val="6BB7FF"/>
            </a:solidFill>
            <a:prstDash val="solid"/>
          </a:ln>
        </p:spPr>
      </p:sp>
      <p:sp>
        <p:nvSpPr>
          <p:cNvPr id="9" name="Shape 7"/>
          <p:cNvSpPr/>
          <p:nvPr/>
        </p:nvSpPr>
        <p:spPr>
          <a:xfrm>
            <a:off x="896112" y="1481328"/>
            <a:ext cx="530352" cy="310896"/>
          </a:xfrm>
          <a:prstGeom prst="roundRect">
            <a:avLst/>
          </a:prstGeom>
          <a:solidFill>
            <a:srgbClr val="6BB7FF"/>
          </a:solidFill>
          <a:ln w="12700">
            <a:solidFill>
              <a:srgbClr val="6BB7FF">
                <a:alpha val="0"/>
              </a:srgbClr>
            </a:solidFill>
            <a:prstDash val="solid"/>
          </a:ln>
        </p:spPr>
      </p:sp>
      <p:sp>
        <p:nvSpPr>
          <p:cNvPr id="10" name="Text 8"/>
          <p:cNvSpPr txBox="1"/>
          <p:nvPr/>
        </p:nvSpPr>
        <p:spPr>
          <a:xfrm>
            <a:off x="969264" y="1549908"/>
            <a:ext cx="384048" cy="210312"/>
          </a:xfrm>
          <a:prstGeom prst="rect">
            <a:avLst/>
          </a:prstGeom>
          <a:noFill/>
          <a:ln/>
        </p:spPr>
        <p:txBody>
          <a:bodyPr wrap="square" lIns="0" tIns="0" rIns="0" bIns="0" rtlCol="0" anchor="ctr">
            <a:normAutofit/>
          </a:bodyPr>
          <a:lstStyle/>
          <a:p>
            <a:pPr algn="ctr" indent="0" marL="0">
              <a:buNone/>
            </a:pPr>
            <a:r>
              <a:rPr lang="en-US" sz="900" b="1" dirty="0">
                <a:solidFill>
                  <a:srgbClr val="07111F"/>
                </a:solidFill>
                <a:latin typeface="Aptos" pitchFamily="34" charset="0"/>
                <a:ea typeface="Aptos" pitchFamily="34" charset="-122"/>
                <a:cs typeface="Aptos" pitchFamily="34" charset="-120"/>
              </a:rPr>
              <a:t>01</a:t>
            </a:r>
            <a:endParaRPr lang="en-US" sz="900" dirty="0"/>
          </a:p>
        </p:txBody>
      </p:sp>
      <p:sp>
        <p:nvSpPr>
          <p:cNvPr id="11" name="Text 9"/>
          <p:cNvSpPr txBox="1"/>
          <p:nvPr/>
        </p:nvSpPr>
        <p:spPr>
          <a:xfrm>
            <a:off x="1618488" y="1453896"/>
            <a:ext cx="4023360" cy="265176"/>
          </a:xfrm>
          <a:prstGeom prst="rect">
            <a:avLst/>
          </a:prstGeom>
          <a:noFill/>
          <a:ln/>
        </p:spPr>
        <p:txBody>
          <a:bodyPr wrap="square" lIns="0" tIns="0" rIns="0" bIns="0" rtlCol="0" anchor="t">
            <a:normAutofit/>
          </a:bodyPr>
          <a:lstStyle/>
          <a:p>
            <a:pPr algn="l" indent="0" marL="0">
              <a:buNone/>
            </a:pPr>
            <a:r>
              <a:rPr lang="en-US" sz="1220" b="1" dirty="0">
                <a:solidFill>
                  <a:srgbClr val="9DD0FF"/>
                </a:solidFill>
                <a:latin typeface="Aptos" pitchFamily="34" charset="0"/>
                <a:ea typeface="Aptos" pitchFamily="34" charset="-122"/>
                <a:cs typeface="Aptos" pitchFamily="34" charset="-120"/>
              </a:rPr>
              <a:t>Okawara H, Sawada T, Nakashima D, et al. (2022)</a:t>
            </a:r>
            <a:endParaRPr lang="en-US" sz="1220" dirty="0"/>
          </a:p>
        </p:txBody>
      </p:sp>
      <p:sp>
        <p:nvSpPr>
          <p:cNvPr id="12" name="Text 10"/>
          <p:cNvSpPr txBox="1"/>
          <p:nvPr/>
        </p:nvSpPr>
        <p:spPr>
          <a:xfrm>
            <a:off x="1618488" y="1837944"/>
            <a:ext cx="8979408" cy="566928"/>
          </a:xfrm>
          <a:prstGeom prst="rect">
            <a:avLst/>
          </a:prstGeom>
          <a:noFill/>
          <a:ln/>
        </p:spPr>
        <p:txBody>
          <a:bodyPr wrap="square" lIns="0" tIns="0" rIns="0" bIns="0" rtlCol="0" anchor="t">
            <a:normAutofit/>
          </a:bodyPr>
          <a:lstStyle/>
          <a:p>
            <a:pPr algn="l" indent="0" marL="0">
              <a:buNone/>
            </a:pPr>
            <a:r>
              <a:rPr lang="en-US" sz="1140" dirty="0">
                <a:solidFill>
                  <a:srgbClr val="D8E2EC"/>
                </a:solidFill>
                <a:latin typeface="Aptos" pitchFamily="34" charset="0"/>
                <a:ea typeface="Aptos" pitchFamily="34" charset="-122"/>
                <a:cs typeface="Aptos" pitchFamily="34" charset="-120"/>
              </a:rPr>
              <a:t>Kinetic changes in sweat lactate following fatigue during constant workload exercise.</a:t>
            </a:r>
            <a:endParaRPr lang="en-US" sz="1140" dirty="0"/>
          </a:p>
          <a:p>
            <a:pPr algn="l" indent="0" marL="0">
              <a:buNone/>
            </a:pPr>
            <a:r>
              <a:rPr lang="en-US" sz="1140" dirty="0">
                <a:solidFill>
                  <a:srgbClr val="D8E2EC"/>
                </a:solidFill>
                <a:latin typeface="Aptos" pitchFamily="34" charset="0"/>
                <a:ea typeface="Aptos" pitchFamily="34" charset="-122"/>
                <a:cs typeface="Aptos" pitchFamily="34" charset="-120"/>
              </a:rPr>
              <a:t>Physiological Reports, 10, e15169. DOI: 10.14814/phy2.15169</a:t>
            </a:r>
            <a:endParaRPr lang="en-US" sz="1140" dirty="0"/>
          </a:p>
        </p:txBody>
      </p:sp>
      <p:sp>
        <p:nvSpPr>
          <p:cNvPr id="13" name="Text 11"/>
          <p:cNvSpPr/>
          <p:nvPr/>
        </p:nvSpPr>
        <p:spPr>
          <a:xfrm>
            <a:off x="9006840" y="1463040"/>
            <a:ext cx="1965960" cy="201168"/>
          </a:xfrm>
          <a:prstGeom prst="rect">
            <a:avLst/>
          </a:prstGeom>
          <a:noFill/>
          <a:ln/>
        </p:spPr>
        <p:txBody>
          <a:bodyPr wrap="square" lIns="0" tIns="0" rIns="0" bIns="0" rtlCol="0" anchor="ctr">
            <a:normAutofit/>
          </a:bodyPr>
          <a:lstStyle/>
          <a:p>
            <a:pPr indent="0" marL="0">
              <a:buNone/>
            </a:pPr>
            <a:r>
              <a:rPr lang="en-US" sz="900" b="1" u="sng" dirty="0">
                <a:solidFill>
                  <a:srgbClr val="78EAE0"/>
                </a:solidFill>
                <a:uFill>
                  <a:solidFill>
                    <a:srgbClr val="78EAE0"/>
                  </a:solidFill>
                </a:u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WILEY FULL TEXT ↗</a:t>
            </a:r>
            <a:endParaRPr lang="en-US" sz="900" dirty="0"/>
          </a:p>
        </p:txBody>
      </p:sp>
      <p:sp>
        <p:nvSpPr>
          <p:cNvPr id="14" name="Text 12"/>
          <p:cNvSpPr/>
          <p:nvPr/>
        </p:nvSpPr>
        <p:spPr>
          <a:xfrm>
            <a:off x="9006840" y="1828800"/>
            <a:ext cx="1965960" cy="201168"/>
          </a:xfrm>
          <a:prstGeom prst="rect">
            <a:avLst/>
          </a:prstGeom>
          <a:noFill/>
          <a:ln/>
        </p:spPr>
        <p:txBody>
          <a:bodyPr wrap="square" lIns="0" tIns="0" rIns="0" bIns="0" rtlCol="0" anchor="ctr">
            <a:normAutofit/>
          </a:bodyPr>
          <a:lstStyle/>
          <a:p>
            <a:pPr indent="0" marL="0">
              <a:buNone/>
            </a:pPr>
            <a:r>
              <a:rPr lang="en-US" sz="900" b="1" u="sng" dirty="0">
                <a:solidFill>
                  <a:srgbClr val="78EAE0"/>
                </a:solidFill>
                <a:uFill>
                  <a:solidFill>
                    <a:srgbClr val="78EAE0"/>
                  </a:solidFill>
                </a:u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PMC FULL TEXT ↗</a:t>
            </a:r>
            <a:endParaRPr lang="en-US" sz="900" dirty="0"/>
          </a:p>
        </p:txBody>
      </p:sp>
      <p:sp>
        <p:nvSpPr>
          <p:cNvPr id="15" name="Text 13"/>
          <p:cNvSpPr txBox="1"/>
          <p:nvPr/>
        </p:nvSpPr>
        <p:spPr>
          <a:xfrm>
            <a:off x="1618488" y="2578608"/>
            <a:ext cx="4754880" cy="182880"/>
          </a:xfrm>
          <a:prstGeom prst="rect">
            <a:avLst/>
          </a:prstGeom>
          <a:noFill/>
          <a:ln/>
        </p:spPr>
        <p:txBody>
          <a:bodyPr wrap="square" lIns="0" tIns="0" rIns="0" bIns="0" rtlCol="0" anchor="t">
            <a:normAutofit/>
          </a:bodyPr>
          <a:lstStyle/>
          <a:p>
            <a:pPr algn="l" indent="0" marL="0">
              <a:buNone/>
            </a:pPr>
            <a:r>
              <a:rPr lang="en-US" sz="880" dirty="0">
                <a:solidFill>
                  <a:srgbClr val="93A4B6"/>
                </a:solidFill>
                <a:latin typeface="Aptos" pitchFamily="34" charset="0"/>
                <a:ea typeface="Aptos" pitchFamily="34" charset="-122"/>
                <a:cs typeface="Aptos" pitchFamily="34" charset="-120"/>
              </a:rPr>
              <a:t>License: Creative Commons Attribution 4.0 International</a:t>
            </a:r>
            <a:endParaRPr lang="en-US" sz="880" dirty="0"/>
          </a:p>
        </p:txBody>
      </p:sp>
      <p:sp>
        <p:nvSpPr>
          <p:cNvPr id="16" name="Shape 14"/>
          <p:cNvSpPr/>
          <p:nvPr/>
        </p:nvSpPr>
        <p:spPr>
          <a:xfrm>
            <a:off x="640080" y="3273552"/>
            <a:ext cx="10972800" cy="1901952"/>
          </a:xfrm>
          <a:prstGeom prst="roundRect">
            <a:avLst>
              <a:gd name="adj" fmla="val 3846"/>
            </a:avLst>
          </a:prstGeom>
          <a:solidFill>
            <a:srgbClr val="12263A"/>
          </a:solidFill>
          <a:ln w="12700">
            <a:solidFill>
              <a:srgbClr val="FF9B5E"/>
            </a:solidFill>
            <a:prstDash val="solid"/>
          </a:ln>
        </p:spPr>
      </p:sp>
      <p:sp>
        <p:nvSpPr>
          <p:cNvPr id="17" name="Shape 15"/>
          <p:cNvSpPr/>
          <p:nvPr/>
        </p:nvSpPr>
        <p:spPr>
          <a:xfrm>
            <a:off x="896112" y="3566160"/>
            <a:ext cx="530352" cy="310896"/>
          </a:xfrm>
          <a:prstGeom prst="roundRect">
            <a:avLst/>
          </a:prstGeom>
          <a:solidFill>
            <a:srgbClr val="FF9B5E"/>
          </a:solidFill>
          <a:ln w="12700">
            <a:solidFill>
              <a:srgbClr val="FF9B5E">
                <a:alpha val="0"/>
              </a:srgbClr>
            </a:solidFill>
            <a:prstDash val="solid"/>
          </a:ln>
        </p:spPr>
      </p:sp>
      <p:sp>
        <p:nvSpPr>
          <p:cNvPr id="18" name="Text 16"/>
          <p:cNvSpPr txBox="1"/>
          <p:nvPr/>
        </p:nvSpPr>
        <p:spPr>
          <a:xfrm>
            <a:off x="969264" y="3634740"/>
            <a:ext cx="384048" cy="210312"/>
          </a:xfrm>
          <a:prstGeom prst="rect">
            <a:avLst/>
          </a:prstGeom>
          <a:noFill/>
          <a:ln/>
        </p:spPr>
        <p:txBody>
          <a:bodyPr wrap="square" lIns="0" tIns="0" rIns="0" bIns="0" rtlCol="0" anchor="ctr">
            <a:normAutofit/>
          </a:bodyPr>
          <a:lstStyle/>
          <a:p>
            <a:pPr algn="ctr" indent="0" marL="0">
              <a:buNone/>
            </a:pPr>
            <a:r>
              <a:rPr lang="en-US" sz="900" b="1" dirty="0">
                <a:solidFill>
                  <a:srgbClr val="07111F"/>
                </a:solidFill>
                <a:latin typeface="Aptos" pitchFamily="34" charset="0"/>
                <a:ea typeface="Aptos" pitchFamily="34" charset="-122"/>
                <a:cs typeface="Aptos" pitchFamily="34" charset="-120"/>
              </a:rPr>
              <a:t>02</a:t>
            </a:r>
            <a:endParaRPr lang="en-US" sz="900" dirty="0"/>
          </a:p>
        </p:txBody>
      </p:sp>
      <p:sp>
        <p:nvSpPr>
          <p:cNvPr id="19" name="Text 17"/>
          <p:cNvSpPr txBox="1"/>
          <p:nvPr/>
        </p:nvSpPr>
        <p:spPr>
          <a:xfrm>
            <a:off x="1618488" y="3538728"/>
            <a:ext cx="5212080" cy="265176"/>
          </a:xfrm>
          <a:prstGeom prst="rect">
            <a:avLst/>
          </a:prstGeom>
          <a:noFill/>
          <a:ln/>
        </p:spPr>
        <p:txBody>
          <a:bodyPr wrap="square" lIns="0" tIns="0" rIns="0" bIns="0" rtlCol="0" anchor="t">
            <a:normAutofit/>
          </a:bodyPr>
          <a:lstStyle/>
          <a:p>
            <a:pPr algn="l" indent="0" marL="0">
              <a:buNone/>
            </a:pPr>
            <a:r>
              <a:rPr lang="en-US" sz="1220" b="1" dirty="0">
                <a:solidFill>
                  <a:srgbClr val="FFC09B"/>
                </a:solidFill>
                <a:latin typeface="Aptos" pitchFamily="34" charset="0"/>
                <a:ea typeface="Aptos" pitchFamily="34" charset="-122"/>
                <a:cs typeface="Aptos" pitchFamily="34" charset="-120"/>
              </a:rPr>
              <a:t>Takemoto A, Okawara H, Sudo T, et al. (online 2025; issue 2026)</a:t>
            </a:r>
            <a:endParaRPr lang="en-US" sz="1220" dirty="0"/>
          </a:p>
        </p:txBody>
      </p:sp>
      <p:sp>
        <p:nvSpPr>
          <p:cNvPr id="20" name="Text 18"/>
          <p:cNvSpPr txBox="1"/>
          <p:nvPr/>
        </p:nvSpPr>
        <p:spPr>
          <a:xfrm>
            <a:off x="1618488" y="3922776"/>
            <a:ext cx="9015984" cy="566928"/>
          </a:xfrm>
          <a:prstGeom prst="rect">
            <a:avLst/>
          </a:prstGeom>
          <a:noFill/>
          <a:ln/>
        </p:spPr>
        <p:txBody>
          <a:bodyPr wrap="square" lIns="0" tIns="0" rIns="0" bIns="0" rtlCol="0" anchor="t">
            <a:normAutofit/>
          </a:bodyPr>
          <a:lstStyle/>
          <a:p>
            <a:pPr algn="l" indent="0" marL="0">
              <a:buNone/>
            </a:pPr>
            <a:r>
              <a:rPr lang="en-US" sz="1120" dirty="0">
                <a:solidFill>
                  <a:srgbClr val="D8E2EC"/>
                </a:solidFill>
                <a:latin typeface="Aptos" pitchFamily="34" charset="0"/>
                <a:ea typeface="Aptos" pitchFamily="34" charset="-122"/>
                <a:cs typeface="Aptos" pitchFamily="34" charset="-120"/>
              </a:rPr>
              <a:t>A novel fatigue monitoring system using sweat lactate: a preliminary study.</a:t>
            </a:r>
            <a:endParaRPr lang="en-US" sz="1120" dirty="0"/>
          </a:p>
          <a:p>
            <a:pPr algn="l" indent="0" marL="0">
              <a:buNone/>
            </a:pPr>
            <a:r>
              <a:rPr lang="en-US" sz="1120" dirty="0">
                <a:solidFill>
                  <a:srgbClr val="D8E2EC"/>
                </a:solidFill>
                <a:latin typeface="Aptos" pitchFamily="34" charset="0"/>
                <a:ea typeface="Aptos" pitchFamily="34" charset="-122"/>
                <a:cs typeface="Aptos" pitchFamily="34" charset="-120"/>
              </a:rPr>
              <a:t>Fatigue: Biomedicine, Health &amp; Behavior, 14(1), 27–41. DOI: 10.1080/21641846.2025.2554557</a:t>
            </a:r>
            <a:endParaRPr lang="en-US" sz="1120" dirty="0"/>
          </a:p>
        </p:txBody>
      </p:sp>
      <p:sp>
        <p:nvSpPr>
          <p:cNvPr id="21" name="Text 19"/>
          <p:cNvSpPr/>
          <p:nvPr/>
        </p:nvSpPr>
        <p:spPr>
          <a:xfrm>
            <a:off x="8586216" y="3547872"/>
            <a:ext cx="2395728" cy="201168"/>
          </a:xfrm>
          <a:prstGeom prst="rect">
            <a:avLst/>
          </a:prstGeom>
          <a:noFill/>
          <a:ln/>
        </p:spPr>
        <p:txBody>
          <a:bodyPr wrap="square" lIns="0" tIns="0" rIns="0" bIns="0" rtlCol="0" anchor="ctr">
            <a:normAutofit/>
          </a:bodyPr>
          <a:lstStyle/>
          <a:p>
            <a:pPr indent="0" marL="0">
              <a:buNone/>
            </a:pPr>
            <a:r>
              <a:rPr lang="en-US" sz="900" b="1" u="sng" dirty="0">
                <a:solidFill>
                  <a:srgbClr val="78EAE0"/>
                </a:solidFill>
                <a:uFill>
                  <a:solidFill>
                    <a:srgbClr val="78EAE0"/>
                  </a:solidFill>
                </a:u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TAYLOR &amp; FRANCIS ↗</a:t>
            </a:r>
            <a:endParaRPr lang="en-US" sz="900" dirty="0"/>
          </a:p>
        </p:txBody>
      </p:sp>
      <p:sp>
        <p:nvSpPr>
          <p:cNvPr id="22" name="Text 20"/>
          <p:cNvSpPr/>
          <p:nvPr/>
        </p:nvSpPr>
        <p:spPr>
          <a:xfrm>
            <a:off x="8586216" y="3913632"/>
            <a:ext cx="2395728" cy="201168"/>
          </a:xfrm>
          <a:prstGeom prst="rect">
            <a:avLst/>
          </a:prstGeom>
          <a:noFill/>
          <a:ln/>
        </p:spPr>
        <p:txBody>
          <a:bodyPr wrap="square" lIns="0" tIns="0" rIns="0" bIns="0" rtlCol="0" anchor="ctr">
            <a:normAutofit/>
          </a:bodyPr>
          <a:lstStyle/>
          <a:p>
            <a:pPr indent="0" marL="0">
              <a:buNone/>
            </a:pPr>
            <a:r>
              <a:rPr lang="en-US" sz="900" b="1" u="sng" dirty="0">
                <a:solidFill>
                  <a:srgbClr val="78EAE0"/>
                </a:solidFill>
                <a:uFill>
                  <a:solidFill>
                    <a:srgbClr val="78EAE0"/>
                  </a:solidFill>
                </a:u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INGENTA ABSTRACT ↗</a:t>
            </a:r>
            <a:endParaRPr lang="en-US" sz="900" dirty="0"/>
          </a:p>
        </p:txBody>
      </p:sp>
      <p:sp>
        <p:nvSpPr>
          <p:cNvPr id="23" name="Text 21"/>
          <p:cNvSpPr txBox="1"/>
          <p:nvPr/>
        </p:nvSpPr>
        <p:spPr>
          <a:xfrm>
            <a:off x="1618488" y="4663440"/>
            <a:ext cx="6583680" cy="182880"/>
          </a:xfrm>
          <a:prstGeom prst="rect">
            <a:avLst/>
          </a:prstGeom>
          <a:noFill/>
          <a:ln/>
        </p:spPr>
        <p:txBody>
          <a:bodyPr wrap="square" lIns="0" tIns="0" rIns="0" bIns="0" rtlCol="0" anchor="t">
            <a:normAutofit/>
          </a:bodyPr>
          <a:lstStyle/>
          <a:p>
            <a:pPr algn="l" indent="0" marL="0">
              <a:buNone/>
            </a:pPr>
            <a:r>
              <a:rPr lang="en-US" sz="880" dirty="0">
                <a:solidFill>
                  <a:srgbClr val="93A4B6"/>
                </a:solidFill>
                <a:latin typeface="Aptos" pitchFamily="34" charset="0"/>
                <a:ea typeface="Aptos" pitchFamily="34" charset="-122"/>
                <a:cs typeface="Aptos" pitchFamily="34" charset="-120"/>
              </a:rPr>
              <a:t>Published online: 2025-09-07 · Volume issue date: 2026-01-02 · License: CC BY 4.0</a:t>
            </a:r>
            <a:endParaRPr lang="en-US" sz="880" dirty="0"/>
          </a:p>
        </p:txBody>
      </p:sp>
      <p:sp>
        <p:nvSpPr>
          <p:cNvPr id="24" name="Shape 22"/>
          <p:cNvSpPr/>
          <p:nvPr/>
        </p:nvSpPr>
        <p:spPr>
          <a:xfrm>
            <a:off x="640080" y="5394960"/>
            <a:ext cx="10972800" cy="841248"/>
          </a:xfrm>
          <a:prstGeom prst="roundRect">
            <a:avLst>
              <a:gd name="adj" fmla="val 8696"/>
            </a:avLst>
          </a:prstGeom>
          <a:solidFill>
            <a:srgbClr val="102235"/>
          </a:solidFill>
          <a:ln w="12700">
            <a:solidFill>
              <a:srgbClr val="1E3A52"/>
            </a:solidFill>
            <a:prstDash val="solid"/>
          </a:ln>
        </p:spPr>
      </p:sp>
      <p:sp>
        <p:nvSpPr>
          <p:cNvPr id="25" name="Text 23"/>
          <p:cNvSpPr txBox="1"/>
          <p:nvPr/>
        </p:nvSpPr>
        <p:spPr>
          <a:xfrm>
            <a:off x="905256" y="5596128"/>
            <a:ext cx="1097280" cy="201168"/>
          </a:xfrm>
          <a:prstGeom prst="rect">
            <a:avLst/>
          </a:prstGeom>
          <a:noFill/>
          <a:ln/>
        </p:spPr>
        <p:txBody>
          <a:bodyPr wrap="square" lIns="0" tIns="0" rIns="0" bIns="0" rtlCol="0" anchor="t">
            <a:normAutofit/>
          </a:bodyPr>
          <a:lstStyle/>
          <a:p>
            <a:pPr algn="l" indent="0" marL="0">
              <a:buNone/>
            </a:pPr>
            <a:r>
              <a:rPr lang="en-US" sz="1020" b="1" dirty="0">
                <a:solidFill>
                  <a:srgbClr val="78EAE0"/>
                </a:solidFill>
                <a:latin typeface="Microsoft JhengHei" pitchFamily="34" charset="0"/>
                <a:ea typeface="Microsoft JhengHei" pitchFamily="34" charset="-122"/>
                <a:cs typeface="Microsoft JhengHei" pitchFamily="34" charset="-120"/>
              </a:rPr>
              <a:t>圖表註記</a:t>
            </a:r>
            <a:endParaRPr lang="en-US" sz="1020" dirty="0"/>
          </a:p>
        </p:txBody>
      </p:sp>
      <p:sp>
        <p:nvSpPr>
          <p:cNvPr id="26" name="Text 24"/>
          <p:cNvSpPr txBox="1"/>
          <p:nvPr/>
        </p:nvSpPr>
        <p:spPr>
          <a:xfrm>
            <a:off x="2039112" y="5568696"/>
            <a:ext cx="9107424" cy="365760"/>
          </a:xfrm>
          <a:prstGeom prst="rect">
            <a:avLst/>
          </a:prstGeom>
          <a:noFill/>
          <a:ln/>
        </p:spPr>
        <p:txBody>
          <a:bodyPr wrap="square" lIns="0" tIns="0" rIns="0" bIns="0" rtlCol="0" anchor="t">
            <a:normAutofit/>
          </a:bodyPr>
          <a:lstStyle/>
          <a:p>
            <a:pPr algn="l" indent="0" marL="0">
              <a:buNone/>
            </a:pPr>
            <a:r>
              <a:rPr lang="en-US" sz="940" dirty="0">
                <a:solidFill>
                  <a:srgbClr val="D8E2EC"/>
                </a:solidFill>
                <a:latin typeface="Microsoft JhengHei" pitchFamily="34" charset="0"/>
                <a:ea typeface="Microsoft JhengHei" pitchFamily="34" charset="-122"/>
                <a:cs typeface="Microsoft JhengHei" pitchFamily="34" charset="-120"/>
              </a:rPr>
              <a:t>研究 1 條形圖取自 Table 2；左移曲線為示意重繪。研究 2 相關係數取自 Table 1／Figure 4；未虛構散點。原文摘要依 CC BY 4.0 照錄並標示來源。</a:t>
            </a:r>
            <a:endParaRPr lang="en-US" sz="940" dirty="0"/>
          </a:p>
        </p:txBody>
      </p:sp>
      <p:sp>
        <p:nvSpPr>
          <p:cNvPr id="27" name="Text 25"/>
          <p:cNvSpPr txBox="1"/>
          <p:nvPr/>
        </p:nvSpPr>
        <p:spPr>
          <a:xfrm>
            <a:off x="8339328" y="6291072"/>
            <a:ext cx="2889504" cy="164592"/>
          </a:xfrm>
          <a:prstGeom prst="rect">
            <a:avLst/>
          </a:prstGeom>
          <a:noFill/>
          <a:ln/>
        </p:spPr>
        <p:txBody>
          <a:bodyPr wrap="square" lIns="0" tIns="0" rIns="0" bIns="0" rtlCol="0" anchor="t">
            <a:normAutofit/>
          </a:bodyPr>
          <a:lstStyle/>
          <a:p>
            <a:pPr algn="r" indent="0" marL="0">
              <a:buNone/>
            </a:pPr>
            <a:r>
              <a:rPr lang="en-US" sz="800" dirty="0">
                <a:solidFill>
                  <a:srgbClr val="93A4B6"/>
                </a:solidFill>
                <a:latin typeface="Aptos" pitchFamily="34" charset="0"/>
                <a:ea typeface="Aptos" pitchFamily="34" charset="-122"/>
                <a:cs typeface="Aptos" pitchFamily="34" charset="-120"/>
              </a:rPr>
              <a:t>製作日期：2026-09-10（Asia/Taipei）</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Jheng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Jheng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LA-01 Analyzer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汗乳酸 × 疲勞：兩篇初步研究怎麼讀？</dc:title>
  <dc:subject>Evidence review of sweat lactate kinetics and fatigue monitoring</dc:subject>
  <dc:creator>Arena.ai Agent Mode</dc:creator>
  <cp:lastModifiedBy>Arena.ai Agent Mode</cp:lastModifiedBy>
  <cp:revision>1</cp:revision>
  <dcterms:created xsi:type="dcterms:W3CDTF">2026-09-10T13:25:17Z</dcterms:created>
  <dcterms:modified xsi:type="dcterms:W3CDTF">2026-09-10T13:25:17Z</dcterms:modified>
</cp:coreProperties>
</file>