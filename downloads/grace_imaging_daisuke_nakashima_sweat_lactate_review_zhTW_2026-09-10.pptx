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本簡報根據 Grace Imaging 官方論文頁、Daisuke Nakashima ORCID、PubMed/PMC 與出版社頁交叉核對。截止日 2026-09-10。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信心總結：sLT 作為第一生理轉折的證據為中等；疲勞／恢復判讀僅初步；絕對濃度疲勞分數目前不支持。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這是聚焦式作者/公司技術線追蹤。未做 PROSPERO 註冊、雙人獨立篩選或完整外部競品文獻系統回顧。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 C01-C11；支援 S01-S02；相鄰排除 X01。詳細欄位與篩選理由見 CSV/Markdown。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C09 以線上日期放在 2025，但正式卷期是 2026。時間軸只顯示核心研究。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sLT = sweat lactate threshold。多數研究定義為基線後第一個顯著、持續上升點，並用外部負荷或時間與 LT1/VT1 比較。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版圖顯示核心研究在哪些場景支援「閾值效度」與「疲勞」。廣泛的閾值研究不能自動視為疲勞效度。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完整來源：https://pmc.ncbi.nlm.nih.gov/articles/PMC7925537/。COI：Nakashima 為 Grace Imaging 創辦人/股東，另有作者為公司員工。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為公司 president/shareholder，未參與資料取得與分析。研究本身稱 preliminary。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president/shareholder；論文聲明公司未參與研究。支援文章 S02 顯示前額/上臂汗率隨時間和部位不同。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Grace Imaging president/shareholder，未參與資料取得與分析。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shareholder/CEO；Grace Imaging 提供感測設備。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COI：D.N. 為 Grace Imaging founder/shareholder。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president/shareholder，未參與資料取得與分析。Grace 官網文字 DOI 多一個 0；本簡報已校正為 10.1002/ejsc.12179。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founder/shareholder；另一作者為 founder/shareholder 與感測晶片專利持有人。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president/shareholder，未參與資料取得與分析。線上日期與正式卷期必須分開記錄，避免重複。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president/shareholder；公司未參與研究。本篇未列在本次抓取的 Grace 官方 Paper 清單，是只看官網會漏掉的新文。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COI：Nakashima 為 president/shareholder；公司未參與研究。Grace 官網文字 DOI 誤植為 phy2.17002，正確為 phy2.71002。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C10 健康女性為 Spearman r=.769，但同時有系統性延遲，故不放入直觀排行榜主體以免忽略偏差。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比例來自不同研究，目的在提醒可分析率而非做統計比較。2024 HF 低/中/高汗率明確 sLT 為 53/100/75%。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曲線為概念示意，不是原論文數據重製。HSD = high-speed distance。兩篇皆支持較早反應方向，但時間尺度與測試設計不同。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建議產品用語使用「可能的恢復/負荷反應」與「閾值信心」，避免確診式語言。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畫面為產品概念稿。124 W、-9% 等純屬示意，不是研究 cutoff。原始 μA 可放研究模式，不作主畫面疲勞分數。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演算法為證據導向的最小框架，仍需在 LA-01 資料上驗證。可用 robust median/MAD 建立個人誤差，但不能用未驗證百分比對外宣稱疲勞。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優先順序：先以 LA-01 自身資料估誤差，再做跨性別/低汗者與多模態疲勞效度，最後才是臨床宣稱。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 揭露不代表研究無效，但需要更高程度的預註冊、原始資料/程式碼、外部重現與完整失敗個案呈現。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 欄位可直接排序或匯入試算表。新的論文應先判斷核心/支援/排除，再更新簡報結論。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 DOI 已以 PubMed/PMC 或出版社頁核對。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完整逐篇方法、限制、COI 與連結見 Markdown 報告及 CSV。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一句話：Grace 研究線支持 sLT 作為個人化轉折資訊；直接疲勞效度尚不足以支撐通用濃度或百分比分數。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98-021-84381-9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4814/phy2.15169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90/s22249585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90/s23073378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98-023-36983-8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98-023-49369-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ejsc.12179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98-024-70001-9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80/21641846.2025.255455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55/a-2771-5130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4814/phy2.7100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98-021-84381-9" TargetMode="External"/><Relationship Id="rId2" Type="http://schemas.openxmlformats.org/officeDocument/2006/relationships/hyperlink" Target="https://doi.org/10.14814/phy2.15169" TargetMode="External"/><Relationship Id="rId3" Type="http://schemas.openxmlformats.org/officeDocument/2006/relationships/hyperlink" Target="https://doi.org/10.3390/s22249585" TargetMode="External"/><Relationship Id="rId4" Type="http://schemas.openxmlformats.org/officeDocument/2006/relationships/hyperlink" Target="https://doi.org/10.3390/s23073378" TargetMode="External"/><Relationship Id="rId5" Type="http://schemas.openxmlformats.org/officeDocument/2006/relationships/hyperlink" Target="https://doi.org/10.1038/s41598-023-36983-8" TargetMode="External"/><Relationship Id="rId6" Type="http://schemas.openxmlformats.org/officeDocument/2006/relationships/hyperlink" Target="https://doi.org/10.1038/s41598-023-49369-7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ejsc.12179" TargetMode="External"/><Relationship Id="rId2" Type="http://schemas.openxmlformats.org/officeDocument/2006/relationships/hyperlink" Target="https://doi.org/10.1038/s41598-024-70001-9" TargetMode="External"/><Relationship Id="rId3" Type="http://schemas.openxmlformats.org/officeDocument/2006/relationships/hyperlink" Target="https://doi.org/10.1080/21641846.2025.2554557" TargetMode="External"/><Relationship Id="rId4" Type="http://schemas.openxmlformats.org/officeDocument/2006/relationships/hyperlink" Target="https://doi.org/10.1055/a-2771-5130" TargetMode="External"/><Relationship Id="rId5" Type="http://schemas.openxmlformats.org/officeDocument/2006/relationships/hyperlink" Target="https://doi.org/10.14814/phy2.71002" TargetMode="Externa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320040"/>
            <a:ext cx="3931920" cy="3931920"/>
          </a:xfrm>
          <a:prstGeom prst="ellipse">
            <a:avLst/>
          </a:prstGeom>
          <a:solidFill>
            <a:srgbClr val="20D4C7">
              <a:alpha val="7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560320"/>
            <a:ext cx="2834640" cy="2834640"/>
          </a:xfrm>
          <a:prstGeom prst="ellipse">
            <a:avLst/>
          </a:prstGeom>
          <a:solidFill>
            <a:srgbClr val="FF9B5E">
              <a:alpha val="5000"/>
            </a:srgbClr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8805672" y="1143000"/>
            <a:ext cx="1536192" cy="1965960"/>
          </a:xfrm>
          <a:prstGeom prst="teardrop">
            <a:avLst/>
          </a:prstGeom>
          <a:solidFill>
            <a:srgbClr val="20D4C7">
              <a:alpha val="94000"/>
            </a:srgbClr>
          </a:solidFill>
          <a:ln w="17780">
            <a:solidFill>
              <a:srgbClr val="78EA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543800" y="4843153"/>
            <a:ext cx="126492" cy="2725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670292" y="4840243"/>
            <a:ext cx="126492" cy="2910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796784" y="4837027"/>
            <a:ext cx="126492" cy="3216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923276" y="4833310"/>
            <a:ext cx="126492" cy="3718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049768" y="4828769"/>
            <a:ext cx="126492" cy="4541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176260" y="4822882"/>
            <a:ext cx="126492" cy="5887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302752" y="4814807"/>
            <a:ext cx="126492" cy="8075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429244" y="4803203"/>
            <a:ext cx="126492" cy="11604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555736" y="4785993"/>
            <a:ext cx="126492" cy="17210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682228" y="4760084"/>
            <a:ext cx="126492" cy="25910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8808720" y="4721177"/>
            <a:ext cx="126492" cy="38907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935212" y="4664003"/>
            <a:ext cx="126492" cy="57174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061704" y="4583538"/>
            <a:ext cx="126492" cy="80465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188196" y="4477667"/>
            <a:ext cx="126492" cy="105871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314688" y="4350571"/>
            <a:ext cx="126492" cy="127096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441180" y="4214039"/>
            <a:ext cx="126492" cy="136532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567672" y="4083898"/>
            <a:ext cx="126492" cy="130141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694164" y="3973197"/>
            <a:ext cx="126492" cy="110701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820656" y="3887665"/>
            <a:ext cx="126492" cy="85532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947148" y="3826190"/>
            <a:ext cx="126492" cy="61475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073640" y="3784069"/>
            <a:ext cx="126492" cy="42121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200132" y="3755943"/>
            <a:ext cx="126492" cy="28127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326624" y="3737278"/>
            <a:ext cx="126492" cy="18665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453116" y="3724747"/>
            <a:ext cx="126492" cy="12530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0579608" y="3716093"/>
            <a:ext cx="126492" cy="8654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0706100" y="3709849"/>
            <a:ext cx="126492" cy="6244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0832592" y="3705089"/>
            <a:ext cx="126492" cy="4760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0959084" y="3701238"/>
            <a:ext cx="126492" cy="3851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1085576" y="3697941"/>
            <a:ext cx="126492" cy="3297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1212068" y="3694981"/>
            <a:ext cx="126492" cy="2960"/>
          </a:xfrm>
          <a:prstGeom prst="line">
            <a:avLst/>
          </a:prstGeom>
          <a:noFill/>
          <a:ln w="30480">
            <a:solidFill>
              <a:srgbClr val="78EA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4892040"/>
            <a:ext cx="3813048" cy="0"/>
          </a:xfrm>
          <a:prstGeom prst="line">
            <a:avLst/>
          </a:prstGeom>
          <a:noFill/>
          <a:ln w="12700">
            <a:solidFill>
              <a:srgbClr val="2743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18904" y="3767328"/>
            <a:ext cx="0" cy="1335024"/>
          </a:xfrm>
          <a:prstGeom prst="line">
            <a:avLst/>
          </a:prstGeom>
          <a:noFill/>
          <a:ln w="16510">
            <a:solidFill>
              <a:srgbClr val="FF9B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621792"/>
            <a:ext cx="2487168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" y="69037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EVIDENCE TRACKER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1261872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Grace Imaging 總裁中島大輔</a:t>
            </a:r>
            <a:endParaRPr lang="en-US" sz="30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1965960"/>
            <a:ext cx="6629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汗液乳酸研究追蹤</a:t>
            </a:r>
            <a:endParaRPr lang="en-US" sz="35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2944368"/>
            <a:ext cx="6080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篇核心研究 × 2 篇支援文章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證據版圖、疲勞判讀與 LA-01 呈現建議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658368" y="4261104"/>
            <a:ext cx="5760720" cy="987552"/>
          </a:xfrm>
          <a:prstGeom prst="roundRect">
            <a:avLst>
              <a:gd name="adj" fmla="val 5556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2688" y="451713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2021–2026  |  查核截止 2026-09-10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32688" y="4846320"/>
            <a:ext cx="5212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汗乳酸 only；血乳酸僅為論文比較基準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59893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研究追蹤與產品規劃，不是醫療診斷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READOUT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執行摘要：最強的是「第一轉折」，疲勞仍屬初步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188720"/>
            <a:ext cx="1965960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1316736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17373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核心汗乳酸研究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19476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2021–2026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724912" y="1188720"/>
            <a:ext cx="1965960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62072" y="1316736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2862072" y="17373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直接疲勞研究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2862072" y="19476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n=17 與 n=18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882896" y="1188720"/>
            <a:ext cx="1965960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0056" y="1316736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11/11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5020056" y="17373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揭露公司／股權關係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5020056" y="19476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需獨立重現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132320" y="1188720"/>
            <a:ext cx="4489704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2700">
            <a:solidFill>
              <a:srgbClr val="B7F0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1380744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產品核心訊號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6824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時間／功率／速度的個人內變化</a:t>
            </a:r>
            <a:endParaRPr lang="en-US" sz="1540" dirty="0"/>
          </a:p>
        </p:txBody>
      </p:sp>
      <p:sp>
        <p:nvSpPr>
          <p:cNvPr id="23" name="Shape 21"/>
          <p:cNvSpPr/>
          <p:nvPr/>
        </p:nvSpPr>
        <p:spPr>
          <a:xfrm>
            <a:off x="676656" y="2688336"/>
            <a:ext cx="310896" cy="310896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76606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26700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可支持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2670048"/>
            <a:ext cx="8915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有足夠出汗時，sLT 可近似 LT1／VT1；不同場景方向一致。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676656" y="3346704"/>
            <a:ext cx="310896" cy="310896"/>
          </a:xfrm>
          <a:prstGeom prst="ellipse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" y="34244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3328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疲勞訊號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331720" y="3328416"/>
            <a:ext cx="8915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力竭後與足球賽後，曲線／sLT 較早或在較低強度出現。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76656" y="4005072"/>
            <a:ext cx="310896" cy="310896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" y="408279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70432" y="39867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必要條件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331720" y="3986784"/>
            <a:ext cx="8915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先判定出汗、基線、接觸與流程一致性，再產生結果。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676656" y="4663440"/>
            <a:ext cx="310896" cy="310896"/>
          </a:xfrm>
          <a:prstGeom prst="ellipse">
            <a:avLst/>
          </a:prstGeom>
          <a:solidFill>
            <a:srgbClr val="FF6577"/>
          </a:solidFill>
          <a:ln w="12700">
            <a:solidFill>
              <a:srgbClr val="FF657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47411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170432" y="46451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不可外推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331720" y="4645152"/>
            <a:ext cx="8915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不能把單次 μA／mmol/L 直接換成血乳酸或全身疲勞百分比。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676656" y="5321808"/>
            <a:ext cx="310896" cy="310896"/>
          </a:xfrm>
          <a:prstGeom prst="ellipse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" y="539953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170432" y="5303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部署原則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2331720" y="5303520"/>
            <a:ext cx="8915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同一人、同流程、超過個人 MDC，並以第二指標複核。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範圍與方法：聚焦指定作者，不冒充系統性回顧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來源：Grace Imaging、ORCID 0000-0003-1105-2669、PubMed/PMC、出版社與 J-GLOBAL；查核 2026-09-10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280160"/>
            <a:ext cx="3300984" cy="3456432"/>
          </a:xfrm>
          <a:prstGeom prst="roundRect">
            <a:avLst>
              <a:gd name="adj" fmla="val 1662"/>
            </a:avLst>
          </a:prstGeom>
          <a:solidFill>
            <a:srgbClr val="0E1D2E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80160"/>
            <a:ext cx="3300984" cy="82296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03120"/>
            <a:ext cx="2834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正式同儕審查期刊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Daisuke Nakashima 列名作者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人體汗乳酸、sLT 或直接影響判讀的汗率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截止 2026-09-10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4261104" y="1280160"/>
            <a:ext cx="3300984" cy="3456432"/>
          </a:xfrm>
          <a:prstGeom prst="roundRect">
            <a:avLst>
              <a:gd name="adj" fmla="val 1662"/>
            </a:avLst>
          </a:prstGeom>
          <a:solidFill>
            <a:srgbClr val="0E1D2E"/>
          </a:solidFill>
          <a:ln w="15240">
            <a:solidFill>
              <a:srgbClr val="6BB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1104" y="1280160"/>
            <a:ext cx="3300984" cy="82296"/>
          </a:xfrm>
          <a:prstGeom prst="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9704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2103120"/>
            <a:ext cx="2834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核心：汗乳酸為主要指標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支援：汗乳酸應用或汗率方法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相鄰：公司相關但無汗乳酸終點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7955280" y="1280160"/>
            <a:ext cx="3300984" cy="3456432"/>
          </a:xfrm>
          <a:prstGeom prst="roundRect">
            <a:avLst>
              <a:gd name="adj" fmla="val 1662"/>
            </a:avLst>
          </a:prstGeom>
          <a:solidFill>
            <a:srgbClr val="0E1D2E"/>
          </a:solidFill>
          <a:ln w="15240">
            <a:solidFill>
              <a:srgbClr val="FF9B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280160"/>
            <a:ext cx="3300984" cy="82296"/>
          </a:xfrm>
          <a:prstGeom prst="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排除／保留紀錄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103120"/>
            <a:ext cx="2834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重複預印本／會議摘要不重複計數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EXERCISE-HF 無汗乳酸終點，列 X01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血乳酸只作論文 comparator，不是 LA-01 輸入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261872" y="5074920"/>
            <a:ext cx="9674352" cy="896112"/>
          </a:xfrm>
          <a:prstGeom prst="roundRect">
            <a:avLst>
              <a:gd name="adj" fmla="val 6122"/>
            </a:avLst>
          </a:prstGeom>
          <a:solidFill>
            <a:srgbClr val="1226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5358384"/>
            <a:ext cx="9089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名詞規則｜</a:t>
            </a:r>
            <a:pPr algn="ctr" indent="0" marL="0">
              <a:buNone/>
            </a:pPr>
            <a:r>
              <a:rPr lang="en-US" sz="1110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文獻雖常寫 “anaerobic threshold”，實際多比較第一上升點 LT1／VT1；本報告優先稱 sLT／第一轉折，避免和 LT2／VT2 混淆。</a:t>
            </a:r>
            <a:endParaRPr lang="en-US" sz="11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SCREENING RESULT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追蹤清單：11 核心＋2 支援＋1 相鄰排除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207008"/>
            <a:ext cx="6729984" cy="786384"/>
          </a:xfrm>
          <a:prstGeom prst="roundRect">
            <a:avLst>
              <a:gd name="adj" fmla="val 6977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435608"/>
            <a:ext cx="1143000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504188"/>
            <a:ext cx="1033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137160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1389888"/>
            <a:ext cx="3977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效度、疲勞、EMS、MLSS、低氧、游泳、HF、女性、手搖車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6729984" cy="786384"/>
          </a:xfrm>
          <a:prstGeom prst="roundRect">
            <a:avLst>
              <a:gd name="adj" fmla="val 6977"/>
            </a:avLst>
          </a:prstGeom>
          <a:solidFill>
            <a:srgbClr val="12263A"/>
          </a:solidFill>
          <a:ln w="12700">
            <a:solidFill>
              <a:srgbClr val="6BB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423160"/>
            <a:ext cx="1143000" cy="310896"/>
          </a:xfrm>
          <a:prstGeom prst="round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491740"/>
            <a:ext cx="1033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176272" y="2359152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2377440"/>
            <a:ext cx="3977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汗乳酸作分層點；局部汗率方法學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566928" y="3182112"/>
            <a:ext cx="6729984" cy="786384"/>
          </a:xfrm>
          <a:prstGeom prst="roundRect">
            <a:avLst>
              <a:gd name="adj" fmla="val 6977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410712"/>
            <a:ext cx="1143000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479292"/>
            <a:ext cx="1033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相鄰／排除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176272" y="3346704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364992"/>
            <a:ext cx="3977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EXERCISE-HF：Fitbit／心率＋App，沒有汗乳酸終點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7589520" y="1207008"/>
            <a:ext cx="4032504" cy="2761488"/>
          </a:xfrm>
          <a:prstGeom prst="roundRect">
            <a:avLst>
              <a:gd name="adj" fmla="val 1987"/>
            </a:avLst>
          </a:prstGeom>
          <a:solidFill>
            <a:srgbClr val="0E1D2E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45552" y="1499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本次新增／修正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845552" y="2057400"/>
            <a:ext cx="118872" cy="118872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201168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漏文補抓</a:t>
            </a:r>
            <a:endParaRPr lang="en-US" sz="122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225856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健康女性論文未列於本次抓取的 Grace Paper 清單。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7845552" y="2816352"/>
            <a:ext cx="118872" cy="118872"/>
          </a:xfrm>
          <a:prstGeom prst="ellipse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2770632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DOI 校正 ×2</a:t>
            </a:r>
            <a:endParaRPr lang="en-US" sz="122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3017520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手搖車應為 phy2.71002；游泳應為 10.1002。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566928" y="4352544"/>
            <a:ext cx="11055096" cy="1444752"/>
          </a:xfrm>
          <a:prstGeom prst="roundRect">
            <a:avLst>
              <a:gd name="adj" fmla="val 3797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45994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年份歸檔陷阱</a:t>
            </a:r>
            <a:endParaRPr lang="en-US" sz="1340" dirty="0"/>
          </a:p>
        </p:txBody>
      </p:sp>
      <p:sp>
        <p:nvSpPr>
          <p:cNvPr id="33" name="Text 31"/>
          <p:cNvSpPr txBox="1"/>
          <p:nvPr/>
        </p:nvSpPr>
        <p:spPr>
          <a:xfrm>
            <a:off x="2523744" y="4590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足球疲勞研究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31920" y="4535424"/>
            <a:ext cx="1874520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86784" y="4604004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2025-09-07</a:t>
            </a:r>
            <a:endParaRPr lang="en-US" sz="860" dirty="0"/>
          </a:p>
        </p:txBody>
      </p:sp>
      <p:sp>
        <p:nvSpPr>
          <p:cNvPr id="36" name="Text 34"/>
          <p:cNvSpPr txBox="1"/>
          <p:nvPr/>
        </p:nvSpPr>
        <p:spPr>
          <a:xfrm>
            <a:off x="5989320" y="45902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≠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565392" y="4535424"/>
            <a:ext cx="1783080" cy="310896"/>
          </a:xfrm>
          <a:prstGeom prst="round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0256" y="4604004"/>
            <a:ext cx="1673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2026 · 14(1)</a:t>
            </a:r>
            <a:endParaRPr lang="en-US" sz="860" dirty="0"/>
          </a:p>
        </p:txBody>
      </p:sp>
      <p:sp>
        <p:nvSpPr>
          <p:cNvPr id="39" name="Text 37"/>
          <p:cNvSpPr txBox="1"/>
          <p:nvPr/>
        </p:nvSpPr>
        <p:spPr>
          <a:xfrm>
            <a:off x="8595360" y="4590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同一篇，不重複計數；追蹤表保留兩種日期。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 → 2026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技術路線：從閾值原型，走向情境與族群擴展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914400" y="3172968"/>
            <a:ext cx="9784080" cy="0"/>
          </a:xfrm>
          <a:prstGeom prst="line">
            <a:avLst/>
          </a:prstGeom>
          <a:noFill/>
          <a:ln w="27940">
            <a:solidFill>
              <a:srgbClr val="2743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90088"/>
            <a:ext cx="365760" cy="365760"/>
          </a:xfrm>
          <a:prstGeom prst="ellipse">
            <a:avLst/>
          </a:prstGeom>
          <a:solidFill>
            <a:srgbClr val="173149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5295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2990088"/>
            <a:ext cx="365760" cy="365760"/>
          </a:xfrm>
          <a:prstGeom prst="ellipse">
            <a:avLst/>
          </a:prstGeom>
          <a:solidFill>
            <a:srgbClr val="173149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4328" y="35295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990088"/>
            <a:ext cx="365760" cy="365760"/>
          </a:xfrm>
          <a:prstGeom prst="ellipse">
            <a:avLst/>
          </a:prstGeom>
          <a:solidFill>
            <a:srgbClr val="173149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35295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2990088"/>
            <a:ext cx="365760" cy="365760"/>
          </a:xfrm>
          <a:prstGeom prst="ellipse">
            <a:avLst/>
          </a:prstGeom>
          <a:solidFill>
            <a:srgbClr val="173149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3368" y="35295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12480" y="2990088"/>
            <a:ext cx="365760" cy="365760"/>
          </a:xfrm>
          <a:prstGeom prst="ellipse">
            <a:avLst/>
          </a:prstGeom>
          <a:solidFill>
            <a:srgbClr val="173149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47888" y="35295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287000" y="2990088"/>
            <a:ext cx="365760" cy="365760"/>
          </a:xfrm>
          <a:prstGeom prst="ellipse">
            <a:avLst/>
          </a:prstGeom>
          <a:solidFill>
            <a:srgbClr val="20D4C7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22408" y="35295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1188720"/>
            <a:ext cx="1572768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1307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92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15819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原型＋LT1/VT1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53312" y="2066544"/>
            <a:ext cx="0" cy="923544"/>
          </a:xfrm>
          <a:prstGeom prst="line">
            <a:avLst/>
          </a:prstGeom>
          <a:noFill/>
          <a:ln w="12700">
            <a:solidFill>
              <a:srgbClr val="20D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6272" y="4041648"/>
            <a:ext cx="1417320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67712" y="41605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C02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2267712" y="4434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疲勞曲線左移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84932" y="3355848"/>
            <a:ext cx="0" cy="685800"/>
          </a:xfrm>
          <a:prstGeom prst="line">
            <a:avLst/>
          </a:prstGeom>
          <a:noFill/>
          <a:ln w="12700">
            <a:solidFill>
              <a:srgbClr val="FF9B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9504" y="1188720"/>
            <a:ext cx="1417320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80944" y="1307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C03</a:t>
            </a:r>
            <a:endParaRPr lang="en-US" sz="920" dirty="0"/>
          </a:p>
        </p:txBody>
      </p:sp>
      <p:sp>
        <p:nvSpPr>
          <p:cNvPr id="31" name="Text 29"/>
          <p:cNvSpPr txBox="1"/>
          <p:nvPr/>
        </p:nvSpPr>
        <p:spPr>
          <a:xfrm>
            <a:off x="2980944" y="15819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EMS 提前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98164" y="2066544"/>
            <a:ext cx="0" cy="923544"/>
          </a:xfrm>
          <a:prstGeom prst="line">
            <a:avLst/>
          </a:prstGeom>
          <a:noFill/>
          <a:ln w="12700">
            <a:solidFill>
              <a:srgbClr val="20D4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4041648"/>
            <a:ext cx="1417320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0" y="41605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C04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4114800" y="4434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出汗起始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2020" y="3355848"/>
            <a:ext cx="0" cy="685800"/>
          </a:xfrm>
          <a:prstGeom prst="line">
            <a:avLst/>
          </a:prstGeom>
          <a:noFill/>
          <a:ln w="12700">
            <a:solidFill>
              <a:srgbClr val="20D4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2312" y="1188720"/>
            <a:ext cx="1417320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73752" y="1307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C05</a:t>
            </a:r>
            <a:endParaRPr lang="en-US" sz="920" dirty="0"/>
          </a:p>
        </p:txBody>
      </p:sp>
      <p:sp>
        <p:nvSpPr>
          <p:cNvPr id="39" name="Text 37"/>
          <p:cNvSpPr txBox="1"/>
          <p:nvPr/>
        </p:nvSpPr>
        <p:spPr>
          <a:xfrm>
            <a:off x="4873752" y="15819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MLSS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90972" y="2066544"/>
            <a:ext cx="0" cy="923544"/>
          </a:xfrm>
          <a:prstGeom prst="line">
            <a:avLst/>
          </a:prstGeom>
          <a:noFill/>
          <a:ln w="12700">
            <a:solidFill>
              <a:srgbClr val="20D4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68112" y="4041648"/>
            <a:ext cx="1417320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59552" y="41605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C06</a:t>
            </a:r>
            <a:endParaRPr lang="en-US" sz="920" dirty="0"/>
          </a:p>
        </p:txBody>
      </p:sp>
      <p:sp>
        <p:nvSpPr>
          <p:cNvPr id="43" name="Text 41"/>
          <p:cNvSpPr txBox="1"/>
          <p:nvPr/>
        </p:nvSpPr>
        <p:spPr>
          <a:xfrm>
            <a:off x="5559552" y="4434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低氧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6772" y="3355848"/>
            <a:ext cx="0" cy="685800"/>
          </a:xfrm>
          <a:prstGeom prst="line">
            <a:avLst/>
          </a:prstGeom>
          <a:noFill/>
          <a:ln w="12700">
            <a:solidFill>
              <a:srgbClr val="20D4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73952" y="1188720"/>
            <a:ext cx="1417320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65392" y="1307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C07</a:t>
            </a:r>
            <a:endParaRPr lang="en-US" sz="920" dirty="0"/>
          </a:p>
        </p:txBody>
      </p:sp>
      <p:sp>
        <p:nvSpPr>
          <p:cNvPr id="47" name="Text 45"/>
          <p:cNvSpPr txBox="1"/>
          <p:nvPr/>
        </p:nvSpPr>
        <p:spPr>
          <a:xfrm>
            <a:off x="6565392" y="15819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游泳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82612" y="2066544"/>
            <a:ext cx="0" cy="923544"/>
          </a:xfrm>
          <a:prstGeom prst="line">
            <a:avLst/>
          </a:prstGeom>
          <a:noFill/>
          <a:ln w="12700">
            <a:solidFill>
              <a:srgbClr val="20D4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8040" y="4041648"/>
            <a:ext cx="1417320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69480" y="41605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C08</a:t>
            </a:r>
            <a:endParaRPr lang="en-US" sz="920" dirty="0"/>
          </a:p>
        </p:txBody>
      </p:sp>
      <p:sp>
        <p:nvSpPr>
          <p:cNvPr id="51" name="Text 49"/>
          <p:cNvSpPr txBox="1"/>
          <p:nvPr/>
        </p:nvSpPr>
        <p:spPr>
          <a:xfrm>
            <a:off x="7269480" y="4434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心衰竭試驗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886700" y="3355848"/>
            <a:ext cx="0" cy="685800"/>
          </a:xfrm>
          <a:prstGeom prst="line">
            <a:avLst/>
          </a:prstGeom>
          <a:noFill/>
          <a:ln w="12700">
            <a:solidFill>
              <a:srgbClr val="20D4C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1188720"/>
            <a:ext cx="1490472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12480" y="1307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C09</a:t>
            </a:r>
            <a:endParaRPr lang="en-US" sz="920" dirty="0"/>
          </a:p>
        </p:txBody>
      </p:sp>
      <p:sp>
        <p:nvSpPr>
          <p:cNvPr id="55" name="Text 53"/>
          <p:cNvSpPr txBox="1"/>
          <p:nvPr/>
        </p:nvSpPr>
        <p:spPr>
          <a:xfrm>
            <a:off x="8412480" y="158191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足球疲勞 online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066276" y="2066544"/>
            <a:ext cx="0" cy="923544"/>
          </a:xfrm>
          <a:prstGeom prst="line">
            <a:avLst/>
          </a:prstGeom>
          <a:noFill/>
          <a:ln w="12700">
            <a:solidFill>
              <a:srgbClr val="FF9B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55480" y="4041648"/>
            <a:ext cx="1115568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B7F06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646920" y="416052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</a:t>
            </a:r>
            <a:endParaRPr lang="en-US" sz="920" dirty="0"/>
          </a:p>
        </p:txBody>
      </p:sp>
      <p:sp>
        <p:nvSpPr>
          <p:cNvPr id="59" name="Text 57"/>
          <p:cNvSpPr txBox="1"/>
          <p:nvPr/>
        </p:nvSpPr>
        <p:spPr>
          <a:xfrm>
            <a:off x="9646920" y="443484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女性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113264" y="3355848"/>
            <a:ext cx="0" cy="685800"/>
          </a:xfrm>
          <a:prstGeom prst="line">
            <a:avLst/>
          </a:prstGeom>
          <a:noFill/>
          <a:ln w="12700">
            <a:solidFill>
              <a:srgbClr val="B7F06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97312" y="1188720"/>
            <a:ext cx="1115568" cy="877824"/>
          </a:xfrm>
          <a:prstGeom prst="roundRect">
            <a:avLst>
              <a:gd name="adj" fmla="val 6250"/>
            </a:avLst>
          </a:prstGeom>
          <a:solidFill>
            <a:srgbClr val="12263A"/>
          </a:solidFill>
          <a:ln w="12700">
            <a:solidFill>
              <a:srgbClr val="B7F06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88752" y="1307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C11</a:t>
            </a:r>
            <a:endParaRPr lang="en-US" sz="920" dirty="0"/>
          </a:p>
        </p:txBody>
      </p:sp>
      <p:sp>
        <p:nvSpPr>
          <p:cNvPr id="63" name="Text 61"/>
          <p:cNvSpPr txBox="1"/>
          <p:nvPr/>
        </p:nvSpPr>
        <p:spPr>
          <a:xfrm>
            <a:off x="10588752" y="1581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手搖車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1055096" y="2066544"/>
            <a:ext cx="0" cy="923544"/>
          </a:xfrm>
          <a:prstGeom prst="line">
            <a:avLst/>
          </a:prstGeom>
          <a:noFill/>
          <a:ln w="12700">
            <a:solidFill>
              <a:srgbClr val="B7F06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86384" y="5650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閾值效度</a:t>
            </a:r>
            <a:endParaRPr lang="en-US" sz="940" dirty="0"/>
          </a:p>
        </p:txBody>
      </p:sp>
      <p:sp>
        <p:nvSpPr>
          <p:cNvPr id="66" name="Text 64"/>
          <p:cNvSpPr txBox="1"/>
          <p:nvPr/>
        </p:nvSpPr>
        <p:spPr>
          <a:xfrm>
            <a:off x="1874520" y="56509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情境擴展</a:t>
            </a:r>
            <a:endParaRPr lang="en-US" sz="940" dirty="0"/>
          </a:p>
        </p:txBody>
      </p:sp>
      <p:sp>
        <p:nvSpPr>
          <p:cNvPr id="67" name="Text 65"/>
          <p:cNvSpPr txBox="1"/>
          <p:nvPr/>
        </p:nvSpPr>
        <p:spPr>
          <a:xfrm>
            <a:off x="3063240" y="56509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臨床與疲勞</a:t>
            </a:r>
            <a:endParaRPr lang="en-US" sz="940" dirty="0"/>
          </a:p>
        </p:txBody>
      </p:sp>
      <p:sp>
        <p:nvSpPr>
          <p:cNvPr id="68" name="Text 66"/>
          <p:cNvSpPr txBox="1"/>
          <p:nvPr/>
        </p:nvSpPr>
        <p:spPr>
          <a:xfrm>
            <a:off x="4434840" y="56509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性別／運動型態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→ DECISION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測量語意：研究成功路徑不是「濃度直譯疲勞」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444752"/>
            <a:ext cx="1792224" cy="1188720"/>
          </a:xfrm>
          <a:prstGeom prst="roundRect">
            <a:avLst>
              <a:gd name="adj" fmla="val 4615"/>
            </a:avLst>
          </a:prstGeom>
          <a:solidFill>
            <a:srgbClr val="12263A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171907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Hz 原始電流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139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μA／曲線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423160" y="1819656"/>
            <a:ext cx="256032" cy="402336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444752"/>
            <a:ext cx="1792224" cy="1188720"/>
          </a:xfrm>
          <a:prstGeom prst="roundRect">
            <a:avLst>
              <a:gd name="adj" fmla="val 4615"/>
            </a:avLst>
          </a:prstGeom>
          <a:solidFill>
            <a:srgbClr val="12263A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98648" y="171907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品質閘門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139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出汗・基線・接觸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17720" y="1819656"/>
            <a:ext cx="256032" cy="402336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1444752"/>
            <a:ext cx="1792224" cy="1188720"/>
          </a:xfrm>
          <a:prstGeom prst="roundRect">
            <a:avLst>
              <a:gd name="adj" fmla="val 4615"/>
            </a:avLst>
          </a:prstGeom>
          <a:solidFill>
            <a:srgbClr val="12263A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93208" y="171907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 sLT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2139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第一個持續上升點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12280" y="1819656"/>
            <a:ext cx="256032" cy="402336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1444752"/>
            <a:ext cx="1792224" cy="1188720"/>
          </a:xfrm>
          <a:prstGeom prst="roundRect">
            <a:avLst>
              <a:gd name="adj" fmla="val 4615"/>
            </a:avLst>
          </a:prstGeom>
          <a:solidFill>
            <a:srgbClr val="12263A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87768" y="171907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映射外部負荷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2139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時間・W・速度・HR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06840" y="1819656"/>
            <a:ext cx="256032" cy="402336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5168" y="1444752"/>
            <a:ext cx="1792224" cy="1188720"/>
          </a:xfrm>
          <a:prstGeom prst="roundRect">
            <a:avLst>
              <a:gd name="adj" fmla="val 4615"/>
            </a:avLst>
          </a:prstGeom>
          <a:solidFill>
            <a:srgbClr val="12263A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82328" y="171907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個人內變化</a:t>
            </a:r>
            <a:endParaRPr lang="en-US" sz="1210" dirty="0"/>
          </a:p>
        </p:txBody>
      </p:sp>
      <p:sp>
        <p:nvSpPr>
          <p:cNvPr id="26" name="Text 24"/>
          <p:cNvSpPr txBox="1"/>
          <p:nvPr/>
        </p:nvSpPr>
        <p:spPr>
          <a:xfrm>
            <a:off x="9482328" y="2139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ΔsLT vs baseline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3090672"/>
            <a:ext cx="11055096" cy="2139696"/>
          </a:xfrm>
          <a:prstGeom prst="roundRect">
            <a:avLst>
              <a:gd name="adj" fmla="val 2564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3401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6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不建議的捷徑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2468880" y="3273552"/>
            <a:ext cx="2148840" cy="804672"/>
          </a:xfrm>
          <a:prstGeom prst="roundRect">
            <a:avLst>
              <a:gd name="adj" fmla="val 6818"/>
            </a:avLst>
          </a:prstGeom>
          <a:solidFill>
            <a:srgbClr val="12263A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3472" y="35295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單次汗乳酸濃度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28032" y="3502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358384" y="3273552"/>
            <a:ext cx="2148840" cy="804672"/>
          </a:xfrm>
          <a:prstGeom prst="roundRect">
            <a:avLst>
              <a:gd name="adj" fmla="val 6818"/>
            </a:avLst>
          </a:prstGeom>
          <a:solidFill>
            <a:srgbClr val="12263A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22976" y="35295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血乳酸濃度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17536" y="3502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247888" y="3273552"/>
            <a:ext cx="2514600" cy="804672"/>
          </a:xfrm>
          <a:prstGeom prst="roundRect">
            <a:avLst>
              <a:gd name="adj" fmla="val 6818"/>
            </a:avLst>
          </a:prstGeom>
          <a:solidFill>
            <a:srgbClr val="12263A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0" y="352958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通用疲勞百分比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945368" y="34655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960120" y="4489704"/>
            <a:ext cx="10241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汗乳酸受局部汗腺代謝、汗率、部位、溫濕度與出汗起始影響；Grace 系列研究本身主要使用轉折點。</a:t>
            </a:r>
            <a:endParaRPr lang="en-US" sz="1110" dirty="0"/>
          </a:p>
        </p:txBody>
      </p:sp>
      <p:sp>
        <p:nvSpPr>
          <p:cNvPr id="39" name="Shape 37"/>
          <p:cNvSpPr/>
          <p:nvPr/>
        </p:nvSpPr>
        <p:spPr>
          <a:xfrm>
            <a:off x="1417320" y="5596128"/>
            <a:ext cx="9354312" cy="484632"/>
          </a:xfrm>
          <a:prstGeom prst="roundRect">
            <a:avLst>
              <a:gd name="adj" fmla="val 11321"/>
            </a:avLst>
          </a:prstGeom>
          <a:solidFill>
            <a:srgbClr val="20D4C7">
              <a:alpha val="14000"/>
            </a:srgbClr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64208" y="5751576"/>
            <a:ext cx="8860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正確產品語意：這是汗液訊號的個人化生理轉折／恢復趨勢，不是血液乳酸替身。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MAP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證據版圖：廣度增加，但疲勞欄仍只有兩個點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143000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173149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2984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場景／族群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072384" y="114300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63824" y="1298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效度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650992" y="114300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1298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疲勞／恢復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57032" y="1143000"/>
            <a:ext cx="3364992" cy="475488"/>
          </a:xfrm>
          <a:prstGeom prst="roundRect">
            <a:avLst>
              <a:gd name="adj" fmla="val 11538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8472" y="1298448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處方／應用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66928" y="1737360"/>
            <a:ext cx="228600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189280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自行車・健康/CVD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3072384" y="1737360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63824" y="1892808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C01・C04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650992" y="1737360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42432" y="1892808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C02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257032" y="1737360"/>
            <a:ext cx="3364992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48472" y="1892808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C03 EMS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66928" y="2340864"/>
            <a:ext cx="228600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249631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訓練強度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3072384" y="2340864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63824" y="249631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C05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650992" y="2340864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42432" y="249631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57032" y="2340864"/>
            <a:ext cx="3364992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8472" y="2496312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MLSS 分層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566928" y="2944368"/>
            <a:ext cx="228600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309981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低氧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3072384" y="2944368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63824" y="3099816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C06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5650992" y="2944368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42432" y="3099816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257032" y="2944368"/>
            <a:ext cx="3364992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48472" y="3099816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低氧 AeT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566928" y="3547872"/>
            <a:ext cx="228600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" y="37033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游泳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3072384" y="3547872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163824" y="3703320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C07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5650992" y="3547872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42432" y="3703320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8257032" y="3547872"/>
            <a:ext cx="3364992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48472" y="3703320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水下訓練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566928" y="4151376"/>
            <a:ext cx="228600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8368" y="430682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心衰竭 NYHA I–II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3072384" y="4151376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163824" y="4306824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C08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5650992" y="4151376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42432" y="4306824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8257032" y="4151376"/>
            <a:ext cx="3364992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48472" y="4306824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 VT 輔助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566928" y="4754880"/>
            <a:ext cx="228600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58368" y="491032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足球員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3072384" y="4754880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163824" y="4910328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既有方法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5650992" y="4754880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42432" y="4910328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C09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8257032" y="4754880"/>
            <a:ext cx="3364992" cy="466344"/>
          </a:xfrm>
          <a:prstGeom prst="roundRect">
            <a:avLst>
              <a:gd name="adj" fmla="val 11765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348472" y="4910328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賽後追蹤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566928" y="5358384"/>
            <a:ext cx="228600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8368" y="551383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健康女性／上肢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3072384" y="5358384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163824" y="551383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C10・C11</a:t>
            </a:r>
            <a:endParaRPr lang="en-US" sz="940" dirty="0"/>
          </a:p>
        </p:txBody>
      </p:sp>
      <p:sp>
        <p:nvSpPr>
          <p:cNvPr id="68" name="Shape 66"/>
          <p:cNvSpPr/>
          <p:nvPr/>
        </p:nvSpPr>
        <p:spPr>
          <a:xfrm>
            <a:off x="5650992" y="5358384"/>
            <a:ext cx="2331720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742432" y="551383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940" dirty="0"/>
          </a:p>
        </p:txBody>
      </p:sp>
      <p:sp>
        <p:nvSpPr>
          <p:cNvPr id="70" name="Shape 68"/>
          <p:cNvSpPr/>
          <p:nvPr/>
        </p:nvSpPr>
        <p:spPr>
          <a:xfrm>
            <a:off x="8257032" y="5358384"/>
            <a:ext cx="3364992" cy="466344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348472" y="5513832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性別／型態擴展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1051560" y="6144768"/>
            <a:ext cx="10104120" cy="283464"/>
          </a:xfrm>
          <a:prstGeom prst="roundRect">
            <a:avLst>
              <a:gd name="adj" fmla="val 19355"/>
            </a:avLst>
          </a:prstGeom>
          <a:solidFill>
            <a:srgbClr val="FF9B5E">
              <a:alpha val="14000"/>
            </a:srgbClr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234440" y="6227064"/>
            <a:ext cx="9738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直接疲勞證據：C02（力竭後立即）＋ C09（足球賽後 48 小時）；尚無女性、臨床或多中心疲勞驗證。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 · FOUNDATION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C01｜初代裝置與 LT1／VT1 驗證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Seki et al., Scientific Reports (2021) · PMID 33654133 · PMCID PMC7925537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645920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自行車・健康＋CVD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Reports 11:4929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10.1038/s41598-021-84381-9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總納入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 healthy + 42 CVD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7F0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.92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↔ bLT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可分析子集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6BB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.71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↔ VT1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仍有方法偏差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20D4C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遞增自行車測試；汗乳酸即時連續顯示，與血液 LT1、換氣 VT1 的工作功率比較。健康者多置上臂，CVD 患者多置前額。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可出現汗訊號者可辨識第一上升點。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平均功率差：sLT–bLT -4.5 W；sLT–VT1 +2.5 W。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建立後續研究共同方法：看轉折，不看通用濃度。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42 名 CVD 中僅 23 名有感測反應；血乳酸可分析者更少。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單中心、無汗率、無 LOx-free 控制。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sLT–VT1 另見固定／比例偏差；低汗與較嚴重 HF 不適用。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20D4C7">
              <a:alpha val="14000"/>
            </a:srgbClr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效度必須同時報告「可分析率＋偏差」，不能只報高相關。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 · DIRECT FATIGUE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C02｜疲勞後固定負荷汗乳酸曲線左移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Okawara et al., Physiological Reports (2022) · PMID 35043587 · PMCID PMC8767313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490472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1380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力竭後立即重測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Physiological Reports 10(2):e15169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10.14814/phy2.15169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年輕男性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20.6 ± 0.8 歲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6BB7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peak power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固定負荷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p&lt;.01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曲線提早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peak / 2 / 3 / 4 μA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FF9B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同一人做兩次固定負荷自行車：Test 1 做到力竭，休息後 Test 2 做 10 分鐘；同步記錄主觀疲勞、汗率與 1 Hz 汗乳酸電流。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Test 2 主觀疲勞較高。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疲勞後峰值以及 2、3、4 μA 到達時間都顯著提早。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提供「較早反應」作為疲勞方向性特徵。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無先驗樣本數、單一負荷、全為年輕男性。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營養／水分控制有限；3 人無法進入 Test 2。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兩測試更換晶片；沒有客觀多模態疲勞參照。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FF9B5E">
              <a:alpha val="14000"/>
            </a:srgbClr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可支持「曲線時間特徵」，不支持「某濃度＝某疲勞度」。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 · METABOLIC PERTURBATION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C03｜EMS 條件下 sLT 更早出現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Sawada et al., Sensors (2022) · PMID 36559954 · PMCID PMC9784187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325880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1216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固定負荷＋EMS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 22(24):9585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10.3390/s22249585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6BB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健康年輕男性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人完成雙條件 20 min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可比較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有／無 EMS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6BB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−.52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sLT差 ↔ bLA差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p&lt;.05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6BB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在預測 VT 功率 125% 的固定負荷下，比較無 EMS 與 EMS；耳垂血乳酸每分鐘取樣，前臂汗乳酸連續量測。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EMS 條件的 sLT 顯著提早。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 時間差可解釋部分末端血乳酸差異。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顯示相同外部功率下，代謝刺激改變可反映在轉折時間。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小型全男性樣本；只有 15 人完成兩條件全程。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條件次序看似固定，可能有順序效應。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前一日運動／禁食控制不足；中度相關不是替代血值。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6BB7FF">
              <a:alpha val="14000"/>
            </a:srgbClr>
          </a:solidFill>
          <a:ln w="12700">
            <a:solidFill>
              <a:srgbClr val="6BB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這是代謝刺激研究，不應誤算成第三篇疲勞效度研究。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· SWEAT QUALITY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C04｜出汗起始不是 sLT；晚出汗會拖延 sLT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Maeda et al., Sensors (2023) · PMID 37050438 · PMCID PMC10098635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051560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出汗起始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 23(7):3378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10.3390/s23073378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健康男性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 17 / RP 23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.68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↔ bLT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全體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+106.8s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晚出汗子群偏差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n=5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遞增自行車；同步量汗乳酸、局部汗率與血乳酸。依暖身時是否已出汗分早出汗 EP 與一般出汗 RP。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OS–sLT 關聯弱：EP r=.12、RP r=.56。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sLT–bLT：EP r=.74、RP r=.61。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出汗不是轉折本身；但晚出汗會使 sLT 晚於真正生理轉折。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觀察性、單一運動、全男性。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晚出汗子群僅 5 人，平均差 106.8 s 的精確度有限。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汗量不足時，任何演算法都無法從尚未到達感測器的汗推斷 sLT。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把「已出汗且訊號穩定」設為硬性品質閘門。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· TRAINING PRESCRIPTION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C05｜以 sLT 估 MLSS：必須按訓練狀態分層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Muramoto et al., Scientific Reports (2023) · PMID 37365235 · PMCID PMC10293173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B59CFF"/>
          </a:solidFill>
          <a:ln w="12700">
            <a:solidFill>
              <a:srgbClr val="B59C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822960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59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MLSS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Reports 13:10366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10.1038/s41598-023-36983-8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59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5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成人樣本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trained 11 / untrained 4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7F0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≥120%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訓練者多數 MLSS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 trained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≤115%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未訓練者多數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75% untrained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B59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59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sLT 功率的 110%、115%、120%、125% 各做 30 分鐘固定負荷；血乳酸穩態定義 MLSS，同步量大腿組織氧合。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個人 MLSS 分布為 110/115/120/125%：1/4/3/7 人。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sLT–VT r=.70。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訓練狀態可能改變 sLT 到可持續強度的倍率。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未訓練組只有 4 人；兩組年齡／體脂不平衡。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未測 130%；單一小型研究。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「120% 或 115%」是分層觀察，不是個人精準處方公式。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B59CFF">
              <a:alpha val="14000"/>
            </a:srgbClr>
          </a:solidFill>
          <a:ln w="12700">
            <a:solidFill>
              <a:srgbClr val="B59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59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不要用單一倍率套所有人；先分層，再做個人驗證。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· HYPOXIA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C06｜低氧下仍可辨識 sLT，但研究先排除了低汗者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Okawara et al., Scientific Reports (2023) · PMID 38129473 · PMCID PMC10739691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115568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FiO₂ 15.4%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Reports 13:22865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10.1038/s41598-023-49369-7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6BB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健康受試者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常氧＋低氧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.70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↔ VT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hypoxia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7F0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.933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跨評者 ICC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同評者 .782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6BB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常氧與低氧遞增自行車；同步換氣、汗乳酸與汗率，3 名評者判定 sLT。低氧 FiO₂ 15.4±0.8%。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低氧 sLT–VT r=.70；平均時間差 -15.5 s。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 跨評者可靠度高。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支援轉折在特定低氧環境的可辨識性。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小型健康年輕男性；只測一種低氧程度。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事先排除上臂最高運動汗率 &lt;0.4 mg/cm²/min 者。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輸出以電流為主，不能推論所有海拔／環境免校正。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6BB7FF">
              <a:alpha val="14000"/>
            </a:srgbClr>
          </a:solidFill>
          <a:ln w="12700">
            <a:solidFill>
              <a:srgbClr val="6BB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選樣已排除低汗者；部署可行性不可直接用 20/20 宣稱。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· SWIMMING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C07｜游泳可即時量測；高相關仍伴隨部分系統偏差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Okawara et al., EJSS (2024) · PMID 39126367 · PMCID PMC11369350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9DD0FF"/>
          </a:solidFill>
          <a:ln w="12700">
            <a:solidFill>
              <a:srgbClr val="9DD0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060704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DD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水下穿戴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European Journal of Sport Science 24(9):1302–1312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10.1002/ejsc.12179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9DD0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9D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大學游泳員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58% male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7F0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.824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sLT速度 ↔ bLT速度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p&lt;.01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9DD0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9D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+0.08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平均速度差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m/s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9DD0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9DD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游泳水槽遞增速度；一天有休息採血、另一天無休息。防水感測器置上臂，連續顯示 sLA。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所有測試取得即時曲線。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無休息 sLT 與採血日 bLT r=.868。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顯示可從陸上自行車擴展到水下場景。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部分 Bland–Altman／回歸仍見固定或比例偏差。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單一水槽、水溫、年輕訓練游泳員。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有無休息本身會改變生理與閾值；不可直接沿用自行車常模。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9DD0FF">
              <a:alpha val="14000"/>
            </a:srgbClr>
          </a:solidFill>
          <a:ln w="12700">
            <a:solidFill>
              <a:srgbClr val="9DD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DD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固定防水、部位、溫度與測試流程，並顯示方法偏差。</a:t>
            </a:r>
            <a:endParaRPr lang="en-US" sz="9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· CLINICAL HF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C08｜心衰竭試驗達主要門檻，但只有 32/50 進入比較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Katsumata et al., Scientific Reports (2024) · PMID 39152287 · PMCID PMC11329511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987552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877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LacS-001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Reports 14:18985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10.1038/s41598-024-70001-9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NYHA I–II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前瞻性臨床試驗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32/50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主要分析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64%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.651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↔ VT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95% CI .391–.815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FF9B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RAMP 自行車 CPET；前額汗乳酸 1 Hz；3 名獨立評者判 sLT。預設相關 ≥.60、差異 SD ≤15 W，並追蹤裝置安全。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sLT–VT 差 -4.9±15.0 W；sLT ICC=.701。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低／中／高汗率明確判定率 53%／100%／75%。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無裝置相關不良事件；2 件心律不整歸因運動負荷。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1 人流程偏差、12 人 sLT 難判，另有 VT 難判。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只納入較輕 HF、相對高功能且多為男性。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不代表 NYHA III、低汗者或大型真實世界安全性。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FF9B5E">
              <a:alpha val="14000"/>
            </a:srgbClr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臨床報告首頁要同時顯示「準確度」與「無法判讀比例」。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2025→26 · DIRECT FATIGUE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C09｜高速跑動越多，賽後 sLT 越傾向提早／下降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Takemoto et al. · Online 2025-09-07; issue 2026 · DOI 10.1080/21641846.2025.2554557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2025→26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371600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足球賽後 48 h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Fatigue: Biomedicine, Health &amp; Behavior 14(1):27–41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10.1080/21641846.2025.2554557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男性大學足球員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次賽前 + 1 次賽後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.777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test–retest ICC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95% CI .506–.910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.64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ΔsLT ↔ 高速距離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p&lt;.05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FF9B5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兩次賽前遞增測試建立可靠度與 MDC95；比賽後第 2 天再測。10 Hz GNSS 記錄高速跑動距離。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高速跑動越多，賽後 sLT 越低／越早。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ΔsLT 與 ΔVT r=.77。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 功率 MDC95 約 10 W；超過 MDC 的子群仍有中度關聯。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小型、男性、單一比賽、單一賽後時間點。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ICC 未達部分個人監測偏好的 .90；環境與間隔影響重測。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未直接對照荷爾蒙、發炎、免疫、酵素或神經肌肉標記。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FF9B5E">
              <a:alpha val="14000"/>
            </a:srgbClr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W 只是一個流程示例；LA-01 必須建立自己的個人 MDC。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· HEALTHY WOMEN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C10｜女性 16/16 可測，但 sLT 系統性晚於 VT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Sawada et al., IJSM (2026) · Epub 2026-01-12 · PMID 41525782 · 本次依摘要層級整理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207008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低汗率挑戰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Journal of Sports Medicine 47(6):425–432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10.1055/a-2771-5130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7F0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16/16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可偵測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健康女性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.769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↔ VT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Spearman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.873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出汗起始 ↔ 偏差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late sweat risk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B7F0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健康女性接受呼吸氣體運動測試；穿戴式汗乳酸與通風膠囊汗率計同步；分析 sLT–VT 及出汗動力學。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所有人可偵測 sLT。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 與 VT 顯著相關。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但 sLT 顯著較晚，且閾值越高差異越大；晚出汗是誤差關鍵。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僅 16 名健康女性。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高相關與系統性延遲可同時存在。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本次僅依 PubMed 摘要與書目整理，未把未核對的全文細節加入結論。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B7F06A">
              <a:alpha val="14000"/>
            </a:srgbClr>
          </a:solidFill>
          <a:ln w="12700">
            <a:solidFill>
              <a:srgbClr val="B7F0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女性／低汗者需要延遲偵測與低信心狀態，不能硬套男性流程。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· ARM CRANK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C11｜手搖車跨型態驗證：功率相關 .904、無系統偏差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501384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Sawada et al., Physiological Reports (2026) · PMID 42405472 · PMCID PMC13334460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66928" y="1024128"/>
            <a:ext cx="676656" cy="310896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09270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1362456" y="1024128"/>
            <a:ext cx="1024128" cy="310896"/>
          </a:xfrm>
          <a:prstGeom prst="roundRect">
            <a:avLst/>
          </a:prstGeom>
          <a:solidFill>
            <a:srgbClr val="173149"/>
          </a:solidFill>
          <a:ln w="12700">
            <a:solidFill>
              <a:srgbClr val="17314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109270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上肢運動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10789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Physiological Reports 14(13):e71002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726680" y="1078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10.14814/phy2.71002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66928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7F0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健康年輕成人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男 / 18 女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B7F0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1176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.904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2551176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↔ VT1 功率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 r=.859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61104" y="1536192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166420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+0.2W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20848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平均功率差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951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 -7.7 s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108192" y="1536192"/>
            <a:ext cx="5513832" cy="1856232"/>
          </a:xfrm>
          <a:prstGeom prst="roundRect">
            <a:avLst>
              <a:gd name="adj" fmla="val 2956"/>
            </a:avLst>
          </a:prstGeom>
          <a:solidFill>
            <a:srgbClr val="0E1D2E"/>
          </a:solidFill>
          <a:ln w="15240">
            <a:solidFill>
              <a:srgbClr val="B7F0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1764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057400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手搖車 5 W/min 遞增測試；前額汗乳酸、汗率、心率與呼吸氣體同步。所有人皆有足夠汗且可辨識 sLT。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52852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38862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關鍵結果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13816" y="4197096"/>
            <a:ext cx="4800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功率與時間都高度相關。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Bland–Altman 無固定或比例偏差。</a:t>
            </a:r>
            <a:endParaRPr lang="en-US" sz="1110" dirty="0"/>
          </a:p>
          <a:p>
            <a:pPr algn="l" indent="0" marL="0">
              <a:buNone/>
            </a:pPr>
            <a:r>
              <a:rPr lang="en-US" sz="11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sLT 與 VT1 當下心率無顯著差，支援上肢 AeT 評估。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08192" y="3639312"/>
            <a:ext cx="5513832" cy="2167128"/>
          </a:xfrm>
          <a:prstGeom prst="roundRect">
            <a:avLst>
              <a:gd name="adj" fmla="val 253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45936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限制與風險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345936" y="4197096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年輕健康單一大學、受控環境、只量前額。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1 分鐘階段較短；未正式評估最大有氧能力。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不能直接外推脊髓損傷、自主神經或排汗異常族群。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41248" y="6035040"/>
            <a:ext cx="10497312" cy="356616"/>
          </a:xfrm>
          <a:prstGeom prst="roundRect">
            <a:avLst>
              <a:gd name="adj" fmla="val 15385"/>
            </a:avLst>
          </a:prstGeom>
          <a:solidFill>
            <a:srgbClr val="B7F06A">
              <a:alpha val="14000"/>
            </a:srgbClr>
          </a:solidFill>
          <a:ln w="12700">
            <a:solidFill>
              <a:srgbClr val="B7F0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6135624"/>
            <a:ext cx="10131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判讀｜</a:t>
            </a:r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跨運動型態可行，但「可出汗」仍是先決條件。</a:t>
            </a:r>
            <a:endParaRPr lang="en-US" sz="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SYNTHESIS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跨研究數字：相關係數方向一致，但不能直接排名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188720"/>
            <a:ext cx="5440680" cy="3858768"/>
          </a:xfrm>
          <a:prstGeom prst="roundRect">
            <a:avLst>
              <a:gd name="adj" fmla="val 142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188720"/>
            <a:ext cx="5431536" cy="3858768"/>
          </a:xfrm>
          <a:prstGeom prst="roundRect">
            <a:avLst>
              <a:gd name="adj" fmla="val 142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463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自行車／訓練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14630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情境／族群擴展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19659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C01 sLT–bLT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035808" y="1984248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808" y="1984248"/>
            <a:ext cx="1892808" cy="164592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7216" y="19568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0.920</a:t>
            </a:r>
            <a:endParaRPr lang="en-US" sz="92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6334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C01 sLT–VT1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035808" y="2651760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5808" y="2651760"/>
            <a:ext cx="1460754" cy="164592"/>
          </a:xfrm>
          <a:prstGeom prst="round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57216" y="2624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0.710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3009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C04 sLT–bLT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035808" y="3319272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5808" y="3319272"/>
            <a:ext cx="1399032" cy="164592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57216" y="32918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0.680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39684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C05 sLT–VT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3035808" y="3986784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5808" y="3986784"/>
            <a:ext cx="1440180" cy="164592"/>
          </a:xfrm>
          <a:prstGeom prst="roundRect">
            <a:avLst/>
          </a:prstGeom>
          <a:solidFill>
            <a:srgbClr val="B59CFF"/>
          </a:solidFill>
          <a:ln w="12700">
            <a:solidFill>
              <a:srgbClr val="B59C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7216" y="39593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B5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0.700</a:t>
            </a:r>
            <a:endParaRPr lang="en-US" sz="92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19659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C06 低氧 sLT–VT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659368" y="1984248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1984248"/>
            <a:ext cx="1440180" cy="164592"/>
          </a:xfrm>
          <a:prstGeom prst="round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780776" y="19568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0.700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26334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C07 游泳 sLT–bLT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8659368" y="2651760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59368" y="2651760"/>
            <a:ext cx="1695298" cy="164592"/>
          </a:xfrm>
          <a:prstGeom prst="roundRect">
            <a:avLst/>
          </a:prstGeom>
          <a:solidFill>
            <a:srgbClr val="9DD0FF"/>
          </a:solidFill>
          <a:ln w="12700">
            <a:solidFill>
              <a:srgbClr val="9DD0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780776" y="2624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9D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0.824</a:t>
            </a:r>
            <a:endParaRPr lang="en-US" sz="92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33009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C08 HF sLT–VT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8659368" y="3319272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59368" y="3319272"/>
            <a:ext cx="1339367" cy="164592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780776" y="32918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0.651</a:t>
            </a:r>
            <a:endParaRPr lang="en-US" sz="920" dirty="0"/>
          </a:p>
        </p:txBody>
      </p:sp>
      <p:sp>
        <p:nvSpPr>
          <p:cNvPr id="40" name="Text 38"/>
          <p:cNvSpPr txBox="1"/>
          <p:nvPr/>
        </p:nvSpPr>
        <p:spPr>
          <a:xfrm>
            <a:off x="6464808" y="39684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C11 手搖車 sLT–VT1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8659368" y="3986784"/>
            <a:ext cx="20574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59368" y="3986784"/>
            <a:ext cx="1859890" cy="164592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80776" y="39593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0.904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22960" y="5376672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0E1D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78992" y="557784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不是同一 endpoint、族群、部位、流程或分析集；bar 只呈現方向，不能當作裝置性能排行榜。</a:t>
            </a:r>
            <a:endParaRPr lang="en-US" sz="1070" dirty="0"/>
          </a:p>
        </p:txBody>
      </p:sp>
      <p:sp>
        <p:nvSpPr>
          <p:cNvPr id="46" name="Text 44"/>
          <p:cNvSpPr txBox="1"/>
          <p:nvPr/>
        </p:nvSpPr>
        <p:spPr>
          <a:xfrm>
            <a:off x="1078992" y="585216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還要看：可分析率 · mean bias · limits of agreement · 固定／比例偏差 · ICC · SEM · MDC95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ANALYZABILITY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真正部署風險：不是每個人都能產生可判讀的 sLT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188720"/>
            <a:ext cx="6839712" cy="4297680"/>
          </a:xfrm>
          <a:prstGeom prst="roundRect">
            <a:avLst>
              <a:gd name="adj" fmla="val 1277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4630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研究內觀察到的可用比例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0299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2021 CVD 感測反應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035808" y="2048256"/>
            <a:ext cx="34290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5808" y="2048256"/>
            <a:ext cx="1877786" cy="164592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20208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23/42 · 55%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6974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HF 可判 sLT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035808" y="2715768"/>
            <a:ext cx="34290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5808" y="2715768"/>
            <a:ext cx="2537460" cy="164592"/>
          </a:xfrm>
          <a:prstGeom prst="roundRect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68833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37/50 · 74%</a:t>
            </a:r>
            <a:endParaRPr lang="en-US" sz="92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3649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HF 主要分析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035808" y="3383280"/>
            <a:ext cx="34290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5808" y="3383280"/>
            <a:ext cx="2194560" cy="164592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28816" y="33558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32/50 · 64%</a:t>
            </a:r>
            <a:endParaRPr lang="en-US" sz="92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03250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健康女性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3035808" y="4050792"/>
            <a:ext cx="34290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5808" y="4050792"/>
            <a:ext cx="3429000" cy="164592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28816" y="40233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16/16 · 100%</a:t>
            </a:r>
            <a:endParaRPr lang="en-US" sz="92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47000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手搖車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3035808" y="4718304"/>
            <a:ext cx="3429000" cy="164592"/>
          </a:xfrm>
          <a:prstGeom prst="roundRect">
            <a:avLst>
              <a:gd name="adj" fmla="val 33333"/>
            </a:avLst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5808" y="4718304"/>
            <a:ext cx="3429000" cy="164592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28816" y="46908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27/27 · 100%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662672" y="1188720"/>
            <a:ext cx="3959352" cy="4297680"/>
          </a:xfrm>
          <a:prstGeom prst="roundRect">
            <a:avLst>
              <a:gd name="adj" fmla="val 1386"/>
            </a:avLst>
          </a:prstGeom>
          <a:solidFill>
            <a:srgbClr val="0E1D2E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27848" y="14996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為何不能直接比較？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27848" y="2093976"/>
            <a:ext cx="118872" cy="118872"/>
          </a:xfrm>
          <a:prstGeom prst="ellipse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29016" y="204825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選樣不同</a:t>
            </a:r>
            <a:endParaRPr lang="en-US" sz="1220" dirty="0"/>
          </a:p>
        </p:txBody>
      </p:sp>
      <p:sp>
        <p:nvSpPr>
          <p:cNvPr id="34" name="Text 32"/>
          <p:cNvSpPr txBox="1"/>
          <p:nvPr/>
        </p:nvSpPr>
        <p:spPr>
          <a:xfrm>
            <a:off x="8129016" y="2295144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低氧研究先排除低汗者；HF 與健康人條件不同。</a:t>
            </a:r>
            <a:endParaRPr lang="en-US" sz="1010" dirty="0"/>
          </a:p>
        </p:txBody>
      </p:sp>
      <p:sp>
        <p:nvSpPr>
          <p:cNvPr id="35" name="Shape 33"/>
          <p:cNvSpPr/>
          <p:nvPr/>
        </p:nvSpPr>
        <p:spPr>
          <a:xfrm>
            <a:off x="7927848" y="2935224"/>
            <a:ext cx="118872" cy="118872"/>
          </a:xfrm>
          <a:prstGeom prst="ellipse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29016" y="288950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環境不同</a:t>
            </a:r>
            <a:endParaRPr lang="en-US" sz="1220" dirty="0"/>
          </a:p>
        </p:txBody>
      </p:sp>
      <p:sp>
        <p:nvSpPr>
          <p:cNvPr id="37" name="Text 35"/>
          <p:cNvSpPr txBox="1"/>
          <p:nvPr/>
        </p:nvSpPr>
        <p:spPr>
          <a:xfrm>
            <a:off x="8129016" y="3136392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前額／上臂、溫濕度、暖身與負荷流程改變出汗。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7927848" y="3776472"/>
            <a:ext cx="118872" cy="118872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29016" y="373075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 ≠ 普遍可行</a:t>
            </a:r>
            <a:endParaRPr lang="en-US" sz="1220" dirty="0"/>
          </a:p>
        </p:txBody>
      </p:sp>
      <p:sp>
        <p:nvSpPr>
          <p:cNvPr id="40" name="Text 38"/>
          <p:cNvSpPr txBox="1"/>
          <p:nvPr/>
        </p:nvSpPr>
        <p:spPr>
          <a:xfrm>
            <a:off x="8129016" y="397764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控制環境的小樣本不代表真實世界所有人。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7927848" y="4617720"/>
            <a:ext cx="118872" cy="118872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29016" y="457200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高汗也可能難判</a:t>
            </a:r>
            <a:endParaRPr lang="en-US" sz="1220" dirty="0"/>
          </a:p>
        </p:txBody>
      </p:sp>
      <p:sp>
        <p:nvSpPr>
          <p:cNvPr id="43" name="Text 41"/>
          <p:cNvSpPr txBox="1"/>
          <p:nvPr/>
        </p:nvSpPr>
        <p:spPr>
          <a:xfrm>
            <a:off x="8129016" y="4818888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HF 研究中高汗率組可判率 75%，不只低汗有問題。</a:t>
            </a:r>
            <a:endParaRPr lang="en-US" sz="1010" dirty="0"/>
          </a:p>
        </p:txBody>
      </p:sp>
      <p:sp>
        <p:nvSpPr>
          <p:cNvPr id="44" name="Shape 42"/>
          <p:cNvSpPr/>
          <p:nvPr/>
        </p:nvSpPr>
        <p:spPr>
          <a:xfrm>
            <a:off x="1207008" y="5824728"/>
            <a:ext cx="9765792" cy="384048"/>
          </a:xfrm>
          <a:prstGeom prst="roundRect">
            <a:avLst>
              <a:gd name="adj" fmla="val 14286"/>
            </a:avLst>
          </a:prstGeom>
          <a:solidFill>
            <a:srgbClr val="FF6577">
              <a:alpha val="12000"/>
            </a:srgbClr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44752" y="5943600"/>
            <a:ext cx="9290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產品規則：無汗／晚汗／多轉折／訊號不穩 → 「無法判讀」，不是補值成疲勞。</a:t>
            </a:r>
            <a:endParaRPr lang="en-US" sz="9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FATIGUE EVIDENCE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疲勞證據只有兩篇：方向一致，外部效度仍不足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225296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12263A"/>
          </a:solidFill>
          <a:ln w="15240">
            <a:solidFill>
              <a:srgbClr val="FF9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17904"/>
            <a:ext cx="1389888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158648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C02 · IMMEDIATE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力竭後立即重測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40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n=17 · 年輕男性 · 固定負荷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" y="4315968"/>
            <a:ext cx="4507992" cy="0"/>
          </a:xfrm>
          <a:prstGeom prst="line">
            <a:avLst/>
          </a:prstGeom>
          <a:noFill/>
          <a:ln w="12700">
            <a:solidFill>
              <a:srgbClr val="2743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2788920"/>
            <a:ext cx="0" cy="1527048"/>
          </a:xfrm>
          <a:prstGeom prst="line">
            <a:avLst/>
          </a:prstGeom>
          <a:noFill/>
          <a:ln w="12700">
            <a:solidFill>
              <a:srgbClr val="2743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24128" y="4160176"/>
            <a:ext cx="138684" cy="135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162812" y="4159953"/>
            <a:ext cx="138684" cy="223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301496" y="4159585"/>
            <a:ext cx="138684" cy="368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440180" y="4158979"/>
            <a:ext cx="138684" cy="606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578864" y="4157982"/>
            <a:ext cx="138684" cy="997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717548" y="4156342"/>
            <a:ext cx="138684" cy="1640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856232" y="4153648"/>
            <a:ext cx="138684" cy="2693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994916" y="4149237"/>
            <a:ext cx="138684" cy="4411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133600" y="4142043"/>
            <a:ext cx="138684" cy="7194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272284" y="4130392"/>
            <a:ext cx="138684" cy="11652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410968" y="4111731"/>
            <a:ext cx="138684" cy="18661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549652" y="4082372"/>
            <a:ext cx="138684" cy="29358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688336" y="4037458"/>
            <a:ext cx="138684" cy="44914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827020" y="3971603"/>
            <a:ext cx="138684" cy="65855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965704" y="3880818"/>
            <a:ext cx="138684" cy="90785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104388" y="3765755"/>
            <a:ext cx="138684" cy="115063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243072" y="3634509"/>
            <a:ext cx="138684" cy="131247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381756" y="3501645"/>
            <a:ext cx="138684" cy="132863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520440" y="3382442"/>
            <a:ext cx="138684" cy="119203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3659124" y="3286538"/>
            <a:ext cx="138684" cy="95904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797808" y="3215920"/>
            <a:ext cx="138684" cy="70618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936492" y="3167242"/>
            <a:ext cx="138684" cy="48679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075176" y="3135193"/>
            <a:ext cx="138684" cy="32048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213860" y="3114727"/>
            <a:ext cx="138684" cy="20466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352544" y="3101911"/>
            <a:ext cx="138684" cy="12816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491228" y="3093984"/>
            <a:ext cx="138684" cy="7928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629912" y="3089117"/>
            <a:ext cx="138684" cy="4866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768596" y="3086144"/>
            <a:ext cx="138684" cy="2973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907280" y="3084332"/>
            <a:ext cx="138684" cy="1811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5045964" y="3083231"/>
            <a:ext cx="138684" cy="1102"/>
          </a:xfrm>
          <a:prstGeom prst="line">
            <a:avLst/>
          </a:prstGeom>
          <a:noFill/>
          <a:ln w="25400">
            <a:solidFill>
              <a:srgbClr val="6BB7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24128" y="4155421"/>
            <a:ext cx="138684" cy="2001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162812" y="4152139"/>
            <a:ext cx="138684" cy="3282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301496" y="4146771"/>
            <a:ext cx="138684" cy="5368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1440180" y="4138038"/>
            <a:ext cx="138684" cy="873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578864" y="4123947"/>
            <a:ext cx="138684" cy="14090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1717548" y="4101519"/>
            <a:ext cx="138684" cy="22428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856232" y="4066577"/>
            <a:ext cx="138684" cy="3494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994916" y="4013914"/>
            <a:ext cx="138684" cy="52662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2133600" y="3938388"/>
            <a:ext cx="138684" cy="75527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2272284" y="3837434"/>
            <a:ext cx="138684" cy="10095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2410968" y="3714484"/>
            <a:ext cx="138684" cy="122951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2549652" y="3580637"/>
            <a:ext cx="138684" cy="133846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688336" y="3451611"/>
            <a:ext cx="138684" cy="129027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2827020" y="3341014"/>
            <a:ext cx="138684" cy="110597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2965704" y="3255363"/>
            <a:ext cx="138684" cy="85651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3104388" y="3194101"/>
            <a:ext cx="138684" cy="6126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3243072" y="3152730"/>
            <a:ext cx="138684" cy="41371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3381756" y="3125865"/>
            <a:ext cx="138684" cy="26864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3520440" y="3108862"/>
            <a:ext cx="138684" cy="1700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3659124" y="3098274"/>
            <a:ext cx="138684" cy="10588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3797808" y="3091747"/>
            <a:ext cx="138684" cy="6527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3936492" y="3087749"/>
            <a:ext cx="138684" cy="3998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4075176" y="3085310"/>
            <a:ext cx="138684" cy="2439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4213860" y="3083825"/>
            <a:ext cx="138684" cy="1485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4352544" y="3082922"/>
            <a:ext cx="138684" cy="90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4491228" y="3082374"/>
            <a:ext cx="138684" cy="548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4629912" y="3082041"/>
            <a:ext cx="138684" cy="33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768596" y="3081839"/>
            <a:ext cx="138684" cy="202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4907280" y="3081717"/>
            <a:ext cx="138684" cy="123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045964" y="3081643"/>
            <a:ext cx="138684" cy="74"/>
          </a:xfrm>
          <a:prstGeom prst="line">
            <a:avLst/>
          </a:prstGeom>
          <a:noFill/>
          <a:ln w="25400">
            <a:solidFill>
              <a:srgbClr val="FF9B5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315968" y="40416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休息／前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2615184" y="2971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疲勞後</a:t>
            </a:r>
            <a:endParaRPr lang="en-US" sz="840" dirty="0"/>
          </a:p>
        </p:txBody>
      </p:sp>
      <p:sp>
        <p:nvSpPr>
          <p:cNvPr id="77" name="Text 75"/>
          <p:cNvSpPr txBox="1"/>
          <p:nvPr/>
        </p:nvSpPr>
        <p:spPr>
          <a:xfrm>
            <a:off x="822960" y="4773168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峰值與固定 μA 點更早（p&lt;.01）</a:t>
            </a:r>
            <a:endParaRPr lang="en-US" sz="1110" dirty="0"/>
          </a:p>
        </p:txBody>
      </p:sp>
      <p:sp>
        <p:nvSpPr>
          <p:cNvPr id="78" name="Shape 76"/>
          <p:cNvSpPr/>
          <p:nvPr/>
        </p:nvSpPr>
        <p:spPr>
          <a:xfrm>
            <a:off x="6272784" y="1225296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12263A"/>
          </a:solidFill>
          <a:ln w="15240">
            <a:solidFill>
              <a:srgbClr val="FF9B5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28816" y="1517904"/>
            <a:ext cx="1389888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583680" y="158648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C09 · 48 HOURS</a:t>
            </a:r>
            <a:endParaRPr 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6528816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足球比賽後第 2 天</a:t>
            </a:r>
            <a:endParaRPr lang="en-US" sz="1700" dirty="0"/>
          </a:p>
        </p:txBody>
      </p:sp>
      <p:sp>
        <p:nvSpPr>
          <p:cNvPr id="82" name="Text 80"/>
          <p:cNvSpPr txBox="1"/>
          <p:nvPr/>
        </p:nvSpPr>
        <p:spPr>
          <a:xfrm>
            <a:off x="6528816" y="234086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n=18 · 男性大學生 · GNSS 外部負荷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528816" y="2807208"/>
            <a:ext cx="1426464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20D4C7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665976" y="2935224"/>
            <a:ext cx="1152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.777</a:t>
            </a:r>
            <a:endParaRPr lang="en-US" sz="2300" dirty="0"/>
          </a:p>
        </p:txBody>
      </p:sp>
      <p:sp>
        <p:nvSpPr>
          <p:cNvPr id="85" name="Text 83"/>
          <p:cNvSpPr txBox="1"/>
          <p:nvPr/>
        </p:nvSpPr>
        <p:spPr>
          <a:xfrm>
            <a:off x="6665976" y="335584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ICC</a:t>
            </a:r>
            <a:endParaRPr lang="en-US" sz="960" dirty="0"/>
          </a:p>
        </p:txBody>
      </p:sp>
      <p:sp>
        <p:nvSpPr>
          <p:cNvPr id="86" name="Text 84"/>
          <p:cNvSpPr txBox="1"/>
          <p:nvPr/>
        </p:nvSpPr>
        <p:spPr>
          <a:xfrm>
            <a:off x="6665976" y="35661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test–retest</a:t>
            </a:r>
            <a:endParaRPr lang="en-US" sz="770" dirty="0"/>
          </a:p>
        </p:txBody>
      </p:sp>
      <p:sp>
        <p:nvSpPr>
          <p:cNvPr id="87" name="Shape 85"/>
          <p:cNvSpPr/>
          <p:nvPr/>
        </p:nvSpPr>
        <p:spPr>
          <a:xfrm>
            <a:off x="8138160" y="2807208"/>
            <a:ext cx="1426464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275320" y="2935224"/>
            <a:ext cx="1152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.64</a:t>
            </a:r>
            <a:endParaRPr lang="en-US" sz="2300" dirty="0"/>
          </a:p>
        </p:txBody>
      </p:sp>
      <p:sp>
        <p:nvSpPr>
          <p:cNvPr id="89" name="Text 87"/>
          <p:cNvSpPr txBox="1"/>
          <p:nvPr/>
        </p:nvSpPr>
        <p:spPr>
          <a:xfrm>
            <a:off x="8275320" y="335584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ΔsLT↔HSD</a:t>
            </a:r>
            <a:endParaRPr lang="en-US" sz="960" dirty="0"/>
          </a:p>
        </p:txBody>
      </p:sp>
      <p:sp>
        <p:nvSpPr>
          <p:cNvPr id="90" name="Text 88"/>
          <p:cNvSpPr txBox="1"/>
          <p:nvPr/>
        </p:nvSpPr>
        <p:spPr>
          <a:xfrm>
            <a:off x="8275320" y="35661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high-speed distance</a:t>
            </a:r>
            <a:endParaRPr lang="en-US" sz="770" dirty="0"/>
          </a:p>
        </p:txBody>
      </p:sp>
      <p:sp>
        <p:nvSpPr>
          <p:cNvPr id="91" name="Shape 89"/>
          <p:cNvSpPr/>
          <p:nvPr/>
        </p:nvSpPr>
        <p:spPr>
          <a:xfrm>
            <a:off x="9747504" y="2807208"/>
            <a:ext cx="1426464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884664" y="2935224"/>
            <a:ext cx="1152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~10W</a:t>
            </a:r>
            <a:endParaRPr lang="en-US" sz="2300" dirty="0"/>
          </a:p>
        </p:txBody>
      </p:sp>
      <p:sp>
        <p:nvSpPr>
          <p:cNvPr id="93" name="Text 91"/>
          <p:cNvSpPr txBox="1"/>
          <p:nvPr/>
        </p:nvSpPr>
        <p:spPr>
          <a:xfrm>
            <a:off x="9884664" y="335584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MDC95</a:t>
            </a:r>
            <a:endParaRPr lang="en-US" sz="960" dirty="0"/>
          </a:p>
        </p:txBody>
      </p:sp>
      <p:sp>
        <p:nvSpPr>
          <p:cNvPr id="94" name="Text 92"/>
          <p:cNvSpPr txBox="1"/>
          <p:nvPr/>
        </p:nvSpPr>
        <p:spPr>
          <a:xfrm>
            <a:off x="9884664" y="356616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該流程限定</a:t>
            </a:r>
            <a:endParaRPr lang="en-US" sz="770" dirty="0"/>
          </a:p>
        </p:txBody>
      </p:sp>
      <p:sp>
        <p:nvSpPr>
          <p:cNvPr id="95" name="Text 93"/>
          <p:cNvSpPr txBox="1"/>
          <p:nvPr/>
        </p:nvSpPr>
        <p:spPr>
          <a:xfrm>
            <a:off x="6583680" y="4178808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高速跑動越多 → 賽後 sLT 越低／越早</a:t>
            </a:r>
            <a:endParaRPr lang="en-US" sz="1210" dirty="0"/>
          </a:p>
        </p:txBody>
      </p:sp>
      <p:sp>
        <p:nvSpPr>
          <p:cNvPr id="96" name="Text 94"/>
          <p:cNvSpPr txBox="1"/>
          <p:nvPr/>
        </p:nvSpPr>
        <p:spPr>
          <a:xfrm>
            <a:off x="6583680" y="47274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未直接對照多模態疲勞標記</a:t>
            </a:r>
            <a:endParaRPr lang="en-US" sz="930" dirty="0"/>
          </a:p>
        </p:txBody>
      </p:sp>
      <p:sp>
        <p:nvSpPr>
          <p:cNvPr id="97" name="Shape 95"/>
          <p:cNvSpPr/>
          <p:nvPr/>
        </p:nvSpPr>
        <p:spPr>
          <a:xfrm>
            <a:off x="960120" y="5705856"/>
            <a:ext cx="10259568" cy="539496"/>
          </a:xfrm>
          <a:prstGeom prst="roundRect">
            <a:avLst>
              <a:gd name="adj" fmla="val 10169"/>
            </a:avLst>
          </a:prstGeom>
          <a:solidFill>
            <a:srgbClr val="0E1D2E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207008" y="5888736"/>
            <a:ext cx="9765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共同缺口：全為年輕男性、小樣本、單中心網絡；沒有女性／年長者／臨床族群的疲勞效度，也沒有通用 cutoff。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BOUNDARY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可以說什麼／不能說什麼：把行銷語言鎖在證據內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188720"/>
            <a:ext cx="5349240" cy="4782312"/>
          </a:xfrm>
          <a:prstGeom prst="roundRect">
            <a:avLst>
              <a:gd name="adj" fmla="val 1147"/>
            </a:avLst>
          </a:prstGeom>
          <a:solidFill>
            <a:srgbClr val="12263A"/>
          </a:solidFill>
          <a:ln w="15240">
            <a:solidFill>
              <a:srgbClr val="B7F0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目前可支持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0392" y="2011680"/>
            <a:ext cx="256032" cy="256032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054657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2002536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非侵入、連續的汗乳酸曲線</a:t>
            </a:r>
            <a:endParaRPr lang="en-US" sz="1180" dirty="0"/>
          </a:p>
        </p:txBody>
      </p:sp>
      <p:sp>
        <p:nvSpPr>
          <p:cNvPr id="13" name="Text 11"/>
          <p:cNvSpPr txBox="1"/>
          <p:nvPr/>
        </p:nvSpPr>
        <p:spPr>
          <a:xfrm>
            <a:off x="1216152" y="224942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在足夠出汗與穩定接觸下取得 1 Hz 連續訊號。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0392" y="2862072"/>
            <a:ext cx="256032" cy="256032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2905049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16152" y="2852928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可近似第一生理轉折</a:t>
            </a:r>
            <a:endParaRPr lang="en-US" sz="1180" dirty="0"/>
          </a:p>
        </p:txBody>
      </p:sp>
      <p:sp>
        <p:nvSpPr>
          <p:cNvPr id="17" name="Text 15"/>
          <p:cNvSpPr txBox="1"/>
          <p:nvPr/>
        </p:nvSpPr>
        <p:spPr>
          <a:xfrm>
            <a:off x="1216152" y="309981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多場景與 LT1／VT1 有中度至高度關聯。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0392" y="3712464"/>
            <a:ext cx="256032" cy="256032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" y="3755441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16152" y="3703320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個人內變化可能反映負荷／恢復</a:t>
            </a:r>
            <a:endParaRPr lang="en-US" sz="1180" dirty="0"/>
          </a:p>
        </p:txBody>
      </p:sp>
      <p:sp>
        <p:nvSpPr>
          <p:cNvPr id="21" name="Text 19"/>
          <p:cNvSpPr txBox="1"/>
          <p:nvPr/>
        </p:nvSpPr>
        <p:spPr>
          <a:xfrm>
            <a:off x="1216152" y="395020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兩篇疲勞研究方向一致，但應標示 preliminary。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0392" y="4562856"/>
            <a:ext cx="256032" cy="256032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" y="4605833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16152" y="4553712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資料不足可以被辨識</a:t>
            </a:r>
            <a:endParaRPr lang="en-US" sz="1180" dirty="0"/>
          </a:p>
        </p:txBody>
      </p:sp>
      <p:sp>
        <p:nvSpPr>
          <p:cNvPr id="25" name="Text 23"/>
          <p:cNvSpPr txBox="1"/>
          <p:nvPr/>
        </p:nvSpPr>
        <p:spPr>
          <a:xfrm>
            <a:off x="1216152" y="48006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晚汗、低汗、多轉折與訊號不穩應回傳不可判讀。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72784" y="1188720"/>
            <a:ext cx="5349240" cy="4782312"/>
          </a:xfrm>
          <a:prstGeom prst="roundRect">
            <a:avLst>
              <a:gd name="adj" fmla="val 1147"/>
            </a:avLst>
          </a:prstGeom>
          <a:solidFill>
            <a:srgbClr val="12263A"/>
          </a:solidFill>
          <a:ln w="15240">
            <a:solidFill>
              <a:srgbClr val="FF657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56248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6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目前不支持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56248" y="2011680"/>
            <a:ext cx="256032" cy="256032"/>
          </a:xfrm>
          <a:prstGeom prst="hexagon">
            <a:avLst/>
          </a:prstGeom>
          <a:solidFill>
            <a:srgbClr val="FF6577"/>
          </a:solidFill>
          <a:ln w="12700">
            <a:solidFill>
              <a:srgbClr val="FF657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56248" y="2054657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22008" y="2002536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汗濃度直接等於血濃度</a:t>
            </a:r>
            <a:endParaRPr lang="en-US" sz="1180" dirty="0"/>
          </a:p>
        </p:txBody>
      </p:sp>
      <p:sp>
        <p:nvSpPr>
          <p:cNvPr id="31" name="Text 29"/>
          <p:cNvSpPr txBox="1"/>
          <p:nvPr/>
        </p:nvSpPr>
        <p:spPr>
          <a:xfrm>
            <a:off x="6922008" y="224942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汗腺局部代謝與汗率使兩種體液不可直接互換。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56248" y="2862072"/>
            <a:ext cx="256032" cy="256032"/>
          </a:xfrm>
          <a:prstGeom prst="hexagon">
            <a:avLst/>
          </a:prstGeom>
          <a:solidFill>
            <a:srgbClr val="FF6577"/>
          </a:solidFill>
          <a:ln w="12700">
            <a:solidFill>
              <a:srgbClr val="FF657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56248" y="2905049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22008" y="2852928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單次絕對值就是疲勞</a:t>
            </a:r>
            <a:endParaRPr lang="en-US" sz="118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309981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沒有通用 μA／mmol/L 疲勞切點或 0–100 公式。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56248" y="3712464"/>
            <a:ext cx="256032" cy="256032"/>
          </a:xfrm>
          <a:prstGeom prst="hexagon">
            <a:avLst/>
          </a:prstGeom>
          <a:solidFill>
            <a:srgbClr val="FF6577"/>
          </a:solidFill>
          <a:ln w="12700">
            <a:solidFill>
              <a:srgbClr val="FF6577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6248" y="3755441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922008" y="3703320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已診斷過度訓練／受傷風險</a:t>
            </a:r>
            <a:endParaRPr lang="en-US" sz="1180" dirty="0"/>
          </a:p>
        </p:txBody>
      </p:sp>
      <p:sp>
        <p:nvSpPr>
          <p:cNvPr id="39" name="Text 37"/>
          <p:cNvSpPr txBox="1"/>
          <p:nvPr/>
        </p:nvSpPr>
        <p:spPr>
          <a:xfrm>
            <a:off x="6922008" y="395020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沒有臨床結果或傷害預測試驗。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56248" y="4562856"/>
            <a:ext cx="256032" cy="256032"/>
          </a:xfrm>
          <a:prstGeom prst="hexagon">
            <a:avLst/>
          </a:prstGeom>
          <a:solidFill>
            <a:srgbClr val="FF6577"/>
          </a:solidFill>
          <a:ln w="12700">
            <a:solidFill>
              <a:srgbClr val="FF6577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56248" y="4605833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22008" y="4553712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可完全取代 CPET／完整評估</a:t>
            </a:r>
            <a:endParaRPr lang="en-US" sz="1180" dirty="0"/>
          </a:p>
        </p:txBody>
      </p:sp>
      <p:sp>
        <p:nvSpPr>
          <p:cNvPr id="43" name="Text 41"/>
          <p:cNvSpPr txBox="1"/>
          <p:nvPr/>
        </p:nvSpPr>
        <p:spPr>
          <a:xfrm>
            <a:off x="6922008" y="480060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HF 可分析率與女性延遲顯示仍需替代方案與複核。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DISPLAY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建議畫面：四層資訊，不把 μA 放成疲勞分數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4663440" cy="5138928"/>
          </a:xfrm>
          <a:prstGeom prst="roundRect">
            <a:avLst>
              <a:gd name="adj" fmla="val 1176"/>
            </a:avLst>
          </a:prstGeom>
          <a:solidFill>
            <a:srgbClr val="0A1726"/>
          </a:solidFill>
          <a:ln w="17780">
            <a:solidFill>
              <a:srgbClr val="20D4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141732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今日恢復趨勢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5848" y="1371600"/>
            <a:ext cx="1417320" cy="310896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44018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 PASS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029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78EA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124 W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2852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148 bpm  ·  08:14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9536" y="3337560"/>
            <a:ext cx="4078224" cy="950976"/>
          </a:xfrm>
          <a:prstGeom prst="roundRect">
            <a:avLst>
              <a:gd name="adj" fmla="val 5769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547872"/>
            <a:ext cx="1024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−9%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5112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相對個人同流程基準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8221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超過個人 MDC → 可能降低，建議複核</a:t>
            </a:r>
            <a:endParaRPr lang="en-US" sz="86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4681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54480" y="4700016"/>
            <a:ext cx="3383280" cy="155448"/>
          </a:xfrm>
          <a:prstGeom prst="roundRect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4700016"/>
            <a:ext cx="2578608" cy="155448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5084064"/>
            <a:ext cx="4078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出汗已開始 · 基線穩定 · 室溫相符</a:t>
            </a:r>
            <a:endParaRPr lang="en-US" sz="91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5779008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FF6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示意數字，非已驗證 cutoff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577840" y="1225296"/>
            <a:ext cx="6044184" cy="941832"/>
          </a:xfrm>
          <a:prstGeom prst="roundRect">
            <a:avLst>
              <a:gd name="adj" fmla="val 5825"/>
            </a:avLst>
          </a:prstGeom>
          <a:solidFill>
            <a:srgbClr val="1226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435608"/>
            <a:ext cx="475488" cy="47548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06440" y="158191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139903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1764792"/>
            <a:ext cx="4709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汗起始・汗率・接觸・基線・環境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577840" y="2414016"/>
            <a:ext cx="6044184" cy="941832"/>
          </a:xfrm>
          <a:prstGeom prst="roundRect">
            <a:avLst>
              <a:gd name="adj" fmla="val 5825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2624328"/>
            <a:ext cx="475488" cy="475488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06440" y="277063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510528" y="258775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 sLT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510528" y="2953512"/>
            <a:ext cx="4709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時間・功率／速度・當下心率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577840" y="3602736"/>
            <a:ext cx="6044184" cy="941832"/>
          </a:xfrm>
          <a:prstGeom prst="roundRect">
            <a:avLst>
              <a:gd name="adj" fmla="val 5825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3813048"/>
            <a:ext cx="475488" cy="475488"/>
          </a:xfrm>
          <a:prstGeom prst="ellipse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06440" y="395935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377647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個人內變化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10528" y="4142232"/>
            <a:ext cx="4709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同流程 rolling baseline + MDC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577840" y="4791456"/>
            <a:ext cx="6044184" cy="941832"/>
          </a:xfrm>
          <a:prstGeom prst="roundRect">
            <a:avLst>
              <a:gd name="adj" fmla="val 5825"/>
            </a:avLst>
          </a:prstGeom>
          <a:solidFill>
            <a:srgbClr val="12263A"/>
          </a:solidFill>
          <a:ln w="12700">
            <a:solidFill>
              <a:srgbClr val="6BB7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06440" y="5001768"/>
            <a:ext cx="475488" cy="475488"/>
          </a:xfrm>
          <a:prstGeom prst="ellipse">
            <a:avLst/>
          </a:prstGeom>
          <a:solidFill>
            <a:srgbClr val="6BB7FF"/>
          </a:solidFill>
          <a:ln w="12700">
            <a:solidFill>
              <a:srgbClr val="6BB7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06440" y="514807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510528" y="49651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複核訊息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510528" y="5330952"/>
            <a:ext cx="4709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RPE／HRV／CMJ／睡眠／外部負荷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943600" y="6044184"/>
            <a:ext cx="5312664" cy="256032"/>
          </a:xfrm>
          <a:prstGeom prst="roundRect">
            <a:avLst>
              <a:gd name="adj" fmla="val 21429"/>
            </a:avLst>
          </a:prstGeom>
          <a:solidFill>
            <a:srgbClr val="FF6577">
              <a:alpha val="14000"/>
            </a:srgbClr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44768" y="6117336"/>
            <a:ext cx="4910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無法判讀也是合法結果；禁止用插值偽造疲勞分數。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LOGIC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最小判讀演算法：先 QC，再 ΔsLT，最後才談恢復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1947672" cy="1344168"/>
          </a:xfrm>
          <a:prstGeom prst="roundRect">
            <a:avLst>
              <a:gd name="adj" fmla="val 4082"/>
            </a:avLst>
          </a:prstGeom>
          <a:solidFill>
            <a:srgbClr val="1226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463040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15590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70" dirty="0"/>
          </a:p>
        </p:txBody>
      </p:sp>
      <p:sp>
        <p:nvSpPr>
          <p:cNvPr id="11" name="Text 9"/>
          <p:cNvSpPr txBox="1"/>
          <p:nvPr/>
        </p:nvSpPr>
        <p:spPr>
          <a:xfrm>
            <a:off x="1106424" y="14630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QC PASS?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011680"/>
            <a:ext cx="1655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出汗、基線、接觸、環境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2578608" y="1783080"/>
            <a:ext cx="201168" cy="329184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43784" y="1325880"/>
            <a:ext cx="1947672" cy="1344168"/>
          </a:xfrm>
          <a:prstGeom prst="roundRect">
            <a:avLst>
              <a:gd name="adj" fmla="val 4082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53512" y="1463040"/>
            <a:ext cx="347472" cy="347472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53512" y="15590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7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4630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同流程？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2990088" y="2011680"/>
            <a:ext cx="1655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部位、暖身、負荷斜率一致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4855464" y="1783080"/>
            <a:ext cx="201168" cy="329184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325880"/>
            <a:ext cx="1947672" cy="1344168"/>
          </a:xfrm>
          <a:prstGeom prst="roundRect">
            <a:avLst>
              <a:gd name="adj" fmla="val 4082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1463040"/>
            <a:ext cx="347472" cy="347472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30368" y="15590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5660136" y="14630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 ΔsLT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5266944" y="2011680"/>
            <a:ext cx="1655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相對個人 3–5 次中位數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7132320" y="1783080"/>
            <a:ext cx="201168" cy="329184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97496" y="1325880"/>
            <a:ext cx="1947672" cy="1344168"/>
          </a:xfrm>
          <a:prstGeom prst="roundRect">
            <a:avLst>
              <a:gd name="adj" fmla="val 4082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07224" y="1463040"/>
            <a:ext cx="347472" cy="347472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07224" y="15590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7936992" y="14630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MDC？</a:t>
            </a:r>
            <a:endParaRPr lang="en-US" sz="126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2011680"/>
            <a:ext cx="1655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LA-01 自建 individual error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9409176" y="1783080"/>
            <a:ext cx="201168" cy="329184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74352" y="1325880"/>
            <a:ext cx="1947672" cy="1344168"/>
          </a:xfrm>
          <a:prstGeom prst="roundRect">
            <a:avLst>
              <a:gd name="adj" fmla="val 4082"/>
            </a:avLst>
          </a:prstGeom>
          <a:solidFill>
            <a:srgbClr val="12263A"/>
          </a:solidFill>
          <a:ln w="12700">
            <a:solidFill>
              <a:srgbClr val="6BB7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1463040"/>
            <a:ext cx="347472" cy="347472"/>
          </a:xfrm>
          <a:prstGeom prst="ellipse">
            <a:avLst/>
          </a:prstGeom>
          <a:solidFill>
            <a:srgbClr val="6BB7FF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0" y="15590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70" dirty="0"/>
          </a:p>
        </p:txBody>
      </p:sp>
      <p:sp>
        <p:nvSpPr>
          <p:cNvPr id="35" name="Text 33"/>
          <p:cNvSpPr txBox="1"/>
          <p:nvPr/>
        </p:nvSpPr>
        <p:spPr>
          <a:xfrm>
            <a:off x="10213848" y="146304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第二指標？</a:t>
            </a:r>
            <a:endParaRPr lang="en-US" sz="1260" dirty="0"/>
          </a:p>
        </p:txBody>
      </p:sp>
      <p:sp>
        <p:nvSpPr>
          <p:cNvPr id="36" name="Text 34"/>
          <p:cNvSpPr txBox="1"/>
          <p:nvPr/>
        </p:nvSpPr>
        <p:spPr>
          <a:xfrm>
            <a:off x="9820656" y="2011680"/>
            <a:ext cx="1655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同方向才升級提醒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566928" y="3063240"/>
            <a:ext cx="6693408" cy="2304288"/>
          </a:xfrm>
          <a:prstGeom prst="roundRect">
            <a:avLst>
              <a:gd name="adj" fmla="val 2381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1248" y="33558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40" kern="0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PSEUDOCODE</a:t>
            </a:r>
            <a:endParaRPr lang="en-US" sz="920" dirty="0"/>
          </a:p>
        </p:txBody>
      </p:sp>
      <p:sp>
        <p:nvSpPr>
          <p:cNvPr id="39" name="Text 37"/>
          <p:cNvSpPr txBox="1"/>
          <p:nvPr/>
        </p:nvSpPr>
        <p:spPr>
          <a:xfrm>
            <a:off x="841248" y="3675888"/>
            <a:ext cx="614476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QC != PASS or protocol != MATCH: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UNAVAILABLE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delta = sLT_today - personal_baseline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abs(delta) &lt;= individual_MDC: STABLE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delta &lt; -individual_MDC: POSSIBLE_REDUCED_READINESS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D8E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POSSIBLE_IMPROVEMENT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7525512" y="3063240"/>
            <a:ext cx="4096512" cy="2304288"/>
          </a:xfrm>
          <a:prstGeom prst="roundRect">
            <a:avLst>
              <a:gd name="adj" fmla="val 2381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90688" y="337413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必要保護欄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7790688" y="3895344"/>
            <a:ext cx="118872" cy="1188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91856" y="3849624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MDC 不能借用</a:t>
            </a:r>
            <a:endParaRPr lang="en-US" sz="1220" dirty="0"/>
          </a:p>
        </p:txBody>
      </p:sp>
      <p:sp>
        <p:nvSpPr>
          <p:cNvPr id="44" name="Text 42"/>
          <p:cNvSpPr txBox="1"/>
          <p:nvPr/>
        </p:nvSpPr>
        <p:spPr>
          <a:xfrm>
            <a:off x="7991856" y="409651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足球研究約 10 W 只限該流程。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7790688" y="4553712"/>
            <a:ext cx="118872" cy="118872"/>
          </a:xfrm>
          <a:prstGeom prst="ellipse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91856" y="4507992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負向只叫「可能」</a:t>
            </a:r>
            <a:endParaRPr lang="en-US" sz="1220" dirty="0"/>
          </a:p>
        </p:txBody>
      </p:sp>
      <p:sp>
        <p:nvSpPr>
          <p:cNvPr id="47" name="Text 45"/>
          <p:cNvSpPr txBox="1"/>
          <p:nvPr/>
        </p:nvSpPr>
        <p:spPr>
          <a:xfrm>
            <a:off x="7991856" y="475488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單次下降不能診斷過度訓練。</a:t>
            </a:r>
            <a:endParaRPr lang="en-US" sz="1010" dirty="0"/>
          </a:p>
        </p:txBody>
      </p:sp>
      <p:sp>
        <p:nvSpPr>
          <p:cNvPr id="48" name="Shape 46"/>
          <p:cNvSpPr/>
          <p:nvPr/>
        </p:nvSpPr>
        <p:spPr>
          <a:xfrm>
            <a:off x="1307592" y="5769864"/>
            <a:ext cx="9573768" cy="411480"/>
          </a:xfrm>
          <a:prstGeom prst="roundRect">
            <a:avLst>
              <a:gd name="adj" fmla="val 13333"/>
            </a:avLst>
          </a:prstGeom>
          <a:solidFill>
            <a:srgbClr val="20D4C7">
              <a:alpha val="13000"/>
            </a:srgbClr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554480" y="5907024"/>
            <a:ext cx="9079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 baseline：同部位、同環境範圍、同負荷 protocol 的最近 3–5 次有效測試中位數。</a:t>
            </a:r>
            <a:endParaRPr lang="en-US" sz="9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ROADMAP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驗證路線：把「可測」推進到「可做個人決策」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2523744" cy="3950208"/>
          </a:xfrm>
          <a:prstGeom prst="roundRect">
            <a:avLst>
              <a:gd name="adj" fmla="val 2174"/>
            </a:avLst>
          </a:prstGeom>
          <a:solidFill>
            <a:srgbClr val="12263A"/>
          </a:solidFill>
          <a:ln w="16510">
            <a:solidFill>
              <a:srgbClr val="20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36192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160477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75688"/>
            <a:ext cx="2157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分析可靠度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7889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同日／跨日 test–retest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CV・SEM・MDC95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32688" y="3867912"/>
            <a:ext cx="1792224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18795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 protocol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2880360"/>
            <a:ext cx="173736" cy="411480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298448"/>
            <a:ext cx="2523744" cy="3950208"/>
          </a:xfrm>
          <a:prstGeom prst="roundRect">
            <a:avLst>
              <a:gd name="adj" fmla="val 2174"/>
            </a:avLst>
          </a:prstGeom>
          <a:solidFill>
            <a:srgbClr val="12263A"/>
          </a:solidFill>
          <a:ln w="16510">
            <a:solidFill>
              <a:srgbClr val="B7F0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536192"/>
            <a:ext cx="530352" cy="310896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75304" y="160477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2075688"/>
            <a:ext cx="2157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族群與場景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27889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女性・低汗・年長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不同部位／溫濕度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703320" y="3867912"/>
            <a:ext cx="1792224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418795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避免選樣偏差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2880360"/>
            <a:ext cx="173736" cy="411480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1298448"/>
            <a:ext cx="2523744" cy="3950208"/>
          </a:xfrm>
          <a:prstGeom prst="roundRect">
            <a:avLst>
              <a:gd name="adj" fmla="val 2174"/>
            </a:avLst>
          </a:prstGeom>
          <a:solidFill>
            <a:srgbClr val="12263A"/>
          </a:solidFill>
          <a:ln w="16510">
            <a:solidFill>
              <a:srgbClr val="FF9B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1536192"/>
            <a:ext cx="530352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45936" y="160477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2075688"/>
            <a:ext cx="2157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疲勞效度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27889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RPE・HRV・CMJ・CK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睡眠・GNSS 負荷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473952" y="3867912"/>
            <a:ext cx="1792224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36792" y="418795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多模態模型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68512" y="2880360"/>
            <a:ext cx="173736" cy="411480"/>
          </a:xfrm>
          <a:prstGeom prst="chevron">
            <a:avLst/>
          </a:prstGeom>
          <a:solidFill>
            <a:srgbClr val="27435A"/>
          </a:solidFill>
          <a:ln w="12700">
            <a:solidFill>
              <a:srgbClr val="27435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78824" y="1298448"/>
            <a:ext cx="2523744" cy="3950208"/>
          </a:xfrm>
          <a:prstGeom prst="roundRect">
            <a:avLst>
              <a:gd name="adj" fmla="val 2174"/>
            </a:avLst>
          </a:prstGeom>
          <a:solidFill>
            <a:srgbClr val="12263A"/>
          </a:solidFill>
          <a:ln w="16510">
            <a:solidFill>
              <a:srgbClr val="B59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61704" y="1536192"/>
            <a:ext cx="530352" cy="310896"/>
          </a:xfrm>
          <a:prstGeom prst="roundRect">
            <a:avLst/>
          </a:prstGeom>
          <a:solidFill>
            <a:srgbClr val="B59CFF"/>
          </a:solidFill>
          <a:ln w="12700">
            <a:solidFill>
              <a:srgbClr val="B59C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16568" y="160477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061704" y="2075688"/>
            <a:ext cx="2157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9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臨床／外部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107424" y="2788920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多中心・預註冊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盲化・自動演算法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9244584" y="3867912"/>
            <a:ext cx="1792224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07424" y="418795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獨立重現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2688" y="5605272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0E1D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5797296"/>
            <a:ext cx="9820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先分開驗證｜</a:t>
            </a:r>
            <a:pPr algn="ctr" indent="0" marL="0">
              <a:buNone/>
            </a:pPr>
            <a:r>
              <a:rPr lang="en-US" sz="10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「找 AeT／LT1」與「判讀疲勞」是兩個不同 intended use；前者證據較多，不代表後者自動成立。</a:t>
            </a:r>
            <a:endParaRPr lang="en-US" sz="10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利益衝突與書目 QA：透明揭露，不等於獨立驗證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216152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1344168"/>
            <a:ext cx="1783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11/11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17647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核心文揭露公司關係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19751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founder / CEO / president / shares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834640" y="1216152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65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1344168"/>
            <a:ext cx="1783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65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17647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本集合外部獨立研究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19751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依納入條件都含 Nakashima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5102352" y="1216152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3970">
            <a:solidFill>
              <a:srgbClr val="FF9B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1344168"/>
            <a:ext cx="1783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17647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 DOI 文字誤植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19751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連結／出版社核對修正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370064" y="1216152"/>
            <a:ext cx="4251960" cy="1024128"/>
          </a:xfrm>
          <a:prstGeom prst="roundRect">
            <a:avLst>
              <a:gd name="adj" fmla="val 5357"/>
            </a:avLst>
          </a:prstGeom>
          <a:solidFill>
            <a:srgbClr val="12263A"/>
          </a:solidFill>
          <a:ln w="12700">
            <a:solidFill>
              <a:srgbClr val="B7F0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6096" y="14264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透明度加分項</a:t>
            </a:r>
            <a:endParaRPr lang="en-US" sz="970" dirty="0"/>
          </a:p>
        </p:txBody>
      </p:sp>
      <p:sp>
        <p:nvSpPr>
          <p:cNvPr id="22" name="Text 20"/>
          <p:cNvSpPr txBox="1"/>
          <p:nvPr/>
        </p:nvSpPr>
        <p:spPr>
          <a:xfrm>
            <a:off x="7626096" y="17190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多篇明載未參與資料取得／分析，或公司未參與。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566928" y="2624328"/>
            <a:ext cx="5358384" cy="3108960"/>
          </a:xfrm>
          <a:prstGeom prst="roundRect">
            <a:avLst>
              <a:gd name="adj" fmla="val 1765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290779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COI 仍需補強的設計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1248" y="3456432"/>
            <a:ext cx="118872" cy="118872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2416" y="3410712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事前鎖定</a:t>
            </a:r>
            <a:endParaRPr lang="en-US" sz="122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3657600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自動閾值演算法、排除條件與主要分析集。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841248" y="4133088"/>
            <a:ext cx="118872" cy="118872"/>
          </a:xfrm>
          <a:prstGeom prst="ellipse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" y="408736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完整失敗資料</a:t>
            </a:r>
            <a:endParaRPr lang="en-US" sz="122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" y="4334256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無汗、晚汗、多轉折與無法判讀不能消失。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841248" y="4809744"/>
            <a:ext cx="118872" cy="118872"/>
          </a:xfrm>
          <a:prstGeom prst="ellipse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2416" y="4764024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外部複現</a:t>
            </a:r>
            <a:endParaRPr lang="en-US" sz="122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" y="501091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無股權／無公司作者團隊，多中心盲化驗證。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6217920" y="2624328"/>
            <a:ext cx="5404104" cy="3108960"/>
          </a:xfrm>
          <a:prstGeom prst="roundRect">
            <a:avLst>
              <a:gd name="adj" fmla="val 1765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290779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本次書目 QA 發現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34564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官網文字</a:t>
            </a:r>
            <a:endParaRPr lang="en-US" sz="920" dirty="0"/>
          </a:p>
        </p:txBody>
      </p:sp>
      <p:sp>
        <p:nvSpPr>
          <p:cNvPr id="37" name="Text 35"/>
          <p:cNvSpPr txBox="1"/>
          <p:nvPr/>
        </p:nvSpPr>
        <p:spPr>
          <a:xfrm>
            <a:off x="7562088" y="34381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65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phy2.17002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979408" y="3438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0" y="34381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phy2.71002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41056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官網文字</a:t>
            </a:r>
            <a:endParaRPr lang="en-US" sz="920" dirty="0"/>
          </a:p>
        </p:txBody>
      </p:sp>
      <p:sp>
        <p:nvSpPr>
          <p:cNvPr id="41" name="Text 39"/>
          <p:cNvSpPr txBox="1"/>
          <p:nvPr/>
        </p:nvSpPr>
        <p:spPr>
          <a:xfrm>
            <a:off x="7562088" y="40873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65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10.10002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979408" y="4087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40873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7F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10.1002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47548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漏列</a:t>
            </a:r>
            <a:endParaRPr lang="en-US" sz="920" dirty="0"/>
          </a:p>
        </p:txBody>
      </p:sp>
      <p:sp>
        <p:nvSpPr>
          <p:cNvPr id="45" name="Text 43"/>
          <p:cNvSpPr txBox="1"/>
          <p:nvPr/>
        </p:nvSpPr>
        <p:spPr>
          <a:xfrm>
            <a:off x="7562088" y="47365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健康女性 2026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5166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只看公司 Paper 頁會漏文；應與 PubMed／作者索引交叉。</a:t>
            </a:r>
            <a:endParaRPr lang="en-US" sz="9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 TRACKER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持續追蹤：每季四路查詢，保留 online 與 issue 日期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66928" y="1271016"/>
            <a:ext cx="2532888" cy="1225296"/>
          </a:xfrm>
          <a:prstGeom prst="roundRect">
            <a:avLst>
              <a:gd name="adj" fmla="val 4478"/>
            </a:avLst>
          </a:prstGeom>
          <a:solidFill>
            <a:srgbClr val="12263A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554480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ORCID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11680"/>
            <a:ext cx="2203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0000-0003-1105-2669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337560" y="1271016"/>
            <a:ext cx="2532888" cy="1225296"/>
          </a:xfrm>
          <a:prstGeom prst="roundRect">
            <a:avLst>
              <a:gd name="adj" fmla="val 4478"/>
            </a:avLst>
          </a:prstGeom>
          <a:solidFill>
            <a:srgbClr val="12263A"/>
          </a:solidFill>
          <a:ln w="12700">
            <a:solidFill>
              <a:srgbClr val="6BB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554480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011680"/>
            <a:ext cx="2203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Nakashima D + sweat + lactate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108192" y="1271016"/>
            <a:ext cx="2532888" cy="1225296"/>
          </a:xfrm>
          <a:prstGeom prst="roundRect">
            <a:avLst>
              <a:gd name="adj" fmla="val 4478"/>
            </a:avLst>
          </a:prstGeom>
          <a:solidFill>
            <a:srgbClr val="12263A"/>
          </a:solidFill>
          <a:ln w="12700">
            <a:solidFill>
              <a:srgbClr val="B59C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1554480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Crossref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2011680"/>
            <a:ext cx="2203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 + keyword + DOI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8878824" y="1271016"/>
            <a:ext cx="2532888" cy="1225296"/>
          </a:xfrm>
          <a:prstGeom prst="roundRect">
            <a:avLst>
              <a:gd name="adj" fmla="val 4478"/>
            </a:avLst>
          </a:prstGeom>
          <a:solidFill>
            <a:srgbClr val="12263A"/>
          </a:solidFill>
          <a:ln w="12700">
            <a:solidFill>
              <a:srgbClr val="FF9B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43416" y="1554480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 / J-GLOBAL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43416" y="2011680"/>
            <a:ext cx="2203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3A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Paper + News + 作者頁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66928" y="2834640"/>
            <a:ext cx="6565392" cy="3035808"/>
          </a:xfrm>
          <a:prstGeom prst="roundRect">
            <a:avLst>
              <a:gd name="adj" fmla="val 1807"/>
            </a:avLst>
          </a:prstGeom>
          <a:solidFill>
            <a:srgbClr val="0E1D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13639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新增文章最小欄位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9536" y="3749040"/>
            <a:ext cx="118872" cy="118872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0704" y="3712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online date／issue date／DOI／PMID／PMCID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3749040"/>
            <a:ext cx="118872" cy="118872"/>
          </a:xfrm>
          <a:prstGeom prst="ellipse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33088" y="3712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族群・性別・年齡・部位・環境・protocol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9536" y="4379976"/>
            <a:ext cx="118872" cy="118872"/>
          </a:xfrm>
          <a:prstGeom prst="ellipse">
            <a:avLst/>
          </a:prstGeom>
          <a:solidFill>
            <a:srgbClr val="6BB7FF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0704" y="4343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 定義・演算法・盲化・可分析率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31920" y="4379976"/>
            <a:ext cx="118872" cy="118872"/>
          </a:xfrm>
          <a:prstGeom prst="ellipse">
            <a:avLst/>
          </a:prstGeom>
          <a:solidFill>
            <a:srgbClr val="6BB7FF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33088" y="4343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相關＋agreement＋ICC／SEM／MDC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9536" y="5010912"/>
            <a:ext cx="118872" cy="118872"/>
          </a:xfrm>
          <a:prstGeom prst="ellipse">
            <a:avLst/>
          </a:prstGeom>
          <a:solidFill>
            <a:srgbClr val="FF9B5E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0704" y="4974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COI・公司參與・設備提供・專利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31920" y="5010912"/>
            <a:ext cx="118872" cy="118872"/>
          </a:xfrm>
          <a:prstGeom prst="ellipse">
            <a:avLst/>
          </a:prstGeom>
          <a:solidFill>
            <a:srgbClr val="FF9B5E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33088" y="4974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是否真正支援疲勞，而非只有閾值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06640" y="2834640"/>
            <a:ext cx="4215384" cy="3035808"/>
          </a:xfrm>
          <a:prstGeom prst="roundRect">
            <a:avLst>
              <a:gd name="adj" fmla="val 1807"/>
            </a:avLst>
          </a:prstGeom>
          <a:solidFill>
            <a:srgbClr val="12263A"/>
          </a:solidFill>
          <a:ln w="12700">
            <a:solidFill>
              <a:srgbClr val="B7F06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0" y="313639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本次可更新交付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717536" y="3694176"/>
            <a:ext cx="34198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逐篇繁中 Markdown 報告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27 欄、14 筆 CSV 追蹤表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研究簡報（本檔）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ZIP 一次下載包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1298448" y="6126480"/>
            <a:ext cx="9592056" cy="237744"/>
          </a:xfrm>
          <a:prstGeom prst="roundRect">
            <a:avLst>
              <a:gd name="adj" fmla="val 23077"/>
            </a:avLst>
          </a:prstGeom>
          <a:solidFill>
            <a:srgbClr val="20D4C7">
              <a:alpha val="12000"/>
            </a:srgbClr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517904" y="6190488"/>
            <a:ext cx="9153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建議頻率：每季固定更新；出現新 DOI／臨床試驗結果時即時增量更新。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核心文獻 1/2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612648" y="1124712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119329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84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115568"/>
            <a:ext cx="9912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Seki Y, Nakashima D, et al. A novel device for detecting anaerobic threshold using sweat lactate during exercise. Scientific Reports. 2021;11:4929.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353312" y="158191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10.1038/s41598-021-84381-9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12648" y="1956816"/>
            <a:ext cx="530352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202539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C02</a:t>
            </a:r>
            <a:endParaRPr lang="en-US" sz="84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1947672"/>
            <a:ext cx="9912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Okawara H, Sawada T, Nakashima D, et al. Kinetic changes in sweat lactate following fatigue during constant workload exercise. Physiological Reports. 2022;10:e15169.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353312" y="241401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10.14814/phy2.15169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12648" y="2788920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28575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C03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2779776"/>
            <a:ext cx="9912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Sawada T, Okawara H, Nakashima D, et al. Constant Load Pedaling Exercise Combined with Electrical Muscle Stimulation Leads to an Early Increase in Sweat Lactate Levels. Sensors. 2022;22:9585.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353312" y="32461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10.3390/s22249585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12648" y="3621024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368960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C04</a:t>
            </a:r>
            <a:endParaRPr lang="en-US" sz="84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611880"/>
            <a:ext cx="9912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Maeda Y, Okawara H, Sawada T, Nakashima D, et al. Implications of the Onset of Sweating on the Sweat Lactate Threshold. Sensors. 2023;23:3378.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1353312" y="40782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10.3390/s23073378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12648" y="4453128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452170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C05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4443984"/>
            <a:ext cx="9912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Muramoto Y, Nakashima D, et al. Estimation of maximal lactate steady state using the sweat lactate sensor. Scientific Reports. 2023;13:10366.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353312" y="49103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10.1038/s41598-023-36983-8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12648" y="5285232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53538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C06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1353312" y="5276088"/>
            <a:ext cx="9912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Okawara H, Iwasawa Y, Sawada T, et al. Anaerobic threshold using sweat lactate sensor under hypoxia. Scientific Reports. 2023;13:22865.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1353312" y="574243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10.1038/s41598-023-49369-7</a:t>
            </a:r>
            <a:endParaRPr lang="en-US" sz="8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核心文獻 2/2 ＋ 支援文章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612648" y="1078992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114757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C07</a:t>
            </a:r>
            <a:endParaRPr lang="en-US" sz="84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069848"/>
            <a:ext cx="9912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Okawara H, Sawada T, Nakashima D, et al. Lactate threshold evaluation in swimming using a sweat lactate sensor. European Journal of Sport Science. 2024;24:1302–1312.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53312" y="149047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10.1002/ejsc.12179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12648" y="1865376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19339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C08</a:t>
            </a:r>
            <a:endParaRPr lang="en-US" sz="84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1856232"/>
            <a:ext cx="9912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Katsumata Y, Muramoto Y, et al. Sweat lactate sensor for detecting anaerobic threshold in heart failure: LacS-001. Scientific Reports. 2024;14:18985.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53312" y="22768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10.1038/s41598-024-70001-9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12648" y="2651760"/>
            <a:ext cx="530352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27203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C09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2642616"/>
            <a:ext cx="9912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Takemoto A, Okawara H, Sudo T, et al. A novel fatigue monitoring system using sweat lactate: a preliminary study. Fatigue. Online 2025; issue 2026;14:27–41.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53312" y="306324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10.1080/21641846.2025.2554557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12648" y="3438144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350672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</a:t>
            </a:r>
            <a:endParaRPr lang="en-US" sz="84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429000"/>
            <a:ext cx="9912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Sawada T, Okawara H, Narushima S, et al. Aerobic Threshold Evaluation Using a Sweat Lactate Sensor in Healthy Women. IJSM. 2026;47:425–432.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53312" y="38496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10.1055/a-2771-5130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12648" y="4224528"/>
            <a:ext cx="530352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429310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C11</a:t>
            </a:r>
            <a:endParaRPr lang="en-US" sz="84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4215384"/>
            <a:ext cx="9912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Sawada T, Okawara H, Minami K, et al. Validation of aerobic threshold assessment during arm crank exercise. Physiological Reports. 2026;14:e71002.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53312" y="46360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u="sng" dirty="0">
                <a:solidFill>
                  <a:srgbClr val="78EAE0"/>
                </a:solidFill>
                <a:uFill>
                  <a:solidFill>
                    <a:srgbClr val="78EAE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10.14814/phy2.71002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12648" y="5193792"/>
            <a:ext cx="10991088" cy="896112"/>
          </a:xfrm>
          <a:prstGeom prst="roundRect">
            <a:avLst>
              <a:gd name="adj" fmla="val 6122"/>
            </a:avLst>
          </a:prstGeom>
          <a:solidFill>
            <a:srgbClr val="12263A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544982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B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支援文章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057400" y="5440680"/>
            <a:ext cx="9098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D8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S01 · PLOS ONE 2021 · 10.1371/journal.pone.0257549    |    S02 · Sensors 2022 · 10.3390/s22155473</a:t>
            </a:r>
            <a:endParaRPr lang="en-US" sz="91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5769864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相鄰排除 X01 · EXERCISE-HF · 10.1016/j.conctc.2025.101522（無汗乳酸終點）</a:t>
            </a:r>
            <a:endParaRPr lang="en-US" sz="8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5720"/>
            <a:ext cx="1508760" cy="1508760"/>
          </a:xfrm>
          <a:prstGeom prst="ellipse">
            <a:avLst/>
          </a:prstGeom>
          <a:solidFill>
            <a:srgbClr val="20D4C7">
              <a:alpha val="6000"/>
            </a:srgbClr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9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spc="120" kern="0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89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結論：用 sLT 做個人趨勢；不要把汗濃度變成偽精準疲勞分數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922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20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3474720" cy="2423160"/>
          </a:xfrm>
          <a:prstGeom prst="roundRect">
            <a:avLst>
              <a:gd name="adj" fmla="val 2264"/>
            </a:avLst>
          </a:prstGeom>
          <a:solidFill>
            <a:srgbClr val="12263A"/>
          </a:solidFill>
          <a:ln w="16510">
            <a:solidFill>
              <a:srgbClr val="20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645920"/>
            <a:ext cx="566928" cy="310896"/>
          </a:xfrm>
          <a:prstGeom prst="roundRect">
            <a:avLst/>
          </a:prstGeom>
          <a:solidFill>
            <a:srgbClr val="20D4C7"/>
          </a:solidFill>
          <a:ln w="12700">
            <a:solidFill>
              <a:srgbClr val="20D4C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171450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185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D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證據核心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283464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sLT／第一轉折在多場景可近似 LT1／VT1。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71416" y="1371600"/>
            <a:ext cx="3474720" cy="2423160"/>
          </a:xfrm>
          <a:prstGeom prst="roundRect">
            <a:avLst>
              <a:gd name="adj" fmla="val 2264"/>
            </a:avLst>
          </a:prstGeom>
          <a:solidFill>
            <a:srgbClr val="12263A"/>
          </a:solidFill>
          <a:ln w="16510">
            <a:solidFill>
              <a:srgbClr val="FF9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645920"/>
            <a:ext cx="566928" cy="310896"/>
          </a:xfrm>
          <a:prstGeom prst="roundRect">
            <a:avLst/>
          </a:prstGeom>
          <a:solidFill>
            <a:srgbClr val="FF9B5E"/>
          </a:solidFill>
          <a:ln w="12700">
            <a:solidFill>
              <a:srgbClr val="FF9B5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71450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00016" y="2185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疲勞邊界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82312" y="283464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n=17 與 n=18 兩篇直接研究，仍屬初步。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84464" y="1371600"/>
            <a:ext cx="3474720" cy="2423160"/>
          </a:xfrm>
          <a:prstGeom prst="roundRect">
            <a:avLst>
              <a:gd name="adj" fmla="val 2264"/>
            </a:avLst>
          </a:prstGeom>
          <a:solidFill>
            <a:srgbClr val="12263A"/>
          </a:solidFill>
          <a:ln w="16510">
            <a:solidFill>
              <a:srgbClr val="B7F0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13064" y="1645920"/>
            <a:ext cx="566928" cy="310896"/>
          </a:xfrm>
          <a:prstGeom prst="roundRect">
            <a:avLst/>
          </a:prstGeom>
          <a:solidFill>
            <a:srgbClr val="B7F06A"/>
          </a:solidFill>
          <a:ln w="12700">
            <a:solidFill>
              <a:srgbClr val="B7F06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67928" y="171450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13064" y="2185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F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產品原則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283464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QC → 同流程 → 個人 baseline → MDC → 第二指標。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" y="4334256"/>
            <a:ext cx="10314432" cy="1133856"/>
          </a:xfrm>
          <a:prstGeom prst="roundRect">
            <a:avLst>
              <a:gd name="adj" fmla="val 4839"/>
            </a:avLst>
          </a:prstGeom>
          <a:solidFill>
            <a:srgbClr val="0E1D2E"/>
          </a:solidFill>
          <a:ln w="12700">
            <a:solidFill>
              <a:srgbClr val="20D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681728"/>
            <a:ext cx="9656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78EA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推薦最終用語｜</a:t>
            </a:r>
            <a:pPr algn="ctr" indent="0" marL="0">
              <a:buNone/>
            </a:pPr>
            <a:r>
              <a:rPr lang="en-US" sz="1310" b="1" dirty="0">
                <a:solidFill>
                  <a:srgbClr val="F5F7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「本次 sLT 相較個人同條件基準提早，超過量測誤差；可能代表恢復度降低，建議結合主觀疲勞與第二指標複核。」</a:t>
            </a:r>
            <a:endParaRPr lang="en-US" sz="1310" dirty="0"/>
          </a:p>
        </p:txBody>
      </p:sp>
      <p:sp>
        <p:nvSpPr>
          <p:cNvPr id="25" name="Text 23"/>
          <p:cNvSpPr txBox="1"/>
          <p:nvPr/>
        </p:nvSpPr>
        <p:spPr>
          <a:xfrm>
            <a:off x="1938528" y="595274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3A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完整報告與可更新追蹤表已隨簡報交付  ·  Snapshot 2026-09-10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LA-01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Grace Imaging 總裁中島大輔：汗液乳酸研究追蹤與 LA-01 產品判讀</dc:title>
  <dc:subject>Focused evidence tracking of Daisuke Nakashima and Grace Imaging sweat-lactate studies</dc:subject>
  <dc:creator>Arena.ai Agent Mode</dc:creator>
  <cp:lastModifiedBy>Arena.ai Agent Mode</cp:lastModifiedBy>
  <cp:revision>1</cp:revision>
  <dcterms:created xsi:type="dcterms:W3CDTF">2026-09-10T14:11:48Z</dcterms:created>
  <dcterms:modified xsi:type="dcterms:W3CDTF">2026-09-10T14:11:48Z</dcterms:modified>
</cp:coreProperties>
</file>